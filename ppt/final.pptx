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80" r:id="rId5"/>
    <p:sldId id="281" r:id="rId6"/>
    <p:sldId id="282" r:id="rId7"/>
    <p:sldId id="259" r:id="rId8"/>
    <p:sldId id="260" r:id="rId9"/>
    <p:sldId id="261" r:id="rId10"/>
    <p:sldId id="262" r:id="rId11"/>
    <p:sldId id="277" r:id="rId12"/>
    <p:sldId id="264" r:id="rId13"/>
    <p:sldId id="265" r:id="rId14"/>
    <p:sldId id="266" r:id="rId15"/>
    <p:sldId id="267" r:id="rId16"/>
    <p:sldId id="268" r:id="rId17"/>
    <p:sldId id="269" r:id="rId18"/>
    <p:sldId id="270" r:id="rId19"/>
    <p:sldId id="271" r:id="rId20"/>
    <p:sldId id="272" r:id="rId21"/>
    <p:sldId id="273" r:id="rId22"/>
    <p:sldId id="278" r:id="rId23"/>
    <p:sldId id="275" r:id="rId24"/>
    <p:sldId id="27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4660"/>
  </p:normalViewPr>
  <p:slideViewPr>
    <p:cSldViewPr snapToGrid="0" snapToObjects="1">
      <p:cViewPr>
        <p:scale>
          <a:sx n="66" d="100"/>
          <a:sy n="66" d="100"/>
        </p:scale>
        <p:origin x="2232" y="10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085841" y="1417320"/>
            <a:ext cx="5989845" cy="1077218"/>
          </a:xfrm>
          <a:prstGeom prst="rect">
            <a:avLst/>
          </a:prstGeom>
          <a:noFill/>
        </p:spPr>
        <p:txBody>
          <a:bodyPr wrap="none">
            <a:spAutoFit/>
          </a:bodyPr>
          <a:lstStyle/>
          <a:p>
            <a:pPr algn="ctr">
              <a:defRPr sz="3400" b="1">
                <a:solidFill>
                  <a:srgbClr val="FFFFFF"/>
                </a:solidFill>
              </a:defRPr>
            </a:pPr>
            <a:r>
              <a:rPr sz="2000" b="1">
                <a:solidFill>
                  <a:srgbClr val="FFFFFF"/>
                </a:solidFill>
                <a:latin typeface="Calibri"/>
              </a:rPr>
              <a:t>B23CSP702 PROJECT WORK PHASE I
</a:t>
            </a:r>
            <a:endParaRPr dirty="0"/>
          </a:p>
          <a:p>
            <a:pPr algn="ctr"/>
            <a:r>
              <a:rPr sz="2400" b="1">
                <a:solidFill>
                  <a:srgbClr val="F1C40F"/>
                </a:solidFill>
                <a:latin typeface="Calibri"/>
              </a:rPr>
              <a:t>SECOND REVIEW (60% WORK COMPLETION)
</a:t>
            </a:r>
          </a:p>
          <a:p>
            <a:pPr algn="ctr"/>
            <a:r>
              <a:rPr sz="1500" b="0">
                <a:solidFill>
                  <a:srgbClr val="FFFFFF"/>
                </a:solidFill>
                <a:latin typeface="Calibri"/>
              </a:rPr>
              <a:t>CrowdSentinel: AI-Based Early Crowd Risk Detection Using Spatial Density and Motion Analysis</a:t>
            </a:r>
          </a:p>
        </p:txBody>
      </p:sp>
      <p:sp>
        <p:nvSpPr>
          <p:cNvPr id="4" name="TextBox 3"/>
          <p:cNvSpPr txBox="1"/>
          <p:nvPr/>
        </p:nvSpPr>
        <p:spPr>
          <a:xfrm>
            <a:off x="3034383" y="3246120"/>
            <a:ext cx="6184193" cy="846386"/>
          </a:xfrm>
          <a:prstGeom prst="rect">
            <a:avLst/>
          </a:prstGeom>
          <a:noFill/>
        </p:spPr>
        <p:txBody>
          <a:bodyPr wrap="none">
            <a:spAutoFit/>
          </a:bodyPr>
          <a:lstStyle/>
          <a:p>
            <a:pPr algn="ctr">
              <a:defRPr sz="1700">
                <a:solidFill>
                  <a:srgbClr val="FFFFFF"/>
                </a:solidFill>
              </a:defRPr>
            </a:pPr>
            <a:r>
              <a:rPr sz="1600" b="1">
                <a:solidFill>
                  <a:srgbClr val="FFFFFF"/>
                </a:solidFill>
                <a:latin typeface="Calibri"/>
              </a:rPr>
              <a:t>Department of Computer Science and Engineering
</a:t>
            </a:r>
            <a:r>
              <a:rPr sz="1400" b="0">
                <a:solidFill>
                  <a:srgbClr val="FFFFFF"/>
                </a:solidFill>
                <a:latin typeface="Calibri"/>
              </a:rPr>
              <a:t>KIT – Kalaignarkarunanidhi Institute of Technology, Coimbatore
</a:t>
            </a:r>
            <a:r>
              <a:rPr sz="1300" b="0">
                <a:solidFill>
                  <a:srgbClr val="F1C40F"/>
                </a:solidFill>
                <a:latin typeface="Calibri"/>
              </a:rPr>
              <a:t>Academic Year: 2026–2027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lgn="l">
              <a:defRPr sz="2500" b="1">
                <a:solidFill>
                  <a:srgbClr val="FFFFFF"/>
                </a:solidFill>
              </a:defRPr>
            </a:pPr>
            <a:r>
              <a:rPr sz="1800" b="1">
                <a:solidFill>
                  <a:srgbClr val="FFFFFF"/>
                </a:solidFill>
                <a:latin typeface="Calibri"/>
              </a:rPr>
              <a:t>1. Project Details &amp; Review Team</a:t>
            </a:r>
          </a:p>
        </p:txBody>
      </p:sp>
      <p:sp>
        <p:nvSpPr>
          <p:cNvPr id="4" name="TextBox 3"/>
          <p:cNvSpPr txBox="1"/>
          <p:nvPr/>
        </p:nvSpPr>
        <p:spPr>
          <a:xfrm>
            <a:off x="609447" y="1259175"/>
            <a:ext cx="10972800" cy="3808735"/>
          </a:xfrm>
          <a:prstGeom prst="rect">
            <a:avLst/>
          </a:prstGeom>
          <a:noFill/>
        </p:spPr>
        <p:txBody>
          <a:bodyPr wrap="square">
            <a:spAutoFit/>
          </a:bodyPr>
          <a:lstStyle/>
          <a:p>
            <a:pPr>
              <a:spcAft>
                <a:spcPts val="900"/>
              </a:spcAft>
              <a:defRPr sz="2100" b="0">
                <a:solidFill>
                  <a:srgbClr val="282828"/>
                </a:solidFill>
              </a:defRPr>
            </a:pPr>
            <a:r>
              <a:rPr sz="1400" b="1">
                <a:solidFill>
                  <a:srgbClr val="1F3759"/>
                </a:solidFill>
                <a:latin typeface="Calibri"/>
              </a:rPr>
              <a:t>Project Title: </a:t>
            </a:r>
            <a:r>
              <a:rPr sz="1400" b="0">
                <a:solidFill>
                  <a:srgbClr val="0F172A"/>
                </a:solidFill>
                <a:latin typeface="Calibri"/>
              </a:rPr>
              <a:t>CrowdSentinel: AI-Based Early Crowd Risk Detection Using Spatial Density and Motion Analysis
</a:t>
            </a:r>
            <a:endParaRPr dirty="0"/>
          </a:p>
          <a:p>
            <a:r>
              <a:rPr sz="1300" b="1">
                <a:solidFill>
                  <a:srgbClr val="1F3759"/>
                </a:solidFill>
                <a:latin typeface="Calibri"/>
              </a:rPr>
              <a:t>Review Stage: </a:t>
            </a:r>
            <a:r>
              <a:rPr sz="1300" b="1">
                <a:solidFill>
                  <a:srgbClr val="D97706"/>
                </a:solidFill>
                <a:latin typeface="Calibri"/>
              </a:rPr>
              <a:t>Review II – 60% Work Completion Milestone
</a:t>
            </a:r>
          </a:p>
          <a:p>
            <a:r>
              <a:rPr sz="1300" b="1">
                <a:solidFill>
                  <a:srgbClr val="1F3759"/>
                </a:solidFill>
                <a:latin typeface="Calibri"/>
              </a:rPr>
              <a:t>Student Team Members:
</a:t>
            </a:r>
            <a:r>
              <a:rPr sz="1300" b="0">
                <a:solidFill>
                  <a:srgbClr val="0F172A"/>
                </a:solidFill>
                <a:latin typeface="Calibri"/>
              </a:rPr>
              <a:t>  • Aakash M – 711523BCS001 (Team Leader)
  • Hema Dharshana S J – 711523BCS021
  • Santhosh Kumar R – 711523BCS049
</a:t>
            </a:r>
          </a:p>
          <a:p>
            <a:r>
              <a:rPr sz="1300" b="1">
                <a:solidFill>
                  <a:srgbClr val="1F3759"/>
                </a:solidFill>
                <a:latin typeface="Calibri"/>
              </a:rPr>
              <a:t>Project Guide &amp; Supervisor:
</a:t>
            </a:r>
            <a:r>
              <a:rPr sz="1300" b="0">
                <a:solidFill>
                  <a:srgbClr val="0F172A"/>
                </a:solidFill>
                <a:latin typeface="Calibri"/>
              </a:rPr>
              <a:t>  Mr MugeshKumar S, Assistant Professor, Dept. of Computer Science and Engineering
</a:t>
            </a:r>
          </a:p>
          <a:p>
            <a:r>
              <a:rPr sz="1200" b="1">
                <a:solidFill>
                  <a:srgbClr val="1F3759"/>
                </a:solidFill>
                <a:latin typeface="Calibri"/>
              </a:rPr>
              <a:t>Affiliation: </a:t>
            </a:r>
            <a:r>
              <a:rPr sz="1200" b="0">
                <a:solidFill>
                  <a:srgbClr val="334155"/>
                </a:solidFill>
                <a:latin typeface="Calibri"/>
              </a:rPr>
              <a:t>KIT – Kalaignarkarunanidhi Institute of Technology | Academic Year: 2026–2027</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lgn="l">
              <a:defRPr sz="2500" b="1">
                <a:solidFill>
                  <a:srgbClr val="FFFFFF"/>
                </a:solidFill>
              </a:defRPr>
            </a:pPr>
            <a:r>
              <a:rPr sz="1800" b="1">
                <a:solidFill>
                  <a:srgbClr val="FFFFFF"/>
                </a:solidFill>
                <a:latin typeface="Calibri"/>
              </a:rPr>
              <a:t>2. Introduction – Background &amp; Real-World Context</a:t>
            </a:r>
          </a:p>
        </p:txBody>
      </p:sp>
      <p:sp>
        <p:nvSpPr>
          <p:cNvPr id="4" name="TextBox 3"/>
          <p:cNvSpPr txBox="1"/>
          <p:nvPr/>
        </p:nvSpPr>
        <p:spPr>
          <a:xfrm>
            <a:off x="411480" y="1148176"/>
            <a:ext cx="10972800" cy="584775"/>
          </a:xfrm>
          <a:prstGeom prst="rect">
            <a:avLst/>
          </a:prstGeom>
          <a:noFill/>
        </p:spPr>
        <p:txBody>
          <a:bodyPr wrap="square">
            <a:spAutoFit/>
          </a:bodyPr>
          <a:lstStyle/>
          <a:p>
            <a:pPr lvl="0"/>
            <a:r>
              <a:rPr sz="2000" b="1">
                <a:solidFill>
                  <a:srgbClr val="1F3759"/>
                </a:solidFill>
                <a:latin typeface="Calibri"/>
              </a:rPr>
              <a:t>Catastrophic Crowd Failures Follow Distinct Fluid Transitions</a:t>
            </a:r>
            <a:endParaRPr sz="3200" b="1" dirty="0"/>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3</a:t>
            </a:r>
          </a:p>
        </p:txBody>
      </p:sp>
      <p:sp>
        <p:nvSpPr>
          <p:cNvPr id="7" name="TextBox 6">
            <a:extLst>
              <a:ext uri="{FF2B5EF4-FFF2-40B4-BE49-F238E27FC236}">
                <a16:creationId xmlns:a16="http://schemas.microsoft.com/office/drawing/2014/main" id="{984ACAE4-DF3A-CB90-0C21-FFA4CA699DEA}"/>
              </a:ext>
            </a:extLst>
          </p:cNvPr>
          <p:cNvSpPr txBox="1"/>
          <p:nvPr/>
        </p:nvSpPr>
        <p:spPr>
          <a:xfrm>
            <a:off x="940278" y="1889185"/>
            <a:ext cx="8738559" cy="3108543"/>
          </a:xfrm>
          <a:prstGeom prst="rect">
            <a:avLst/>
          </a:prstGeom>
          <a:noFill/>
        </p:spPr>
        <p:txBody>
          <a:bodyPr wrap="square">
            <a:spAutoFit/>
          </a:bodyPr>
          <a:lstStyle/>
          <a:p>
            <a:pPr marL="342900" lvl="0" indent="-342900">
              <a:spcAft>
                <a:spcPts val="1000"/>
              </a:spcAft>
              <a:buFont typeface="Arial" panose="020B0604020202020204" pitchFamily="34" charset="0"/>
              <a:buChar char="•"/>
            </a:pPr>
            <a:r>
              <a:rPr sz="1300" b="1">
                <a:solidFill>
                  <a:srgbClr val="1F3759"/>
                </a:solidFill>
                <a:latin typeface="Calibri"/>
              </a:rPr>
              <a:t>•  Real-World Catastrophes: </a:t>
            </a:r>
            <a:r>
              <a:rPr sz="1300" b="0">
                <a:solidFill>
                  <a:srgbClr val="334155"/>
                </a:solidFill>
                <a:latin typeface="Calibri"/>
              </a:rPr>
              <a:t>Disasters such as the 2010 Duisburg Love Parade and major stadium egress surges demonstrate that mass crowd failures do not occur instantaneously—they follow measurable fluid-dynamic phases.</a:t>
            </a:r>
          </a:p>
          <a:p>
            <a:pPr>
              <a:spcAft>
                <a:spcPts val="1000"/>
              </a:spcAft>
            </a:pPr>
            <a:r>
              <a:rPr sz="1300" b="1">
                <a:solidFill>
                  <a:srgbClr val="1F3759"/>
                </a:solidFill>
                <a:latin typeface="Calibri"/>
              </a:rPr>
              <a:t>•  Critical Density Boundary: </a:t>
            </a:r>
            <a:r>
              <a:rPr sz="1300" b="0">
                <a:solidFill>
                  <a:srgbClr val="334155"/>
                </a:solidFill>
                <a:latin typeface="Calibri"/>
              </a:rPr>
              <a:t>When pedestrian concentration surpasses 4 persons/m², free autonomous walking breaks down. Autonomous velocity decays, and crowds enter a state of mechanical motion locking.</a:t>
            </a:r>
          </a:p>
          <a:p>
            <a:pPr>
              <a:spcAft>
                <a:spcPts val="1000"/>
              </a:spcAft>
            </a:pPr>
            <a:r>
              <a:rPr sz="1300" b="1">
                <a:solidFill>
                  <a:srgbClr val="1F3759"/>
                </a:solidFill>
                <a:latin typeface="Calibri"/>
              </a:rPr>
              <a:t>•  Compressive Asphyxiation Risk: </a:t>
            </a:r>
            <a:r>
              <a:rPr sz="1300" b="0">
                <a:solidFill>
                  <a:srgbClr val="334155"/>
                </a:solidFill>
                <a:latin typeface="Calibri"/>
              </a:rPr>
              <a:t>Continued human inflow into locked bottleneck sectors creates high-pressure shockwaves (&gt; 4,000 N/m), inducing fatal mechanical asphyxiation before visual stampedes emerge.</a:t>
            </a:r>
          </a:p>
          <a:p>
            <a:pPr>
              <a:spcAft>
                <a:spcPts val="1000"/>
              </a:spcAft>
            </a:pPr>
            <a:r>
              <a:rPr sz="1300" b="1">
                <a:solidFill>
                  <a:srgbClr val="1F3759"/>
                </a:solidFill>
                <a:latin typeface="Calibri"/>
              </a:rPr>
              <a:t>•  Surveillance Dilemma: </a:t>
            </a:r>
            <a:r>
              <a:rPr sz="1300" b="0">
                <a:solidFill>
                  <a:srgbClr val="334155"/>
                </a:solidFill>
                <a:latin typeface="Calibri"/>
              </a:rPr>
              <a:t>Municipal control-room dispatchers cannot continually supervise dozens of concurrent video streams, creating an urgent demand for predictive, automated edge monitoring.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CD3F0F-4DAB-B29F-6828-6927EF57FEE0}"/>
              </a:ext>
            </a:extLst>
          </p:cNvPr>
          <p:cNvSpPr txBox="1"/>
          <p:nvPr/>
        </p:nvSpPr>
        <p:spPr>
          <a:xfrm>
            <a:off x="675015" y="1004263"/>
            <a:ext cx="6094562" cy="584775"/>
          </a:xfrm>
          <a:prstGeom prst="rect">
            <a:avLst/>
          </a:prstGeom>
          <a:noFill/>
        </p:spPr>
        <p:txBody>
          <a:bodyPr wrap="square">
            <a:spAutoFit/>
          </a:bodyPr>
          <a:lstStyle/>
          <a:p>
            <a:pPr algn="l">
              <a:spcAft>
                <a:spcPts val="900"/>
              </a:spcAft>
              <a:defRPr sz="2100" b="0">
                <a:solidFill>
                  <a:srgbClr val="282828"/>
                </a:solidFill>
              </a:defRPr>
            </a:pPr>
            <a:r>
              <a:rPr sz="1800" b="1">
                <a:solidFill>
                  <a:srgbClr val="FFFFFF"/>
                </a:solidFill>
                <a:latin typeface="Calibri"/>
              </a:rPr>
              <a:t>2. Introduction – Problem Area &amp; Technical Motivation</a:t>
            </a:r>
          </a:p>
        </p:txBody>
      </p:sp>
      <p:sp>
        <p:nvSpPr>
          <p:cNvPr id="5" name="TextBox 4">
            <a:extLst>
              <a:ext uri="{FF2B5EF4-FFF2-40B4-BE49-F238E27FC236}">
                <a16:creationId xmlns:a16="http://schemas.microsoft.com/office/drawing/2014/main" id="{BC52E5A1-C1CE-A825-627C-29D1F44EC29F}"/>
              </a:ext>
            </a:extLst>
          </p:cNvPr>
          <p:cNvSpPr txBox="1"/>
          <p:nvPr/>
        </p:nvSpPr>
        <p:spPr>
          <a:xfrm>
            <a:off x="931653" y="2090172"/>
            <a:ext cx="9273395" cy="2677656"/>
          </a:xfrm>
          <a:prstGeom prst="rect">
            <a:avLst/>
          </a:prstGeom>
          <a:noFill/>
        </p:spPr>
        <p:txBody>
          <a:bodyPr wrap="square">
            <a:spAutoFit/>
          </a:bodyPr>
          <a:lstStyle/>
          <a:p>
            <a:pPr marL="342900" lvl="0" indent="-342900">
              <a:spcAft>
                <a:spcPts val="1000"/>
              </a:spcAft>
              <a:buFont typeface="Arial" panose="020B0604020202020204" pitchFamily="34" charset="0"/>
              <a:buChar char="•"/>
            </a:pPr>
            <a:r>
              <a:rPr sz="1300" b="1">
                <a:solidFill>
                  <a:srgbClr val="1F3759"/>
                </a:solidFill>
                <a:latin typeface="Calibri"/>
              </a:rPr>
              <a:t>•  Headcount Alone Fails to Detect Risk: </a:t>
            </a:r>
            <a:r>
              <a:rPr sz="1300" b="0">
                <a:solidFill>
                  <a:srgbClr val="334155"/>
                </a:solidFill>
                <a:latin typeface="Calibri"/>
              </a:rPr>
              <a:t>A structured, orderly queue advancing smoothly toward turnstiles has high headcount but is completely safe. Conversely, a modest crowd trapped in a blocked narrow corridor is lethal despite low headcounts.</a:t>
            </a:r>
          </a:p>
          <a:p>
            <a:pPr>
              <a:spcAft>
                <a:spcPts val="1000"/>
              </a:spcAft>
            </a:pPr>
            <a:r>
              <a:rPr sz="1300" b="1">
                <a:solidFill>
                  <a:srgbClr val="1F3759"/>
                </a:solidFill>
                <a:latin typeface="Calibri"/>
              </a:rPr>
              <a:t>•  Motion Kinematics Alone Causes Erroneous Alerts: </a:t>
            </a:r>
            <a:r>
              <a:rPr sz="1300" b="0">
                <a:solidFill>
                  <a:srgbClr val="334155"/>
                </a:solidFill>
                <a:latin typeface="Calibri"/>
              </a:rPr>
              <a:t>Normal rapid walking through open concourses generates high velocity vectors that motion-only systems falsely flag as violent stampedes or emergency flight.</a:t>
            </a:r>
          </a:p>
          <a:p>
            <a:pPr>
              <a:spcAft>
                <a:spcPts val="1000"/>
              </a:spcAft>
            </a:pPr>
            <a:r>
              <a:rPr sz="1300" b="1">
                <a:solidFill>
                  <a:srgbClr val="1F3759"/>
                </a:solidFill>
                <a:latin typeface="Calibri"/>
              </a:rPr>
              <a:t>•  The Zero-Velocity Failure Trap: </a:t>
            </a:r>
            <a:r>
              <a:rPr sz="1300" b="0">
                <a:solidFill>
                  <a:srgbClr val="334155"/>
                </a:solidFill>
                <a:latin typeface="Calibri"/>
              </a:rPr>
              <a:t>During fatal crowd crushes, physical movement halts (velocity drops to zero). Heuristic scoring models that multiply density by velocity artificially collapse risk to zero—failing during the most deadly phase!</a:t>
            </a:r>
          </a:p>
          <a:p>
            <a:pPr>
              <a:spcAft>
                <a:spcPts val="1000"/>
              </a:spcAft>
            </a:pPr>
            <a:r>
              <a:rPr sz="1300" b="1">
                <a:solidFill>
                  <a:srgbClr val="1F3759"/>
                </a:solidFill>
                <a:latin typeface="Calibri"/>
              </a:rPr>
              <a:t>•  Project Motivation: </a:t>
            </a:r>
            <a:r>
              <a:rPr sz="1300" b="0">
                <a:solidFill>
                  <a:srgbClr val="334155"/>
                </a:solidFill>
                <a:latin typeface="Calibri"/>
              </a:rPr>
              <a:t>Engineer an edge AI framework that physically decouples static spatial compaction from dynamic kinetic turbulence, eliminating zero-velocity false negatives entirely.</a:t>
            </a:r>
          </a:p>
        </p:txBody>
      </p:sp>
      <p:sp>
        <p:nvSpPr>
          <p:cNvPr id="7" name="Rectangle 6">
            <a:extLst>
              <a:ext uri="{FF2B5EF4-FFF2-40B4-BE49-F238E27FC236}">
                <a16:creationId xmlns:a16="http://schemas.microsoft.com/office/drawing/2014/main" id="{5B42CCE6-52E4-A6D9-38AC-03BD026AB7F8}"/>
              </a:ext>
            </a:extLst>
          </p:cNvPr>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C0C3BA60-B033-7A8D-9E4B-74E6F468ED4F}"/>
              </a:ext>
            </a:extLst>
          </p:cNvPr>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rPr dirty="0"/>
              <a:t>2. Introduction</a:t>
            </a:r>
          </a:p>
        </p:txBody>
      </p:sp>
    </p:spTree>
    <p:extLst>
      <p:ext uri="{BB962C8B-B14F-4D97-AF65-F5344CB8AC3E}">
        <p14:creationId xmlns:p14="http://schemas.microsoft.com/office/powerpoint/2010/main" val="694963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3237D4-2D95-2CDF-EEDF-0040357CCA3E}"/>
              </a:ext>
            </a:extLst>
          </p:cNvPr>
          <p:cNvSpPr txBox="1"/>
          <p:nvPr/>
        </p:nvSpPr>
        <p:spPr>
          <a:xfrm>
            <a:off x="838918" y="953414"/>
            <a:ext cx="6094562" cy="584775"/>
          </a:xfrm>
          <a:prstGeom prst="rect">
            <a:avLst/>
          </a:prstGeom>
          <a:noFill/>
        </p:spPr>
        <p:txBody>
          <a:bodyPr wrap="square">
            <a:spAutoFit/>
          </a:bodyPr>
          <a:lstStyle/>
          <a:p>
            <a:pPr algn="l">
              <a:spcAft>
                <a:spcPts val="900"/>
              </a:spcAft>
              <a:defRPr sz="2100" b="0">
                <a:solidFill>
                  <a:srgbClr val="282828"/>
                </a:solidFill>
              </a:defRPr>
            </a:pPr>
            <a:r>
              <a:rPr sz="1800" b="1">
                <a:solidFill>
                  <a:srgbClr val="FFFFFF"/>
                </a:solidFill>
                <a:latin typeface="Calibri"/>
              </a:rPr>
              <a:t>2. Introduction – Significance &amp; Public Safety Need</a:t>
            </a:r>
          </a:p>
        </p:txBody>
      </p:sp>
      <p:sp>
        <p:nvSpPr>
          <p:cNvPr id="5" name="TextBox 4">
            <a:extLst>
              <a:ext uri="{FF2B5EF4-FFF2-40B4-BE49-F238E27FC236}">
                <a16:creationId xmlns:a16="http://schemas.microsoft.com/office/drawing/2014/main" id="{7D9FB70D-D846-1FB5-1D7F-A61FEA0209B0}"/>
              </a:ext>
            </a:extLst>
          </p:cNvPr>
          <p:cNvSpPr txBox="1"/>
          <p:nvPr/>
        </p:nvSpPr>
        <p:spPr>
          <a:xfrm>
            <a:off x="1138685" y="2090172"/>
            <a:ext cx="10118785" cy="2677656"/>
          </a:xfrm>
          <a:prstGeom prst="rect">
            <a:avLst/>
          </a:prstGeom>
          <a:noFill/>
        </p:spPr>
        <p:txBody>
          <a:bodyPr wrap="square">
            <a:spAutoFit/>
          </a:bodyPr>
          <a:lstStyle/>
          <a:p>
            <a:pPr marL="342900" lvl="0" indent="-342900">
              <a:spcAft>
                <a:spcPts val="1200"/>
              </a:spcAft>
              <a:buFont typeface="Arial" panose="020B0604020202020204" pitchFamily="34" charset="0"/>
              <a:buChar char="•"/>
            </a:pPr>
            <a:r>
              <a:rPr sz="1350" b="1">
                <a:solidFill>
                  <a:srgbClr val="1F3759"/>
                </a:solidFill>
                <a:latin typeface="Calibri"/>
              </a:rPr>
              <a:t>•  Anticipatory Early Warning: </a:t>
            </a:r>
            <a:r>
              <a:rPr sz="1350" b="0">
                <a:solidFill>
                  <a:srgbClr val="334155"/>
                </a:solidFill>
                <a:latin typeface="Calibri"/>
              </a:rPr>
              <a:t>Provides a 2 to 3 second predictive warning horizon before crowd densities or velocity variances breach irreversible physical danger thresholds.</a:t>
            </a:r>
          </a:p>
          <a:p>
            <a:pPr>
              <a:spcAft>
                <a:spcPts val="1200"/>
              </a:spcAft>
            </a:pPr>
            <a:r>
              <a:rPr sz="1350" b="1">
                <a:solidFill>
                  <a:srgbClr val="1F3759"/>
                </a:solidFill>
                <a:latin typeface="Calibri"/>
              </a:rPr>
              <a:t>•  Automated Multi-Tier Intervention: </a:t>
            </a:r>
            <a:r>
              <a:rPr sz="1350" b="0">
                <a:solidFill>
                  <a:srgbClr val="334155"/>
                </a:solidFill>
                <a:latin typeface="Calibri"/>
              </a:rPr>
              <a:t>Directly triggers control-room protocols: automatically centering PTZ cameras on emerging clusters and sending hardware trip signals to turnstiles to throttle inflow.</a:t>
            </a:r>
          </a:p>
          <a:p>
            <a:pPr>
              <a:spcAft>
                <a:spcPts val="1200"/>
              </a:spcAft>
            </a:pPr>
            <a:r>
              <a:rPr sz="1350" b="1">
                <a:solidFill>
                  <a:srgbClr val="1F3759"/>
                </a:solidFill>
                <a:latin typeface="Calibri"/>
              </a:rPr>
              <a:t>•  Zero False Alarms on Normal Streams: </a:t>
            </a:r>
            <a:r>
              <a:rPr sz="1350" b="0">
                <a:solidFill>
                  <a:srgbClr val="334155"/>
                </a:solidFill>
                <a:latin typeface="Calibri"/>
              </a:rPr>
              <a:t>Incorporates temporal persistence filter gating to completely suppress false positives (0.00% FAR), preventing operator alarm fatigue.</a:t>
            </a:r>
          </a:p>
          <a:p>
            <a:pPr>
              <a:spcAft>
                <a:spcPts val="1200"/>
              </a:spcAft>
            </a:pPr>
            <a:r>
              <a:rPr sz="1350" b="1">
                <a:solidFill>
                  <a:srgbClr val="1F3759"/>
                </a:solidFill>
                <a:latin typeface="Calibri"/>
              </a:rPr>
              <a:t>•  Edge Computational Feasibility: </a:t>
            </a:r>
            <a:r>
              <a:rPr sz="1350" b="0">
                <a:solidFill>
                  <a:srgbClr val="334155"/>
                </a:solidFill>
                <a:latin typeface="Calibri"/>
              </a:rPr>
              <a:t>Processes high-resolution video at 7.4 FPS directly on commodity Intel Core i7 CPUs, eliminating the need for expensive, heat-intensive GPU server infrastructure.</a:t>
            </a:r>
          </a:p>
        </p:txBody>
      </p:sp>
      <p:sp>
        <p:nvSpPr>
          <p:cNvPr id="7" name="TextBox 6">
            <a:extLst>
              <a:ext uri="{FF2B5EF4-FFF2-40B4-BE49-F238E27FC236}">
                <a16:creationId xmlns:a16="http://schemas.microsoft.com/office/drawing/2014/main" id="{CBEF1847-EA56-634D-EFD1-8C4E976DDA99}"/>
              </a:ext>
            </a:extLst>
          </p:cNvPr>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rPr dirty="0"/>
              <a:t>2. Introduction</a:t>
            </a:r>
          </a:p>
        </p:txBody>
      </p:sp>
      <p:sp>
        <p:nvSpPr>
          <p:cNvPr id="9" name="Rectangle 8">
            <a:extLst>
              <a:ext uri="{FF2B5EF4-FFF2-40B4-BE49-F238E27FC236}">
                <a16:creationId xmlns:a16="http://schemas.microsoft.com/office/drawing/2014/main" id="{F0510C2C-81D6-3791-6EEB-5E67DCA3A07A}"/>
              </a:ext>
            </a:extLst>
          </p:cNvPr>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9B630E8D-8C28-9C31-D251-F082C38AAE7A}"/>
              </a:ext>
            </a:extLst>
          </p:cNvPr>
          <p:cNvSpPr txBox="1"/>
          <p:nvPr/>
        </p:nvSpPr>
        <p:spPr>
          <a:xfrm>
            <a:off x="411480" y="117664"/>
            <a:ext cx="11247120" cy="365760"/>
          </a:xfrm>
          <a:prstGeom prst="rect">
            <a:avLst/>
          </a:prstGeom>
          <a:noFill/>
        </p:spPr>
        <p:txBody>
          <a:bodyPr wrap="none">
            <a:spAutoFit/>
          </a:bodyPr>
          <a:lstStyle/>
          <a:p>
            <a:pPr>
              <a:defRPr sz="2500" b="1">
                <a:solidFill>
                  <a:srgbClr val="FFFFFF"/>
                </a:solidFill>
              </a:defRPr>
            </a:pPr>
            <a:r>
              <a:rPr dirty="0"/>
              <a:t>2. Introduction</a:t>
            </a:r>
          </a:p>
        </p:txBody>
      </p:sp>
    </p:spTree>
    <p:extLst>
      <p:ext uri="{BB962C8B-B14F-4D97-AF65-F5344CB8AC3E}">
        <p14:creationId xmlns:p14="http://schemas.microsoft.com/office/powerpoint/2010/main" val="2400091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AF5907-F7AB-F133-1A06-F580CC3A25F4}"/>
              </a:ext>
            </a:extLst>
          </p:cNvPr>
          <p:cNvSpPr txBox="1"/>
          <p:nvPr/>
        </p:nvSpPr>
        <p:spPr>
          <a:xfrm>
            <a:off x="830292" y="1081900"/>
            <a:ext cx="6094562" cy="584775"/>
          </a:xfrm>
          <a:prstGeom prst="rect">
            <a:avLst/>
          </a:prstGeom>
          <a:noFill/>
        </p:spPr>
        <p:txBody>
          <a:bodyPr wrap="square">
            <a:spAutoFit/>
          </a:bodyPr>
          <a:lstStyle/>
          <a:p>
            <a:pPr algn="l">
              <a:spcAft>
                <a:spcPts val="900"/>
              </a:spcAft>
              <a:defRPr sz="2100" b="0">
                <a:solidFill>
                  <a:srgbClr val="282828"/>
                </a:solidFill>
              </a:defRPr>
            </a:pPr>
            <a:r>
              <a:rPr sz="1800" b="1">
                <a:solidFill>
                  <a:srgbClr val="FFFFFF"/>
                </a:solidFill>
                <a:latin typeface="Calibri"/>
              </a:rPr>
              <a:t>2. Introduction – Domain &amp; Technical Scope</a:t>
            </a:r>
          </a:p>
        </p:txBody>
      </p:sp>
      <p:sp>
        <p:nvSpPr>
          <p:cNvPr id="5" name="TextBox 4">
            <a:extLst>
              <a:ext uri="{FF2B5EF4-FFF2-40B4-BE49-F238E27FC236}">
                <a16:creationId xmlns:a16="http://schemas.microsoft.com/office/drawing/2014/main" id="{A6AA37AE-E078-6899-FB04-4A331A2BC283}"/>
              </a:ext>
            </a:extLst>
          </p:cNvPr>
          <p:cNvSpPr txBox="1"/>
          <p:nvPr/>
        </p:nvSpPr>
        <p:spPr>
          <a:xfrm>
            <a:off x="2018581" y="2259493"/>
            <a:ext cx="7942771" cy="1815882"/>
          </a:xfrm>
          <a:prstGeom prst="rect">
            <a:avLst/>
          </a:prstGeom>
          <a:noFill/>
        </p:spPr>
        <p:txBody>
          <a:bodyPr wrap="square">
            <a:spAutoFit/>
          </a:bodyPr>
          <a:lstStyle/>
          <a:p>
            <a:pPr marL="342900" lvl="0" indent="-342900">
              <a:spcAft>
                <a:spcPts val="1200"/>
              </a:spcAft>
              <a:buFont typeface="Arial" panose="020B0604020202020204" pitchFamily="34" charset="0"/>
              <a:buChar char="•"/>
            </a:pPr>
            <a:r>
              <a:rPr sz="1350" b="1">
                <a:solidFill>
                  <a:srgbClr val="1F3759"/>
                </a:solidFill>
                <a:latin typeface="Calibri"/>
              </a:rPr>
              <a:t>•  Primary Technical Domain: </a:t>
            </a:r>
            <a:r>
              <a:rPr sz="1350" b="0">
                <a:solidFill>
                  <a:srgbClr val="334155"/>
                </a:solidFill>
                <a:latin typeface="Calibri"/>
              </a:rPr>
              <a:t>Artificial Intelligence, Computer Vision, Edge Computing, and Real-Time Video Surveillance Analytics.</a:t>
            </a:r>
          </a:p>
          <a:p>
            <a:pPr>
              <a:spcAft>
                <a:spcPts val="1200"/>
              </a:spcAft>
            </a:pPr>
            <a:r>
              <a:rPr sz="1350" b="1">
                <a:solidFill>
                  <a:srgbClr val="1F3759"/>
                </a:solidFill>
                <a:latin typeface="Calibri"/>
              </a:rPr>
              <a:t>•  Target Deployment Environments: </a:t>
            </a:r>
            <a:r>
              <a:rPr sz="1350" b="0">
                <a:solidFill>
                  <a:srgbClr val="334155"/>
                </a:solidFill>
                <a:latin typeface="Calibri"/>
              </a:rPr>
              <a:t>Railway concourses, metro transit hubs, sports stadiums, religious pilgrimage corridors, and concert exit gates.</a:t>
            </a:r>
          </a:p>
          <a:p>
            <a:pPr>
              <a:spcAft>
                <a:spcPts val="1200"/>
              </a:spcAft>
            </a:pPr>
            <a:r>
              <a:rPr sz="1350" b="1">
                <a:solidFill>
                  <a:srgbClr val="1F3759"/>
                </a:solidFill>
                <a:latin typeface="Calibri"/>
              </a:rPr>
              <a:t>•  Methodological Innovations: </a:t>
            </a:r>
            <a:r>
              <a:rPr sz="1350" b="0">
                <a:solidFill>
                  <a:srgbClr val="334155"/>
                </a:solidFill>
                <a:latin typeface="Calibri"/>
              </a:rPr>
              <a:t>Geometric polygon union for overlap-free spatial occupancy, Farneback dense optical flow, circular heading variance, and dual-branch physical risk indicators.</a:t>
            </a:r>
          </a:p>
          <a:p>
            <a:pPr>
              <a:spcAft>
                <a:spcPts val="1200"/>
              </a:spcAft>
            </a:pPr>
            <a:r>
              <a:rPr sz="1350" b="1">
                <a:solidFill>
                  <a:srgbClr val="1F3759"/>
                </a:solidFill>
                <a:latin typeface="Calibri"/>
              </a:rPr>
              <a:t>•  Operational Actuation Scope: </a:t>
            </a:r>
            <a:r>
              <a:rPr sz="1350" b="0">
                <a:solidFill>
                  <a:srgbClr val="334155"/>
                </a:solidFill>
                <a:latin typeface="Calibri"/>
              </a:rPr>
              <a:t>Integration with hardware turnstiles, console alert displays, automated PTZ camera tracking, and historical safety telemetry logging.</a:t>
            </a:r>
          </a:p>
        </p:txBody>
      </p:sp>
      <p:sp>
        <p:nvSpPr>
          <p:cNvPr id="7" name="Rectangle 6">
            <a:extLst>
              <a:ext uri="{FF2B5EF4-FFF2-40B4-BE49-F238E27FC236}">
                <a16:creationId xmlns:a16="http://schemas.microsoft.com/office/drawing/2014/main" id="{9CA8C1D4-9F9C-98F7-D390-CE6E809113F8}"/>
              </a:ext>
            </a:extLst>
          </p:cNvPr>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DA88BDA5-349F-7031-A9F2-AB03F7E6326C}"/>
              </a:ext>
            </a:extLst>
          </p:cNvPr>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rPr dirty="0"/>
              <a:t>2. Introduction</a:t>
            </a:r>
          </a:p>
        </p:txBody>
      </p:sp>
    </p:spTree>
    <p:extLst>
      <p:ext uri="{BB962C8B-B14F-4D97-AF65-F5344CB8AC3E}">
        <p14:creationId xmlns:p14="http://schemas.microsoft.com/office/powerpoint/2010/main" val="2828661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lgn="l">
              <a:defRPr sz="2500" b="1">
                <a:solidFill>
                  <a:srgbClr val="FFFFFF"/>
                </a:solidFill>
              </a:defRPr>
            </a:pPr>
            <a:r>
              <a:rPr sz="1800" b="1">
                <a:solidFill>
                  <a:srgbClr val="FFFFFF"/>
                </a:solidFill>
                <a:latin typeface="Calibri"/>
              </a:rPr>
              <a:t>3. Formal Problem Statement</a:t>
            </a:r>
          </a:p>
        </p:txBody>
      </p:sp>
      <p:sp>
        <p:nvSpPr>
          <p:cNvPr id="4" name="TextBox 3"/>
          <p:cNvSpPr txBox="1"/>
          <p:nvPr/>
        </p:nvSpPr>
        <p:spPr>
          <a:xfrm>
            <a:off x="731520" y="1174055"/>
            <a:ext cx="10972800" cy="4832092"/>
          </a:xfrm>
          <a:prstGeom prst="rect">
            <a:avLst/>
          </a:prstGeom>
          <a:noFill/>
        </p:spPr>
        <p:txBody>
          <a:bodyPr wrap="square">
            <a:spAutoFit/>
          </a:bodyPr>
          <a:lstStyle/>
          <a:p>
            <a:pPr algn="just">
              <a:spcAft>
                <a:spcPts val="1000"/>
              </a:spcAft>
              <a:defRPr sz="2100" b="0">
                <a:solidFill>
                  <a:srgbClr val="282828"/>
                </a:solidFill>
              </a:defRPr>
            </a:pPr>
            <a:r>
              <a:rPr sz="1500" b="1">
                <a:solidFill>
                  <a:srgbClr val="1F3759"/>
                </a:solidFill>
                <a:latin typeface="Calibri"/>
              </a:rPr>
              <a:t>Problem Definition:
</a:t>
            </a:r>
            <a:r>
              <a:rPr sz="1300" b="0">
                <a:solidFill>
                  <a:srgbClr val="334155"/>
                </a:solidFill>
                <a:latin typeface="Calibri"/>
              </a:rPr>
              <a:t>Large public gatherings in passenger terminals, arenas, and cultural events face catastrophic crowd collapses when pedestrian arrival flux exceeds gate discharge capacity. Existing surveillance solutions rely heavily on manual observation—which suffers from severe operator visual fatigue—or unimodal algorithms that fail in real-world conditions.</a:t>
            </a:r>
            <a:endParaRPr sz="2800" dirty="0"/>
          </a:p>
          <a:p>
            <a:pPr>
              <a:spcAft>
                <a:spcPts val="1000"/>
              </a:spcAft>
            </a:pPr>
            <a:r>
              <a:rPr sz="1400" b="1">
                <a:solidFill>
                  <a:srgbClr val="1F3759"/>
                </a:solidFill>
                <a:latin typeface="Calibri"/>
              </a:rPr>
              <a:t>Core Algorithmic Challenges Addressed:
</a:t>
            </a:r>
            <a:r>
              <a:rPr sz="1250" b="0">
                <a:solidFill>
                  <a:srgbClr val="0F172A"/>
                </a:solidFill>
                <a:latin typeface="Calibri"/>
              </a:rPr>
              <a:t>1. Mutual Perspective Occlusion: High-density crowds cause overlapping bounding boxes, leading to distorted spatial headcount.
2. The Zero-Velocity False Negative Dilemma: During fatal stationary crushes, velocity drops to zero, evading motion detectors.
3. Rapid Transit False Positives: Harmless fast pedestrian walking triggers frequent false stampede alerts in open plazas.
4. Edge Computational Bottlenecks: Deep 3D-CNNs require multi-GPU hardware, causing high latency in edge deployments.</a:t>
            </a:r>
          </a:p>
          <a:p>
            <a:r>
              <a:rPr sz="1300" b="1">
                <a:solidFill>
                  <a:srgbClr val="1F3759"/>
                </a:solidFill>
                <a:latin typeface="Calibri"/>
              </a:rPr>
              <a:t>Project Goal: </a:t>
            </a:r>
            <a:r>
              <a:rPr sz="1300" b="0">
                <a:solidFill>
                  <a:srgbClr val="16A34A"/>
                </a:solidFill>
                <a:latin typeface="Calibri"/>
              </a:rPr>
              <a:t>Build an end-to-end multi-modal edge vision architecture that decouples static spatial compaction from dynamic kinetic turbulence, providing verified early warnings with 0.00% false alarms on commodity CPUs.</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lgn="l">
              <a:defRPr sz="2500" b="1">
                <a:solidFill>
                  <a:srgbClr val="FFFFFF"/>
                </a:solidFill>
              </a:defRPr>
            </a:pPr>
            <a:r>
              <a:rPr sz="1800" b="1">
                <a:solidFill>
                  <a:srgbClr val="FFFFFF"/>
                </a:solidFill>
                <a:latin typeface="Calibri"/>
              </a:rPr>
              <a:t>4. Existing Systems &amp; Comparative Limitations</a:t>
            </a:r>
          </a:p>
        </p:txBody>
      </p:sp>
      <p:sp>
        <p:nvSpPr>
          <p:cNvPr id="4" name="TextBox 3"/>
          <p:cNvSpPr txBox="1"/>
          <p:nvPr/>
        </p:nvSpPr>
        <p:spPr>
          <a:xfrm>
            <a:off x="640080" y="1234440"/>
            <a:ext cx="10972800" cy="4832092"/>
          </a:xfrm>
          <a:prstGeom prst="rect">
            <a:avLst/>
          </a:prstGeom>
          <a:noFill/>
        </p:spPr>
        <p:txBody>
          <a:bodyPr wrap="square">
            <a:spAutoFit/>
          </a:bodyPr>
          <a:lstStyle/>
          <a:p>
            <a:pPr algn="just">
              <a:spcAft>
                <a:spcPts val="1000"/>
              </a:spcAft>
              <a:defRPr sz="2100" b="0">
                <a:solidFill>
                  <a:srgbClr val="282828"/>
                </a:solidFill>
              </a:defRPr>
            </a:pPr>
            <a:r>
              <a:rPr sz="1300" b="1">
                <a:solidFill>
                  <a:srgbClr val="1F3759"/>
                </a:solidFill>
                <a:latin typeface="Calibri"/>
              </a:rPr>
              <a:t>•  1. Manual CCTV Observation: </a:t>
            </a:r>
            <a:r>
              <a:rPr sz="1300" b="0">
                <a:solidFill>
                  <a:srgbClr val="334155"/>
                </a:solidFill>
                <a:latin typeface="Calibri"/>
              </a:rPr>
              <a:t>Security personnel monitor multi-screen console walls. Suffers from severe attention fatigue; incidents are recognized only after physical collapses occur.</a:t>
            </a:r>
            <a:endParaRPr sz="2800" dirty="0"/>
          </a:p>
          <a:p>
            <a:pPr>
              <a:spcAft>
                <a:spcPts val="1000"/>
              </a:spcAft>
            </a:pPr>
            <a:r>
              <a:rPr sz="1300" b="1">
                <a:solidFill>
                  <a:srgbClr val="1F3759"/>
                </a:solidFill>
                <a:latin typeface="Calibri"/>
              </a:rPr>
              <a:t>•  2. Density-Only / Headcount Models (CSRNet, MCNN): </a:t>
            </a:r>
            <a:r>
              <a:rPr sz="1300" b="0">
                <a:solidFill>
                  <a:srgbClr val="334155"/>
                </a:solidFill>
                <a:latin typeface="Calibri"/>
              </a:rPr>
              <a:t>Merely estimate scalar crowd counts across broad viewports. Completely blind to velocity dynamics—cannot distinguish a stationary queue from a lethal crush.</a:t>
            </a:r>
          </a:p>
          <a:p>
            <a:pPr>
              <a:spcAft>
                <a:spcPts val="1000"/>
              </a:spcAft>
            </a:pPr>
            <a:r>
              <a:rPr sz="1300" b="1">
                <a:solidFill>
                  <a:srgbClr val="1F3759"/>
                </a:solidFill>
                <a:latin typeface="Calibri"/>
              </a:rPr>
              <a:t>•  3. Motion-Only Kinematic Detectors (Optical Flow Thresholds): </a:t>
            </a:r>
            <a:r>
              <a:rPr sz="1300" b="0">
                <a:solidFill>
                  <a:srgbClr val="334155"/>
                </a:solidFill>
                <a:latin typeface="Calibri"/>
              </a:rPr>
              <a:t>Trigger false alarms on harmless fast walking in transit halls. Fails completely during standstill crushes where velocity stalls near zero.</a:t>
            </a:r>
          </a:p>
          <a:p>
            <a:pPr>
              <a:spcAft>
                <a:spcPts val="1000"/>
              </a:spcAft>
            </a:pPr>
            <a:r>
              <a:rPr sz="1300" b="1">
                <a:solidFill>
                  <a:srgbClr val="1F3759"/>
                </a:solidFill>
                <a:latin typeface="Calibri"/>
              </a:rPr>
              <a:t>•  4. Monolithic Spatio-Temporal 3D-CNNs / Video Transformers: </a:t>
            </a:r>
            <a:r>
              <a:rPr sz="1300" b="0">
                <a:solidFill>
                  <a:srgbClr val="334155"/>
                </a:solidFill>
                <a:latin typeface="Calibri"/>
              </a:rPr>
              <a:t>Demand dedicated high-end GPU clusters, introduce 300+ ms processing latency, and act as unexplainable black boxes that operators cannot audit under stress.</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lgn="l">
              <a:defRPr sz="2500" b="1">
                <a:solidFill>
                  <a:srgbClr val="FFFFFF"/>
                </a:solidFill>
              </a:defRPr>
            </a:pPr>
            <a:r>
              <a:rPr sz="1800" b="1">
                <a:solidFill>
                  <a:srgbClr val="FFFFFF"/>
                </a:solidFill>
                <a:latin typeface="Calibri"/>
              </a:rPr>
              <a:t>5. Proposed System – CrowdSentinel Multi-Modal Architecture</a:t>
            </a:r>
          </a:p>
        </p:txBody>
      </p:sp>
      <p:sp>
        <p:nvSpPr>
          <p:cNvPr id="4" name="TextBox 3"/>
          <p:cNvSpPr txBox="1"/>
          <p:nvPr/>
        </p:nvSpPr>
        <p:spPr>
          <a:xfrm>
            <a:off x="609447" y="1064669"/>
            <a:ext cx="10972800" cy="5262979"/>
          </a:xfrm>
          <a:prstGeom prst="rect">
            <a:avLst/>
          </a:prstGeom>
          <a:noFill/>
        </p:spPr>
        <p:txBody>
          <a:bodyPr wrap="square">
            <a:spAutoFit/>
          </a:bodyPr>
          <a:lstStyle/>
          <a:p>
            <a:pPr algn="just">
              <a:spcAft>
                <a:spcPts val="800"/>
              </a:spcAft>
              <a:defRPr sz="2100" b="0">
                <a:solidFill>
                  <a:srgbClr val="282828"/>
                </a:solidFill>
              </a:defRPr>
            </a:pPr>
            <a:r>
              <a:rPr sz="1300" b="1">
                <a:solidFill>
                  <a:srgbClr val="1F3759"/>
                </a:solidFill>
                <a:latin typeface="Calibri"/>
              </a:rPr>
              <a:t>•  Branch 1 – Overlap-Free Spatial Density: </a:t>
            </a:r>
            <a:r>
              <a:rPr sz="1300" b="0">
                <a:solidFill>
                  <a:srgbClr val="334155"/>
                </a:solidFill>
                <a:latin typeface="Calibri"/>
              </a:rPr>
              <a:t>Lightweight YOLOv8n object detection localized bounding boxes converted to polygon unions Omega_crowd(t) to eliminate perspective superposition error.</a:t>
            </a:r>
            <a:endParaRPr sz="2800" dirty="0"/>
          </a:p>
          <a:p>
            <a:pPr>
              <a:spcAft>
                <a:spcPts val="800"/>
              </a:spcAft>
            </a:pPr>
            <a:r>
              <a:rPr sz="1300" b="1">
                <a:solidFill>
                  <a:srgbClr val="1F3759"/>
                </a:solidFill>
                <a:latin typeface="Calibri"/>
              </a:rPr>
              <a:t>•  Branch 2 – Farneback Dense Optical Flow: </a:t>
            </a:r>
            <a:r>
              <a:rPr sz="1300" b="0">
                <a:solidFill>
                  <a:srgbClr val="334155"/>
                </a:solidFill>
                <a:latin typeface="Calibri"/>
              </a:rPr>
              <a:t>Quadratic polynomial expansion yields dense motion field (u, v), computing mean velocity magnitude M(t) and acceleration Delta M(t).</a:t>
            </a:r>
          </a:p>
          <a:p>
            <a:pPr>
              <a:spcAft>
                <a:spcPts val="800"/>
              </a:spcAft>
            </a:pPr>
            <a:r>
              <a:rPr sz="1300" b="1">
                <a:solidFill>
                  <a:srgbClr val="1F3759"/>
                </a:solidFill>
                <a:latin typeface="Calibri"/>
              </a:rPr>
              <a:t>•  Circular Heading Variance &amp; Fluid Turbulence: </a:t>
            </a:r>
            <a:r>
              <a:rPr sz="1300" b="0">
                <a:solidFill>
                  <a:srgbClr val="334155"/>
                </a:solidFill>
                <a:latin typeface="Calibri"/>
              </a:rPr>
              <a:t>Trigonometric moments quantify heading angular dispersion sigma_theta^2 and fluid shear index I_flow.</a:t>
            </a:r>
          </a:p>
          <a:p>
            <a:pPr>
              <a:spcAft>
                <a:spcPts val="800"/>
              </a:spcAft>
            </a:pPr>
            <a:r>
              <a:rPr sz="1300" b="1">
                <a:solidFill>
                  <a:srgbClr val="1F3759"/>
                </a:solidFill>
                <a:latin typeface="Calibri"/>
              </a:rPr>
              <a:t>•  Physically Decoupled Risk Indicators: </a:t>
            </a:r>
            <a:r>
              <a:rPr sz="1300" b="0">
                <a:solidFill>
                  <a:srgbClr val="334155"/>
                </a:solidFill>
                <a:latin typeface="Calibri"/>
              </a:rPr>
              <a:t>Static compression C_comp = D * exp(-M/M0) (captures zero-velocity crushes) and dynamic surge S_dyn (captures violent panics).</a:t>
            </a:r>
          </a:p>
          <a:p>
            <a:pPr>
              <a:spcAft>
                <a:spcPts val="800"/>
              </a:spcAft>
            </a:pPr>
            <a:r>
              <a:rPr sz="1300" b="1">
                <a:solidFill>
                  <a:srgbClr val="1F3759"/>
                </a:solidFill>
                <a:latin typeface="Calibri"/>
              </a:rPr>
              <a:t>•  Ensemble Classification &amp; Persistence Gating: </a:t>
            </a:r>
            <a:r>
              <a:rPr sz="1300" b="0">
                <a:solidFill>
                  <a:srgbClr val="334155"/>
                </a:solidFill>
                <a:latin typeface="Calibri"/>
              </a:rPr>
              <a:t>Random Forest (150 trees) predicts 4 danger tiers; 5-frame persistence consensus suppresses false alarms to 0.00% while securing a 2.52s warning margin.</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lgn="l">
              <a:defRPr sz="2500" b="1">
                <a:solidFill>
                  <a:srgbClr val="FFFFFF"/>
                </a:solidFill>
              </a:defRPr>
            </a:pPr>
            <a:r>
              <a:rPr sz="1800" b="1">
                <a:solidFill>
                  <a:srgbClr val="FFFFFF"/>
                </a:solidFill>
                <a:latin typeface="Calibri"/>
              </a:rPr>
              <a:t>6. Project Objectives (Phase I Scope)</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7</a:t>
            </a:r>
          </a:p>
        </p:txBody>
      </p:sp>
      <p:sp>
        <p:nvSpPr>
          <p:cNvPr id="7" name="TextBox 6">
            <a:extLst>
              <a:ext uri="{FF2B5EF4-FFF2-40B4-BE49-F238E27FC236}">
                <a16:creationId xmlns:a16="http://schemas.microsoft.com/office/drawing/2014/main" id="{2F078D93-A053-A12B-E844-CF59FDF80B71}"/>
              </a:ext>
            </a:extLst>
          </p:cNvPr>
          <p:cNvSpPr txBox="1"/>
          <p:nvPr/>
        </p:nvSpPr>
        <p:spPr>
          <a:xfrm>
            <a:off x="731520" y="1228397"/>
            <a:ext cx="10972800" cy="4401205"/>
          </a:xfrm>
          <a:prstGeom prst="rect">
            <a:avLst/>
          </a:prstGeom>
          <a:noFill/>
        </p:spPr>
        <p:txBody>
          <a:bodyPr wrap="square">
            <a:spAutoFit/>
          </a:bodyPr>
          <a:lstStyle/>
          <a:p>
            <a:pPr marL="457200" lvl="0" indent="-457200" algn="just">
              <a:spcAft>
                <a:spcPts val="800"/>
              </a:spcAft>
              <a:buFont typeface="Arial" panose="020B0604020202020204" pitchFamily="34" charset="0"/>
              <a:buChar char="•"/>
            </a:pPr>
            <a:r>
              <a:rPr sz="1300" b="1">
                <a:solidFill>
                  <a:srgbClr val="1F3759"/>
                </a:solidFill>
                <a:latin typeface="Calibri"/>
              </a:rPr>
              <a:t>•  Objective 1 – Pedestrian Localization &amp; Density Domain: </a:t>
            </a:r>
            <a:r>
              <a:rPr sz="1300" b="0">
                <a:solidFill>
                  <a:srgbClr val="334155"/>
                </a:solidFill>
                <a:latin typeface="Calibri"/>
              </a:rPr>
              <a:t>Detect pedestrians in video feeds via YOLOv8n and formulate overlap-free spatial occupancy using geometric polygon unions [Completed].</a:t>
            </a:r>
          </a:p>
          <a:p>
            <a:pPr>
              <a:spcAft>
                <a:spcPts val="800"/>
              </a:spcAft>
            </a:pPr>
            <a:r>
              <a:rPr sz="1300" b="1">
                <a:solidFill>
                  <a:srgbClr val="1F3759"/>
                </a:solidFill>
                <a:latin typeface="Calibri"/>
              </a:rPr>
              <a:t>•  Objective 2 – Dense Motion &amp; Directional Field Tracking: </a:t>
            </a:r>
            <a:r>
              <a:rPr sz="1300" b="0">
                <a:solidFill>
                  <a:srgbClr val="334155"/>
                </a:solidFill>
                <a:latin typeface="Calibri"/>
              </a:rPr>
              <a:t>Calculate Farneback optical flow velocity fields, circular directional variance, and fluid turbulence metrics across active pixels [Completed].</a:t>
            </a:r>
          </a:p>
          <a:p>
            <a:pPr>
              <a:spcAft>
                <a:spcPts val="800"/>
              </a:spcAft>
            </a:pPr>
            <a:r>
              <a:rPr sz="1300" b="1">
                <a:solidFill>
                  <a:srgbClr val="1F3759"/>
                </a:solidFill>
                <a:latin typeface="Calibri"/>
              </a:rPr>
              <a:t>•  Objective 3 – Decoupled Physical Risk Formulation: </a:t>
            </a:r>
            <a:r>
              <a:rPr sz="1300" b="0">
                <a:solidFill>
                  <a:srgbClr val="334155"/>
                </a:solidFill>
                <a:latin typeface="Calibri"/>
              </a:rPr>
              <a:t>Formulate closed-form physical indicators (C_comp and S_dyn) to decouple static compaction from kinetic surges, resolving zero-velocity failures [Completed].</a:t>
            </a:r>
          </a:p>
          <a:p>
            <a:pPr>
              <a:spcAft>
                <a:spcPts val="800"/>
              </a:spcAft>
            </a:pPr>
            <a:r>
              <a:rPr sz="1300" b="1">
                <a:solidFill>
                  <a:srgbClr val="1F3759"/>
                </a:solidFill>
                <a:latin typeface="Calibri"/>
              </a:rPr>
              <a:t>•  Objective 4 – Supervised Classification &amp; Benchmarking: </a:t>
            </a:r>
            <a:r>
              <a:rPr sz="1300" b="0">
                <a:solidFill>
                  <a:srgbClr val="334155"/>
                </a:solidFill>
                <a:latin typeface="Calibri"/>
              </a:rPr>
              <a:t>Train and evaluate supervised tree ensembles (Random Forest, Gradient Boosting) across 4 operational threat tiers under sequence-level partitioning [Completed].</a:t>
            </a:r>
          </a:p>
          <a:p>
            <a:pPr>
              <a:spcAft>
                <a:spcPts val="800"/>
              </a:spcAft>
            </a:pPr>
            <a:r>
              <a:rPr sz="1300" b="1">
                <a:solidFill>
                  <a:srgbClr val="1F3759"/>
                </a:solidFill>
                <a:latin typeface="Calibri"/>
              </a:rPr>
              <a:t>•  Objective 5 – Persistence Filtering &amp; Edge Execution: </a:t>
            </a:r>
            <a:r>
              <a:rPr sz="1300" b="0">
                <a:solidFill>
                  <a:srgbClr val="334155"/>
                </a:solidFill>
                <a:latin typeface="Calibri"/>
              </a:rPr>
              <a:t>Implement temporal consensus suppression to eliminate false alarms (0.00% FAR), securing 2.52s lead time at 7.4 FPS on commodity CPUs [Completed].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lgn="l">
              <a:defRPr sz="2500" b="1">
                <a:solidFill>
                  <a:srgbClr val="FFFFFF"/>
                </a:solidFill>
              </a:defRPr>
            </a:pPr>
            <a:r>
              <a:rPr sz="1800" b="1">
                <a:solidFill>
                  <a:srgbClr val="FFFFFF"/>
                </a:solidFill>
                <a:latin typeface="Calibri"/>
              </a:rPr>
              <a:t>7. Literature Survey – Comparative Analysis</a:t>
            </a:r>
          </a:p>
        </p:txBody>
      </p:sp>
      <p:graphicFrame>
        <p:nvGraphicFramePr>
          <p:cNvPr id="4" name="Table 3"/>
          <p:cNvGraphicFramePr>
            <a:graphicFrameLocks noGrp="1"/>
          </p:cNvGraphicFramePr>
          <p:nvPr>
            <p:extLst>
              <p:ext uri="{D42A27DB-BD31-4B8C-83A1-F6EECF244321}">
                <p14:modId xmlns:p14="http://schemas.microsoft.com/office/powerpoint/2010/main" val="492573890"/>
              </p:ext>
            </p:extLst>
          </p:nvPr>
        </p:nvGraphicFramePr>
        <p:xfrm>
          <a:off x="411480" y="878259"/>
          <a:ext cx="11501899" cy="5390440"/>
        </p:xfrm>
        <a:graphic>
          <a:graphicData uri="http://schemas.openxmlformats.org/drawingml/2006/table">
            <a:tbl>
              <a:tblPr firstRow="1" bandRow="1">
                <a:tableStyleId>{5C22544A-7EE6-4342-B048-85BDC9FD1C3A}</a:tableStyleId>
              </a:tblPr>
              <a:tblGrid>
                <a:gridCol w="659946">
                  <a:extLst>
                    <a:ext uri="{9D8B030D-6E8A-4147-A177-3AD203B41FA5}">
                      <a16:colId xmlns:a16="http://schemas.microsoft.com/office/drawing/2014/main" val="20000"/>
                    </a:ext>
                  </a:extLst>
                </a:gridCol>
                <a:gridCol w="1414167">
                  <a:extLst>
                    <a:ext uri="{9D8B030D-6E8A-4147-A177-3AD203B41FA5}">
                      <a16:colId xmlns:a16="http://schemas.microsoft.com/office/drawing/2014/main" val="20001"/>
                    </a:ext>
                  </a:extLst>
                </a:gridCol>
                <a:gridCol w="2356947">
                  <a:extLst>
                    <a:ext uri="{9D8B030D-6E8A-4147-A177-3AD203B41FA5}">
                      <a16:colId xmlns:a16="http://schemas.microsoft.com/office/drawing/2014/main" val="20002"/>
                    </a:ext>
                  </a:extLst>
                </a:gridCol>
                <a:gridCol w="2074113">
                  <a:extLst>
                    <a:ext uri="{9D8B030D-6E8A-4147-A177-3AD203B41FA5}">
                      <a16:colId xmlns:a16="http://schemas.microsoft.com/office/drawing/2014/main" val="20003"/>
                    </a:ext>
                  </a:extLst>
                </a:gridCol>
                <a:gridCol w="2168390">
                  <a:extLst>
                    <a:ext uri="{9D8B030D-6E8A-4147-A177-3AD203B41FA5}">
                      <a16:colId xmlns:a16="http://schemas.microsoft.com/office/drawing/2014/main" val="20004"/>
                    </a:ext>
                  </a:extLst>
                </a:gridCol>
                <a:gridCol w="2828336">
                  <a:extLst>
                    <a:ext uri="{9D8B030D-6E8A-4147-A177-3AD203B41FA5}">
                      <a16:colId xmlns:a16="http://schemas.microsoft.com/office/drawing/2014/main" val="20005"/>
                    </a:ext>
                  </a:extLst>
                </a:gridCol>
              </a:tblGrid>
              <a:tr h="361240">
                <a:tc>
                  <a:txBody>
                    <a:bodyPr/>
                    <a:lstStyle/>
                    <a:p>
                      <a:pPr>
                        <a:defRPr sz="1300" b="1">
                          <a:solidFill>
                            <a:srgbClr val="FFFFFF"/>
                          </a:solidFill>
                        </a:defRPr>
                      </a:pPr>
                      <a:r>
                        <a:t>S.No.</a:t>
                      </a:r>
                    </a:p>
                  </a:txBody>
                  <a:tcPr>
                    <a:solidFill>
                      <a:srgbClr val="1F3759"/>
                    </a:solidFill>
                  </a:tcPr>
                </a:tc>
                <a:tc>
                  <a:txBody>
                    <a:bodyPr/>
                    <a:lstStyle/>
                    <a:p>
                      <a:pPr>
                        <a:defRPr sz="1300" b="1">
                          <a:solidFill>
                            <a:srgbClr val="FFFFFF"/>
                          </a:solidFill>
                        </a:defRPr>
                      </a:pPr>
                      <a:r>
                        <a:t>Author &amp; Year</a:t>
                      </a:r>
                    </a:p>
                  </a:txBody>
                  <a:tcPr>
                    <a:solidFill>
                      <a:srgbClr val="1F3759"/>
                    </a:solidFill>
                  </a:tcPr>
                </a:tc>
                <a:tc>
                  <a:txBody>
                    <a:bodyPr/>
                    <a:lstStyle/>
                    <a:p>
                      <a:pPr>
                        <a:defRPr sz="1300" b="1">
                          <a:solidFill>
                            <a:srgbClr val="FFFFFF"/>
                          </a:solidFill>
                        </a:defRPr>
                      </a:pPr>
                      <a:r>
                        <a:t>Paper / Topic</a:t>
                      </a:r>
                    </a:p>
                  </a:txBody>
                  <a:tcPr>
                    <a:solidFill>
                      <a:srgbClr val="1F3759"/>
                    </a:solidFill>
                  </a:tcPr>
                </a:tc>
                <a:tc>
                  <a:txBody>
                    <a:bodyPr/>
                    <a:lstStyle/>
                    <a:p>
                      <a:pPr>
                        <a:defRPr sz="1300" b="1">
                          <a:solidFill>
                            <a:srgbClr val="FFFFFF"/>
                          </a:solidFill>
                        </a:defRPr>
                      </a:pPr>
                      <a:r>
                        <a:t>Method / Technology</a:t>
                      </a:r>
                    </a:p>
                  </a:txBody>
                  <a:tcPr>
                    <a:solidFill>
                      <a:srgbClr val="1F3759"/>
                    </a:solidFill>
                  </a:tcPr>
                </a:tc>
                <a:tc>
                  <a:txBody>
                    <a:bodyPr/>
                    <a:lstStyle/>
                    <a:p>
                      <a:pPr>
                        <a:defRPr sz="1300" b="1">
                          <a:solidFill>
                            <a:srgbClr val="FFFFFF"/>
                          </a:solidFill>
                        </a:defRPr>
                      </a:pPr>
                      <a:r>
                        <a:t>Key Finding</a:t>
                      </a:r>
                    </a:p>
                  </a:txBody>
                  <a:tcPr>
                    <a:solidFill>
                      <a:srgbClr val="1F3759"/>
                    </a:solidFill>
                  </a:tcPr>
                </a:tc>
                <a:tc>
                  <a:txBody>
                    <a:bodyPr/>
                    <a:lstStyle/>
                    <a:p>
                      <a:pPr>
                        <a:defRPr sz="1300" b="1">
                          <a:solidFill>
                            <a:srgbClr val="FFFFFF"/>
                          </a:solidFill>
                        </a:defRPr>
                      </a:pPr>
                      <a:r>
                        <a:t>Limitation</a:t>
                      </a:r>
                    </a:p>
                  </a:txBody>
                  <a:tcPr>
                    <a:solidFill>
                      <a:srgbClr val="1F3759"/>
                    </a:solidFill>
                  </a:tcPr>
                </a:tc>
                <a:extLst>
                  <a:ext uri="{0D108BD9-81ED-4DB2-BD59-A6C34878D82A}">
                    <a16:rowId xmlns:a16="http://schemas.microsoft.com/office/drawing/2014/main" val="10000"/>
                  </a:ext>
                </a:extLst>
              </a:tr>
              <a:tr h="1207287">
                <a:tc>
                  <a:txBody>
                    <a:bodyPr/>
                    <a:lstStyle/>
                    <a:p>
                      <a:pPr>
                        <a:buNone/>
                      </a:pPr>
                      <a:r>
                        <a:rPr lang="en-IN" b="1" dirty="0"/>
                        <a:t>1</a:t>
                      </a:r>
                      <a:endParaRPr lang="en-IN" dirty="0"/>
                    </a:p>
                  </a:txBody>
                  <a:tcPr anchor="ctr">
                    <a:solidFill>
                      <a:srgbClr val="F2F6FA"/>
                    </a:solidFill>
                  </a:tcPr>
                </a:tc>
                <a:tc>
                  <a:txBody>
                    <a:bodyPr/>
                    <a:lstStyle/>
                    <a:p>
                      <a:pPr>
                        <a:buNone/>
                      </a:pPr>
                      <a:r>
                        <a:rPr lang="en-IN" b="1"/>
                        <a:t>Cob-Parro et al., 2025</a:t>
                      </a:r>
                      <a:endParaRPr lang="en-IN"/>
                    </a:p>
                  </a:txBody>
                  <a:tcPr anchor="ctr">
                    <a:solidFill>
                      <a:srgbClr val="F2F6FA"/>
                    </a:solidFill>
                  </a:tcPr>
                </a:tc>
                <a:tc>
                  <a:txBody>
                    <a:bodyPr/>
                    <a:lstStyle/>
                    <a:p>
                      <a:pPr>
                        <a:buNone/>
                      </a:pPr>
                      <a:r>
                        <a:rPr lang="en-IN" i="1"/>
                        <a:t>Stampede Detector Using Deep Learning Models and Dense Optical Flow</a:t>
                      </a:r>
                      <a:endParaRPr lang="en-IN"/>
                    </a:p>
                  </a:txBody>
                  <a:tcPr anchor="ctr">
                    <a:solidFill>
                      <a:srgbClr val="F2F6FA"/>
                    </a:solidFill>
                  </a:tcPr>
                </a:tc>
                <a:tc>
                  <a:txBody>
                    <a:bodyPr/>
                    <a:lstStyle/>
                    <a:p>
                      <a:pPr>
                        <a:buNone/>
                      </a:pPr>
                      <a:r>
                        <a:rPr lang="en-IN"/>
                        <a:t>Dense Optical Flow + Deep Learning</a:t>
                      </a:r>
                    </a:p>
                  </a:txBody>
                  <a:tcPr anchor="ctr">
                    <a:solidFill>
                      <a:srgbClr val="F2F6FA"/>
                    </a:solidFill>
                  </a:tcPr>
                </a:tc>
                <a:tc>
                  <a:txBody>
                    <a:bodyPr/>
                    <a:lstStyle/>
                    <a:p>
                      <a:pPr>
                        <a:buNone/>
                      </a:pPr>
                      <a:r>
                        <a:rPr lang="en-IN"/>
                        <a:t>Detected stampede activity across multiple crowd datasets with strong generalization.</a:t>
                      </a:r>
                    </a:p>
                  </a:txBody>
                  <a:tcPr anchor="ctr">
                    <a:solidFill>
                      <a:srgbClr val="F2F6FA"/>
                    </a:solidFill>
                  </a:tcPr>
                </a:tc>
                <a:tc>
                  <a:txBody>
                    <a:bodyPr/>
                    <a:lstStyle/>
                    <a:p>
                      <a:pPr>
                        <a:buNone/>
                      </a:pPr>
                      <a:r>
                        <a:rPr lang="en-IN" dirty="0"/>
                        <a:t>Mainly focuses on stampede classification; challenging in different crowd conditions.</a:t>
                      </a:r>
                    </a:p>
                  </a:txBody>
                  <a:tcPr anchor="ctr">
                    <a:solidFill>
                      <a:srgbClr val="F2F6FA"/>
                    </a:solidFill>
                  </a:tcPr>
                </a:tc>
                <a:extLst>
                  <a:ext uri="{0D108BD9-81ED-4DB2-BD59-A6C34878D82A}">
                    <a16:rowId xmlns:a16="http://schemas.microsoft.com/office/drawing/2014/main" val="10001"/>
                  </a:ext>
                </a:extLst>
              </a:tr>
              <a:tr h="878027">
                <a:tc>
                  <a:txBody>
                    <a:bodyPr/>
                    <a:lstStyle/>
                    <a:p>
                      <a:pPr>
                        <a:buNone/>
                      </a:pPr>
                      <a:r>
                        <a:rPr lang="en-IN" b="1"/>
                        <a:t>2</a:t>
                      </a:r>
                      <a:endParaRPr lang="en-IN"/>
                    </a:p>
                  </a:txBody>
                  <a:tcPr anchor="ctr">
                    <a:solidFill>
                      <a:srgbClr val="FFFFFF"/>
                    </a:solidFill>
                  </a:tcPr>
                </a:tc>
                <a:tc>
                  <a:txBody>
                    <a:bodyPr/>
                    <a:lstStyle/>
                    <a:p>
                      <a:pPr>
                        <a:buNone/>
                      </a:pPr>
                      <a:r>
                        <a:rPr lang="en-IN" b="1"/>
                        <a:t>Qaraqe et al., 2024</a:t>
                      </a:r>
                      <a:endParaRPr lang="en-IN"/>
                    </a:p>
                  </a:txBody>
                  <a:tcPr anchor="ctr">
                    <a:solidFill>
                      <a:srgbClr val="FFFFFF"/>
                    </a:solidFill>
                  </a:tcPr>
                </a:tc>
                <a:tc>
                  <a:txBody>
                    <a:bodyPr/>
                    <a:lstStyle/>
                    <a:p>
                      <a:pPr>
                        <a:buNone/>
                      </a:pPr>
                      <a:r>
                        <a:rPr lang="en-IN" i="1"/>
                        <a:t>Crowd Behavior Detection Using Video Swin Transformer</a:t>
                      </a:r>
                      <a:endParaRPr lang="en-IN"/>
                    </a:p>
                  </a:txBody>
                  <a:tcPr anchor="ctr">
                    <a:solidFill>
                      <a:srgbClr val="FFFFFF"/>
                    </a:solidFill>
                  </a:tcPr>
                </a:tc>
                <a:tc>
                  <a:txBody>
                    <a:bodyPr/>
                    <a:lstStyle/>
                    <a:p>
                      <a:pPr>
                        <a:buNone/>
                      </a:pPr>
                      <a:r>
                        <a:rPr lang="en-IN"/>
                        <a:t>Video Swin Transformer + Crowd Counting + Optical Flow</a:t>
                      </a:r>
                    </a:p>
                  </a:txBody>
                  <a:tcPr anchor="ctr">
                    <a:solidFill>
                      <a:srgbClr val="FFFFFF"/>
                    </a:solidFill>
                  </a:tcPr>
                </a:tc>
                <a:tc>
                  <a:txBody>
                    <a:bodyPr/>
                    <a:lstStyle/>
                    <a:p>
                      <a:pPr>
                        <a:buNone/>
                      </a:pPr>
                      <a:r>
                        <a:rPr lang="en-IN"/>
                        <a:t>Detects crowd size and different levels of violent behavior.</a:t>
                      </a:r>
                    </a:p>
                  </a:txBody>
                  <a:tcPr anchor="ctr">
                    <a:solidFill>
                      <a:srgbClr val="FFFFFF"/>
                    </a:solidFill>
                  </a:tcPr>
                </a:tc>
                <a:tc>
                  <a:txBody>
                    <a:bodyPr/>
                    <a:lstStyle/>
                    <a:p>
                      <a:pPr>
                        <a:buNone/>
                      </a:pPr>
                      <a:r>
                        <a:rPr lang="en-IN"/>
                        <a:t>Transformer models require higher computational resources.</a:t>
                      </a:r>
                    </a:p>
                  </a:txBody>
                  <a:tcPr anchor="ctr">
                    <a:solidFill>
                      <a:srgbClr val="FFFFFF"/>
                    </a:solidFill>
                  </a:tcPr>
                </a:tc>
                <a:extLst>
                  <a:ext uri="{0D108BD9-81ED-4DB2-BD59-A6C34878D82A}">
                    <a16:rowId xmlns:a16="http://schemas.microsoft.com/office/drawing/2014/main" val="10002"/>
                  </a:ext>
                </a:extLst>
              </a:tr>
              <a:tr h="713397">
                <a:tc>
                  <a:txBody>
                    <a:bodyPr/>
                    <a:lstStyle/>
                    <a:p>
                      <a:pPr>
                        <a:buNone/>
                      </a:pPr>
                      <a:r>
                        <a:rPr lang="en-IN" b="1"/>
                        <a:t>3</a:t>
                      </a:r>
                      <a:endParaRPr lang="en-IN"/>
                    </a:p>
                  </a:txBody>
                  <a:tcPr anchor="ctr">
                    <a:solidFill>
                      <a:srgbClr val="F2F6FA"/>
                    </a:solidFill>
                  </a:tcPr>
                </a:tc>
                <a:tc>
                  <a:txBody>
                    <a:bodyPr/>
                    <a:lstStyle/>
                    <a:p>
                      <a:pPr>
                        <a:buNone/>
                      </a:pPr>
                      <a:r>
                        <a:rPr lang="en-IN" b="1"/>
                        <a:t>Lin &amp; Hu, 2024</a:t>
                      </a:r>
                      <a:endParaRPr lang="en-IN"/>
                    </a:p>
                  </a:txBody>
                  <a:tcPr anchor="ctr">
                    <a:solidFill>
                      <a:srgbClr val="F2F6FA"/>
                    </a:solidFill>
                  </a:tcPr>
                </a:tc>
                <a:tc>
                  <a:txBody>
                    <a:bodyPr/>
                    <a:lstStyle/>
                    <a:p>
                      <a:pPr>
                        <a:buNone/>
                      </a:pPr>
                      <a:r>
                        <a:rPr lang="en-IN" i="1"/>
                        <a:t>Efficient Crowd Density Estimation with Edge Intelligence</a:t>
                      </a:r>
                      <a:endParaRPr lang="en-IN"/>
                    </a:p>
                  </a:txBody>
                  <a:tcPr anchor="ctr">
                    <a:solidFill>
                      <a:srgbClr val="F2F6FA"/>
                    </a:solidFill>
                  </a:tcPr>
                </a:tc>
                <a:tc>
                  <a:txBody>
                    <a:bodyPr/>
                    <a:lstStyle/>
                    <a:p>
                      <a:pPr>
                        <a:buNone/>
                      </a:pPr>
                      <a:r>
                        <a:rPr lang="en-IN"/>
                        <a:t>Lightweight CNN + Knowledge Transfer</a:t>
                      </a:r>
                    </a:p>
                  </a:txBody>
                  <a:tcPr anchor="ctr">
                    <a:solidFill>
                      <a:srgbClr val="F2F6FA"/>
                    </a:solidFill>
                  </a:tcPr>
                </a:tc>
                <a:tc>
                  <a:txBody>
                    <a:bodyPr/>
                    <a:lstStyle/>
                    <a:p>
                      <a:pPr>
                        <a:buNone/>
                      </a:pPr>
                      <a:r>
                        <a:rPr lang="en-IN"/>
                        <a:t>Enables efficient crowd-density estimation on edge devices.</a:t>
                      </a:r>
                    </a:p>
                  </a:txBody>
                  <a:tcPr anchor="ctr">
                    <a:solidFill>
                      <a:srgbClr val="F2F6FA"/>
                    </a:solidFill>
                  </a:tcPr>
                </a:tc>
                <a:tc>
                  <a:txBody>
                    <a:bodyPr/>
                    <a:lstStyle/>
                    <a:p>
                      <a:pPr>
                        <a:buNone/>
                      </a:pPr>
                      <a:r>
                        <a:rPr lang="en-IN"/>
                        <a:t>Focuses mainly on density, not abnormal movement or stampede risk.</a:t>
                      </a:r>
                    </a:p>
                  </a:txBody>
                  <a:tcPr anchor="ctr">
                    <a:solidFill>
                      <a:srgbClr val="F2F6FA"/>
                    </a:solidFill>
                  </a:tcPr>
                </a:tc>
                <a:extLst>
                  <a:ext uri="{0D108BD9-81ED-4DB2-BD59-A6C34878D82A}">
                    <a16:rowId xmlns:a16="http://schemas.microsoft.com/office/drawing/2014/main" val="10003"/>
                  </a:ext>
                </a:extLst>
              </a:tr>
              <a:tr h="1042657">
                <a:tc>
                  <a:txBody>
                    <a:bodyPr/>
                    <a:lstStyle/>
                    <a:p>
                      <a:pPr>
                        <a:buNone/>
                      </a:pPr>
                      <a:r>
                        <a:rPr lang="en-IN" b="1"/>
                        <a:t>4</a:t>
                      </a:r>
                      <a:endParaRPr lang="en-IN"/>
                    </a:p>
                  </a:txBody>
                  <a:tcPr anchor="ctr">
                    <a:solidFill>
                      <a:srgbClr val="FFFFFF"/>
                    </a:solidFill>
                  </a:tcPr>
                </a:tc>
                <a:tc>
                  <a:txBody>
                    <a:bodyPr/>
                    <a:lstStyle/>
                    <a:p>
                      <a:pPr>
                        <a:buNone/>
                      </a:pPr>
                      <a:r>
                        <a:rPr lang="en-IN" b="1"/>
                        <a:t>Wu et al., 2024</a:t>
                      </a:r>
                      <a:endParaRPr lang="en-IN"/>
                    </a:p>
                  </a:txBody>
                  <a:tcPr anchor="ctr">
                    <a:solidFill>
                      <a:srgbClr val="FFFFFF"/>
                    </a:solidFill>
                  </a:tcPr>
                </a:tc>
                <a:tc>
                  <a:txBody>
                    <a:bodyPr/>
                    <a:lstStyle/>
                    <a:p>
                      <a:pPr>
                        <a:buNone/>
                      </a:pPr>
                      <a:r>
                        <a:rPr lang="en-IN" i="1"/>
                        <a:t>CNN-Based Abnormal Behavior Recognition in Crowd Scenes</a:t>
                      </a:r>
                      <a:endParaRPr lang="en-IN"/>
                    </a:p>
                  </a:txBody>
                  <a:tcPr anchor="ctr">
                    <a:solidFill>
                      <a:srgbClr val="FFFFFF"/>
                    </a:solidFill>
                  </a:tcPr>
                </a:tc>
                <a:tc>
                  <a:txBody>
                    <a:bodyPr/>
                    <a:lstStyle/>
                    <a:p>
                      <a:pPr>
                        <a:buNone/>
                      </a:pPr>
                      <a:r>
                        <a:rPr lang="en-IN"/>
                        <a:t>CNN + Abnormality Analysis</a:t>
                      </a:r>
                    </a:p>
                  </a:txBody>
                  <a:tcPr anchor="ctr">
                    <a:solidFill>
                      <a:srgbClr val="FFFFFF"/>
                    </a:solidFill>
                  </a:tcPr>
                </a:tc>
                <a:tc>
                  <a:txBody>
                    <a:bodyPr/>
                    <a:lstStyle/>
                    <a:p>
                      <a:pPr>
                        <a:buNone/>
                      </a:pPr>
                      <a:r>
                        <a:rPr lang="en-IN"/>
                        <a:t>Improves abnormal behavior recognition in crowded video scenes.</a:t>
                      </a:r>
                    </a:p>
                  </a:txBody>
                  <a:tcPr anchor="ctr">
                    <a:solidFill>
                      <a:srgbClr val="FFFFFF"/>
                    </a:solidFill>
                  </a:tcPr>
                </a:tc>
                <a:tc>
                  <a:txBody>
                    <a:bodyPr/>
                    <a:lstStyle/>
                    <a:p>
                      <a:pPr>
                        <a:buNone/>
                      </a:pPr>
                      <a:r>
                        <a:rPr lang="en-IN" dirty="0"/>
                        <a:t>Detects abnormal </a:t>
                      </a:r>
                      <a:r>
                        <a:rPr lang="en-IN" dirty="0" err="1"/>
                        <a:t>behavior</a:t>
                      </a:r>
                      <a:r>
                        <a:rPr lang="en-IN" dirty="0"/>
                        <a:t> but does not provide a complete stampede-risk assessment.</a:t>
                      </a:r>
                    </a:p>
                  </a:txBody>
                  <a:tcPr anchor="ct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lgn="l">
              <a:defRPr sz="2500" b="1">
                <a:solidFill>
                  <a:srgbClr val="FFFFFF"/>
                </a:solidFill>
              </a:defRPr>
            </a:pPr>
            <a:r>
              <a:rPr sz="1800" b="1">
                <a:solidFill>
                  <a:srgbClr val="FFFFFF"/>
                </a:solidFill>
                <a:latin typeface="Calibri"/>
              </a:rPr>
              <a:t>8. Research Gap &amp; Novelty Mapping</a:t>
            </a:r>
          </a:p>
        </p:txBody>
      </p:sp>
      <p:sp>
        <p:nvSpPr>
          <p:cNvPr id="4" name="TextBox 3"/>
          <p:cNvSpPr txBox="1"/>
          <p:nvPr/>
        </p:nvSpPr>
        <p:spPr>
          <a:xfrm>
            <a:off x="548640" y="1028343"/>
            <a:ext cx="10972800" cy="5324535"/>
          </a:xfrm>
          <a:prstGeom prst="rect">
            <a:avLst/>
          </a:prstGeom>
          <a:noFill/>
        </p:spPr>
        <p:txBody>
          <a:bodyPr wrap="square">
            <a:spAutoFit/>
          </a:bodyPr>
          <a:lstStyle/>
          <a:p>
            <a:pPr algn="just">
              <a:spcAft>
                <a:spcPts val="800"/>
              </a:spcAft>
            </a:pPr>
            <a:r>
              <a:rPr sz="1300" b="1">
                <a:solidFill>
                  <a:srgbClr val="1F3759"/>
                </a:solidFill>
                <a:latin typeface="Calibri"/>
              </a:rPr>
              <a:t>•  Gap 1: Zero-Velocity Failure in Existing Scoring Models
   </a:t>
            </a:r>
            <a:r>
              <a:rPr sz="1250" b="0">
                <a:solidFill>
                  <a:srgbClr val="334155"/>
                </a:solidFill>
                <a:latin typeface="Calibri"/>
              </a:rPr>
              <a:t>Prior works multiply density by velocity. During fatal compaction, velocity stalls, causing score collapse. -&gt; CrowdSentinel Solution: Decoupled exponential decay C_comp = D * exp(-M/M0) peaks when velocity drops.</a:t>
            </a:r>
            <a:endParaRPr lang="en-IN" sz="2000" dirty="0"/>
          </a:p>
          <a:p>
            <a:pPr>
              <a:spcAft>
                <a:spcPts val="800"/>
              </a:spcAft>
            </a:pPr>
            <a:r>
              <a:rPr sz="1300" b="1">
                <a:solidFill>
                  <a:srgbClr val="1F3759"/>
                </a:solidFill>
                <a:latin typeface="Calibri"/>
              </a:rPr>
              <a:t>•  Gap 2: False Alarm Fatigue in Open Concourse Surveillance
   </a:t>
            </a:r>
            <a:r>
              <a:rPr sz="1250" b="0">
                <a:solidFill>
                  <a:srgbClr val="334155"/>
                </a:solidFill>
                <a:latin typeface="Calibri"/>
              </a:rPr>
              <a:t>Fast walking pedestrians trigger false panic alerts in existing optical flow systems. -&gt; CrowdSentinel Solution: 5-frame persistence consensus filter (K=5, 250ms latency) eliminates false alarms (0.00% FAR).</a:t>
            </a:r>
          </a:p>
          <a:p>
            <a:pPr>
              <a:spcAft>
                <a:spcPts val="800"/>
              </a:spcAft>
            </a:pPr>
            <a:r>
              <a:rPr sz="1300" b="1">
                <a:solidFill>
                  <a:srgbClr val="1F3759"/>
                </a:solidFill>
                <a:latin typeface="Calibri"/>
              </a:rPr>
              <a:t>•  Gap 3: Temporal Evaluation Leakage in Video Benchmarks
   </a:t>
            </a:r>
            <a:r>
              <a:rPr sz="1250" b="0">
                <a:solidFill>
                  <a:srgbClr val="334155"/>
                </a:solidFill>
                <a:latin typeface="Calibri"/>
              </a:rPr>
              <a:t>Splitting adjacent frames into train/test folds artificially inflates validation accuracy. -&gt; CrowdSentinel Solution: Strict sequence-level GroupKFold partitioning across 18 distinct video recordings.</a:t>
            </a:r>
          </a:p>
          <a:p>
            <a:pPr>
              <a:spcAft>
                <a:spcPts val="800"/>
              </a:spcAft>
            </a:pPr>
            <a:r>
              <a:rPr sz="1300" b="1">
                <a:solidFill>
                  <a:srgbClr val="1F3759"/>
                </a:solidFill>
                <a:latin typeface="Calibri"/>
              </a:rPr>
              <a:t>•  Gap 4: Prohibitive GPU Computational Requirements
   </a:t>
            </a:r>
            <a:r>
              <a:rPr sz="1250" b="0">
                <a:solidFill>
                  <a:srgbClr val="334155"/>
                </a:solidFill>
                <a:latin typeface="Calibri"/>
              </a:rPr>
              <a:t>Existing 3D-CNNs and vision transformers demand high-power GPU servers. -&gt; CrowdSentinel Solution: Closed-form physical indicators running at 7.4 FPS on standard edge CPUs.</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10</a:t>
            </a:r>
          </a:p>
        </p:txBody>
      </p:sp>
      <p:sp>
        <p:nvSpPr>
          <p:cNvPr id="6" name="Rectangle 5"/>
          <p:cNvSpPr/>
          <p:nvPr/>
        </p:nvSpPr>
        <p:spPr>
          <a:xfrm>
            <a:off x="0" y="0"/>
            <a:ext cx="12191695" cy="594360"/>
          </a:xfrm>
          <a:prstGeom prst="rect">
            <a:avLst/>
          </a:prstGeom>
          <a:solidFill>
            <a:srgbClr val="1F3759"/>
          </a:solidFill>
          <a:ln>
            <a:solidFill>
              <a:srgbClr val="1F37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2"/>
          <p:cNvSpPr txBox="1"/>
          <p:nvPr/>
        </p:nvSpPr>
        <p:spPr>
          <a:xfrm>
            <a:off x="411480" y="109728"/>
            <a:ext cx="11247120" cy="365760"/>
          </a:xfrm>
          <a:prstGeom prst="rect">
            <a:avLst/>
          </a:prstGeom>
          <a:noFill/>
        </p:spPr>
        <p:txBody>
          <a:bodyPr wrap="none">
            <a:spAutoFit/>
          </a:bodyPr>
          <a:lstStyle/>
          <a:p>
            <a:r>
              <a:rPr sz="1800" b="1">
                <a:solidFill>
                  <a:srgbClr val="FFFFFF"/>
                </a:solidFill>
                <a:latin typeface="Calibri"/>
              </a:rPr>
              <a:t>9. Operational Pipeline Flow Diagram</a:t>
            </a:r>
          </a:p>
        </p:txBody>
      </p:sp>
      <p:pic>
        <p:nvPicPr>
          <p:cNvPr id="8" name="Picture 7" descr="flow_diagram_presentation.png"/>
          <p:cNvPicPr>
            <a:picLocks noChangeAspect="1"/>
          </p:cNvPicPr>
          <p:nvPr/>
        </p:nvPicPr>
        <p:blipFill>
          <a:blip r:embed="rId3"/>
          <a:stretch>
            <a:fillRect/>
          </a:stretch>
        </p:blipFill>
        <p:spPr>
          <a:xfrm>
            <a:off x="731520" y="868680"/>
            <a:ext cx="10725912" cy="51663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lgn="l">
              <a:defRPr sz="2500" b="1">
                <a:solidFill>
                  <a:srgbClr val="FFFFFF"/>
                </a:solidFill>
              </a:defRPr>
            </a:pPr>
            <a:r>
              <a:rPr sz="1800" b="1">
                <a:solidFill>
                  <a:srgbClr val="FFFFFF"/>
                </a:solidFill>
                <a:latin typeface="Calibri"/>
              </a:rPr>
              <a:t>10. System Architecture Diagram</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11</a:t>
            </a:r>
          </a:p>
        </p:txBody>
      </p:sp>
      <p:pic>
        <p:nvPicPr>
          <p:cNvPr id="6" name="Picture 5" descr="architecture_presentation.png"/>
          <p:cNvPicPr>
            <a:picLocks noChangeAspect="1"/>
          </p:cNvPicPr>
          <p:nvPr/>
        </p:nvPicPr>
        <p:blipFill>
          <a:blip r:embed="rId3"/>
          <a:stretch>
            <a:fillRect/>
          </a:stretch>
        </p:blipFill>
        <p:spPr>
          <a:xfrm>
            <a:off x="731520" y="868680"/>
            <a:ext cx="10725912" cy="51663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lgn="l">
              <a:defRPr sz="2500" b="1">
                <a:solidFill>
                  <a:srgbClr val="FFFFFF"/>
                </a:solidFill>
              </a:defRPr>
            </a:pPr>
            <a:r>
              <a:rPr sz="1800" b="1">
                <a:solidFill>
                  <a:srgbClr val="FFFFFF"/>
                </a:solidFill>
                <a:latin typeface="Calibri"/>
              </a:rPr>
              <a:t>11. Module Implementation Status (60% Completed)</a:t>
            </a:r>
          </a:p>
        </p:txBody>
      </p:sp>
      <p:sp>
        <p:nvSpPr>
          <p:cNvPr id="4" name="TextBox 3"/>
          <p:cNvSpPr txBox="1"/>
          <p:nvPr/>
        </p:nvSpPr>
        <p:spPr>
          <a:xfrm>
            <a:off x="670273" y="1295296"/>
            <a:ext cx="11292840" cy="3970318"/>
          </a:xfrm>
          <a:prstGeom prst="rect">
            <a:avLst/>
          </a:prstGeom>
          <a:noFill/>
        </p:spPr>
        <p:txBody>
          <a:bodyPr wrap="square">
            <a:spAutoFit/>
          </a:bodyPr>
          <a:lstStyle/>
          <a:p>
            <a:pPr>
              <a:spcAft>
                <a:spcPts val="400"/>
              </a:spcAft>
            </a:pPr>
            <a:r>
              <a:rPr sz="1150" b="1">
                <a:solidFill>
                  <a:srgbClr val="1F3759"/>
                </a:solidFill>
                <a:latin typeface="Calibri"/>
              </a:rPr>
              <a:t>•  Module 1: Video Ingestion &amp; Sequence Normalization </a:t>
            </a:r>
            <a:r>
              <a:rPr sz="1100" b="1">
                <a:solidFill>
                  <a:srgbClr val="16A34A"/>
                </a:solidFill>
                <a:latin typeface="Calibri"/>
              </a:rPr>
              <a:t>[Completed &amp; Tested - 100%]
    </a:t>
            </a:r>
            <a:r>
              <a:rPr sz="1100" b="0">
                <a:solidFill>
                  <a:srgbClr val="334155"/>
                </a:solidFill>
                <a:latin typeface="Calibri"/>
              </a:rPr>
              <a:t>Ingests 20 Hz CCTV/video streams; performs frame resizing, histogram stabilization, and background filtering.</a:t>
            </a:r>
          </a:p>
          <a:p>
            <a:pPr>
              <a:spcAft>
                <a:spcPts val="400"/>
              </a:spcAft>
            </a:pPr>
            <a:r>
              <a:rPr sz="1150" b="1">
                <a:solidFill>
                  <a:srgbClr val="1F3759"/>
                </a:solidFill>
                <a:latin typeface="Calibri"/>
              </a:rPr>
              <a:t>•  Module 2: YOLOv8n Pedestrian Localization &amp; Polygon Union </a:t>
            </a:r>
            <a:r>
              <a:rPr sz="1100" b="1">
                <a:solidFill>
                  <a:srgbClr val="16A34A"/>
                </a:solidFill>
                <a:latin typeface="Calibri"/>
              </a:rPr>
              <a:t>[Completed &amp; Tested - 100%]
    </a:t>
            </a:r>
            <a:r>
              <a:rPr sz="1100" b="0">
                <a:solidFill>
                  <a:srgbClr val="334155"/>
                </a:solidFill>
                <a:latin typeface="Calibri"/>
              </a:rPr>
              <a:t>Extracts bounding boxes (tau_conf &gt;= 0.25); computes geometric polygon union Omega_crowd(t) to eliminate overlap.</a:t>
            </a:r>
          </a:p>
          <a:p>
            <a:pPr>
              <a:spcAft>
                <a:spcPts val="400"/>
              </a:spcAft>
            </a:pPr>
            <a:r>
              <a:rPr sz="1150" b="1">
                <a:solidFill>
                  <a:srgbClr val="1F3759"/>
                </a:solidFill>
                <a:latin typeface="Calibri"/>
              </a:rPr>
              <a:t>•  Module 3: Farneback Dense Optical Flow Kinematics </a:t>
            </a:r>
            <a:r>
              <a:rPr sz="1100" b="1">
                <a:solidFill>
                  <a:srgbClr val="16A34A"/>
                </a:solidFill>
                <a:latin typeface="Calibri"/>
              </a:rPr>
              <a:t>[Completed &amp; Tested - 100%]
    </a:t>
            </a:r>
            <a:r>
              <a:rPr sz="1100" b="0">
                <a:solidFill>
                  <a:srgbClr val="334155"/>
                </a:solidFill>
                <a:latin typeface="Calibri"/>
              </a:rPr>
              <a:t>Computes quadratic polynomial expansion flow; calculates mean velocity M(t) and instantaneous acceleration Delta M(t).</a:t>
            </a:r>
          </a:p>
          <a:p>
            <a:pPr>
              <a:spcAft>
                <a:spcPts val="400"/>
              </a:spcAft>
            </a:pPr>
            <a:r>
              <a:rPr sz="1150" b="1">
                <a:solidFill>
                  <a:srgbClr val="1F3759"/>
                </a:solidFill>
                <a:latin typeface="Calibri"/>
              </a:rPr>
              <a:t>•  Module 4: Circular Heading Statistics &amp; Fluid Turbulence </a:t>
            </a:r>
            <a:r>
              <a:rPr sz="1100" b="1">
                <a:solidFill>
                  <a:srgbClr val="16A34A"/>
                </a:solidFill>
                <a:latin typeface="Calibri"/>
              </a:rPr>
              <a:t>[Completed &amp; Tested - 100%]
    </a:t>
            </a:r>
            <a:r>
              <a:rPr sz="1100" b="0">
                <a:solidFill>
                  <a:srgbClr val="334155"/>
                </a:solidFill>
                <a:latin typeface="Calibri"/>
              </a:rPr>
              <a:t>Computes circular variance sigma_theta^2 and fluid shear index I_flow across active heading vectors.</a:t>
            </a:r>
          </a:p>
          <a:p>
            <a:pPr>
              <a:spcAft>
                <a:spcPts val="400"/>
              </a:spcAft>
            </a:pPr>
            <a:r>
              <a:rPr sz="1150" b="1">
                <a:solidFill>
                  <a:srgbClr val="1F3759"/>
                </a:solidFill>
                <a:latin typeface="Calibri"/>
              </a:rPr>
              <a:t>•  Module 5: Dual-Branch Decoupled Physical Indicators </a:t>
            </a:r>
            <a:r>
              <a:rPr sz="1100" b="1">
                <a:solidFill>
                  <a:srgbClr val="16A34A"/>
                </a:solidFill>
                <a:latin typeface="Calibri"/>
              </a:rPr>
              <a:t>[Completed &amp; Tested - 100%]
    </a:t>
            </a:r>
            <a:r>
              <a:rPr sz="1100" b="0">
                <a:solidFill>
                  <a:srgbClr val="334155"/>
                </a:solidFill>
                <a:latin typeface="Calibri"/>
              </a:rPr>
              <a:t>Implements static compression C_comp and kinetic turbulence surge S_dyn to resolve zero-velocity crush failures.</a:t>
            </a:r>
          </a:p>
          <a:p>
            <a:pPr>
              <a:spcAft>
                <a:spcPts val="400"/>
              </a:spcAft>
            </a:pPr>
            <a:r>
              <a:rPr sz="1150" b="1">
                <a:solidFill>
                  <a:srgbClr val="1F3759"/>
                </a:solidFill>
                <a:latin typeface="Calibri"/>
              </a:rPr>
              <a:t>•  Module 6: Supervised Multi-Model Classification Engine </a:t>
            </a:r>
            <a:r>
              <a:rPr sz="1100" b="1">
                <a:solidFill>
                  <a:srgbClr val="16A34A"/>
                </a:solidFill>
                <a:latin typeface="Calibri"/>
              </a:rPr>
              <a:t>[Completed &amp; Tested - 100%]
    </a:t>
            </a:r>
            <a:r>
              <a:rPr sz="1100" b="0">
                <a:solidFill>
                  <a:srgbClr val="334155"/>
                </a:solidFill>
                <a:latin typeface="Calibri"/>
              </a:rPr>
              <a:t>Random Forest (150 trees) achieves 0.8892 Macro F1 across 4 operational danger tiers (Normal, Warning, High, Critical).</a:t>
            </a:r>
          </a:p>
          <a:p>
            <a:pPr>
              <a:spcAft>
                <a:spcPts val="400"/>
              </a:spcAft>
            </a:pPr>
            <a:r>
              <a:rPr sz="1150" b="1">
                <a:solidFill>
                  <a:srgbClr val="1F3759"/>
                </a:solidFill>
                <a:latin typeface="Calibri"/>
              </a:rPr>
              <a:t>•  Module 7: Temporal Persistence Suppression Gating </a:t>
            </a:r>
            <a:r>
              <a:rPr sz="1100" b="1">
                <a:solidFill>
                  <a:srgbClr val="16A34A"/>
                </a:solidFill>
                <a:latin typeface="Calibri"/>
              </a:rPr>
              <a:t>[Completed &amp; Tested - 100%]
    </a:t>
            </a:r>
            <a:r>
              <a:rPr sz="1100" b="0">
                <a:solidFill>
                  <a:srgbClr val="334155"/>
                </a:solidFill>
                <a:latin typeface="Calibri"/>
              </a:rPr>
              <a:t>Implements K=5 frame temporal consensus filter; eliminates false alarms (0.00% FAR) while securing 2.52s lead time.</a:t>
            </a:r>
          </a:p>
          <a:p>
            <a:pPr>
              <a:spcAft>
                <a:spcPts val="400"/>
              </a:spcAft>
            </a:pPr>
            <a:r>
              <a:rPr sz="1150" b="1">
                <a:solidFill>
                  <a:srgbClr val="1F3759"/>
                </a:solidFill>
                <a:latin typeface="Calibri"/>
              </a:rPr>
              <a:t>•  Module 8: Multi-Camera RTSP Streaming &amp; Turnstile Interlock </a:t>
            </a:r>
            <a:r>
              <a:rPr sz="1100" b="1">
                <a:solidFill>
                  <a:srgbClr val="D97706"/>
                </a:solidFill>
                <a:latin typeface="Calibri"/>
              </a:rPr>
              <a:t>[Phase II In Progress - 20%]
    </a:t>
            </a:r>
            <a:r>
              <a:rPr sz="1100" b="0">
                <a:solidFill>
                  <a:srgbClr val="334155"/>
                </a:solidFill>
                <a:latin typeface="Calibri"/>
              </a:rPr>
              <a:t>Hardware relay actuation and multi-view homography calibration scheduled for Phase II / Review III.</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12</a:t>
            </a:r>
          </a:p>
        </p:txBody>
      </p:sp>
      <p:sp>
        <p:nvSpPr>
          <p:cNvPr id="6" name="TextBox 5">
            <a:extLst>
              <a:ext uri="{FF2B5EF4-FFF2-40B4-BE49-F238E27FC236}">
                <a16:creationId xmlns:a16="http://schemas.microsoft.com/office/drawing/2014/main" id="{8677F19B-1AA0-A2D5-8316-9D7D72E002A6}"/>
              </a:ext>
            </a:extLst>
          </p:cNvPr>
          <p:cNvSpPr txBox="1"/>
          <p:nvPr/>
        </p:nvSpPr>
        <p:spPr>
          <a:xfrm>
            <a:off x="3683479" y="5391509"/>
            <a:ext cx="184731" cy="369332"/>
          </a:xfrm>
          <a:prstGeom prst="rect">
            <a:avLst/>
          </a:prstGeom>
          <a:noFill/>
        </p:spPr>
        <p:txBody>
          <a:bodyPr wrap="none" rtlCol="0">
            <a:spAutoFit/>
          </a:bodyPr>
          <a:lstStyle/>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lgn="l">
              <a:defRPr sz="2500" b="1">
                <a:solidFill>
                  <a:srgbClr val="FFFFFF"/>
                </a:solidFill>
              </a:defRPr>
            </a:pPr>
            <a:r>
              <a:rPr sz="1800" b="1">
                <a:solidFill>
                  <a:srgbClr val="FFFFFF"/>
                </a:solidFill>
                <a:latin typeface="Calibri"/>
              </a:rPr>
              <a:t>12. Technologies &amp; Implementation Toolchain</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13</a:t>
            </a:r>
          </a:p>
        </p:txBody>
      </p:sp>
      <p:graphicFrame>
        <p:nvGraphicFramePr>
          <p:cNvPr id="6" name="Table 5"/>
          <p:cNvGraphicFramePr>
            <a:graphicFrameLocks noGrp="1"/>
          </p:cNvGraphicFramePr>
          <p:nvPr/>
        </p:nvGraphicFramePr>
        <p:xfrm>
          <a:off x="731520" y="1371600"/>
          <a:ext cx="10725912" cy="4114800"/>
        </p:xfrm>
        <a:graphic>
          <a:graphicData uri="http://schemas.openxmlformats.org/drawingml/2006/table">
            <a:tbl>
              <a:tblPr firstRow="1" bandRow="1">
                <a:tableStyleId>{5C22544A-7EE6-4342-B048-85BDC9FD1C3A}</a:tableStyleId>
              </a:tblPr>
              <a:tblGrid>
                <a:gridCol w="3291840"/>
                <a:gridCol w="7434072"/>
              </a:tblGrid>
              <a:tr h="514350">
                <a:tc>
                  <a:txBody>
                    <a:bodyPr/>
                    <a:lstStyle/>
                    <a:p>
                      <a:r>
                        <a:rPr sz="1200" b="1">
                          <a:solidFill>
                            <a:srgbClr val="FFFFFF"/>
                          </a:solidFill>
                          <a:latin typeface="Calibri"/>
                        </a:rPr>
                        <a:t>System Tier / Functional Category</a:t>
                      </a:r>
                    </a:p>
                  </a:txBody>
                  <a:tcPr/>
                </a:tc>
                <a:tc>
                  <a:txBody>
                    <a:bodyPr/>
                    <a:lstStyle/>
                    <a:p>
                      <a:r>
                        <a:rPr sz="1200" b="1">
                          <a:solidFill>
                            <a:srgbClr val="FFFFFF"/>
                          </a:solidFill>
                          <a:latin typeface="Calibri"/>
                        </a:rPr>
                        <a:t>Implementation Framework &amp; Specific Libraries</a:t>
                      </a:r>
                    </a:p>
                  </a:txBody>
                  <a:tcPr/>
                </a:tc>
              </a:tr>
              <a:tr h="514350">
                <a:tc>
                  <a:txBody>
                    <a:bodyPr/>
                    <a:lstStyle/>
                    <a:p>
                      <a:r>
                        <a:rPr sz="1100" b="1">
                          <a:solidFill>
                            <a:srgbClr val="1F3759"/>
                          </a:solidFill>
                          <a:latin typeface="Calibri"/>
                        </a:rPr>
                        <a:t>Core Pipeline &amp; Multithreading</a:t>
                      </a:r>
                    </a:p>
                  </a:txBody>
                  <a:tcPr/>
                </a:tc>
                <a:tc>
                  <a:txBody>
                    <a:bodyPr/>
                    <a:lstStyle/>
                    <a:p>
                      <a:r>
                        <a:rPr sz="1100" b="0">
                          <a:solidFill>
                            <a:srgbClr val="0F172A"/>
                          </a:solidFill>
                          <a:latin typeface="Calibri"/>
                        </a:rPr>
                        <a:t>Python 3.10+ (Core Multithreaded Execution Pipeline Engine)</a:t>
                      </a:r>
                    </a:p>
                  </a:txBody>
                  <a:tcPr/>
                </a:tc>
              </a:tr>
              <a:tr h="514350">
                <a:tc>
                  <a:txBody>
                    <a:bodyPr/>
                    <a:lstStyle/>
                    <a:p>
                      <a:r>
                        <a:rPr sz="1100" b="1">
                          <a:solidFill>
                            <a:srgbClr val="1F3759"/>
                          </a:solidFill>
                          <a:latin typeface="Calibri"/>
                        </a:rPr>
                        <a:t>Deep Learning Runtime Core</a:t>
                      </a:r>
                    </a:p>
                  </a:txBody>
                  <a:tcPr/>
                </a:tc>
                <a:tc>
                  <a:txBody>
                    <a:bodyPr/>
                    <a:lstStyle/>
                    <a:p>
                      <a:r>
                        <a:rPr sz="1100" b="0">
                          <a:solidFill>
                            <a:srgbClr val="0F172A"/>
                          </a:solidFill>
                          <a:latin typeface="Calibri"/>
                        </a:rPr>
                        <a:t>PyTorch 2.0 &amp; TorchVision (Lightweight tensor inference core)</a:t>
                      </a:r>
                    </a:p>
                  </a:txBody>
                  <a:tcPr/>
                </a:tc>
              </a:tr>
              <a:tr h="514350">
                <a:tc>
                  <a:txBody>
                    <a:bodyPr/>
                    <a:lstStyle/>
                    <a:p>
                      <a:r>
                        <a:rPr sz="1100" b="1">
                          <a:solidFill>
                            <a:srgbClr val="1F3759"/>
                          </a:solidFill>
                          <a:latin typeface="Calibri"/>
                        </a:rPr>
                        <a:t>Object Detection Model</a:t>
                      </a:r>
                    </a:p>
                  </a:txBody>
                  <a:tcPr/>
                </a:tc>
                <a:tc>
                  <a:txBody>
                    <a:bodyPr/>
                    <a:lstStyle/>
                    <a:p>
                      <a:r>
                        <a:rPr sz="1100" b="0">
                          <a:solidFill>
                            <a:srgbClr val="0F172A"/>
                          </a:solidFill>
                          <a:latin typeface="Calibri"/>
                        </a:rPr>
                        <a:t>Ultralytics YOLOv8n (Lightweight anchor-free detection network)</a:t>
                      </a:r>
                    </a:p>
                  </a:txBody>
                  <a:tcPr/>
                </a:tc>
              </a:tr>
              <a:tr h="514350">
                <a:tc>
                  <a:txBody>
                    <a:bodyPr/>
                    <a:lstStyle/>
                    <a:p>
                      <a:r>
                        <a:rPr sz="1100" b="1">
                          <a:solidFill>
                            <a:srgbClr val="1F3759"/>
                          </a:solidFill>
                          <a:latin typeface="Calibri"/>
                        </a:rPr>
                        <a:t>Computer Vision Engine</a:t>
                      </a:r>
                    </a:p>
                  </a:txBody>
                  <a:tcPr/>
                </a:tc>
                <a:tc>
                  <a:txBody>
                    <a:bodyPr/>
                    <a:lstStyle/>
                    <a:p>
                      <a:r>
                        <a:rPr sz="1100" b="0">
                          <a:solidFill>
                            <a:srgbClr val="0F172A"/>
                          </a:solidFill>
                          <a:latin typeface="Calibri"/>
                        </a:rPr>
                        <a:t>OpenCV 4.8 (Farneback dense optical flow &amp; spatial kinematics)</a:t>
                      </a:r>
                    </a:p>
                  </a:txBody>
                  <a:tcPr/>
                </a:tc>
              </a:tr>
              <a:tr h="514350">
                <a:tc>
                  <a:txBody>
                    <a:bodyPr/>
                    <a:lstStyle/>
                    <a:p>
                      <a:r>
                        <a:rPr sz="1100" b="1">
                          <a:solidFill>
                            <a:srgbClr val="1F3759"/>
                          </a:solidFill>
                          <a:latin typeface="Calibri"/>
                        </a:rPr>
                        <a:t>Supervised ML Suite</a:t>
                      </a:r>
                    </a:p>
                  </a:txBody>
                  <a:tcPr/>
                </a:tc>
                <a:tc>
                  <a:txBody>
                    <a:bodyPr/>
                    <a:lstStyle/>
                    <a:p>
                      <a:r>
                        <a:rPr sz="1100" b="0">
                          <a:solidFill>
                            <a:srgbClr val="0F172A"/>
                          </a:solidFill>
                          <a:latin typeface="Calibri"/>
                        </a:rPr>
                        <a:t>Scikit-Learn 1.3 (Random Forest, HistGradientBoosting, MLP)</a:t>
                      </a:r>
                    </a:p>
                  </a:txBody>
                  <a:tcPr/>
                </a:tc>
              </a:tr>
              <a:tr h="514350">
                <a:tc>
                  <a:txBody>
                    <a:bodyPr/>
                    <a:lstStyle/>
                    <a:p>
                      <a:r>
                        <a:rPr sz="1100" b="1">
                          <a:solidFill>
                            <a:srgbClr val="1F3759"/>
                          </a:solidFill>
                          <a:latin typeface="Calibri"/>
                        </a:rPr>
                        <a:t>Directional Statistics</a:t>
                      </a:r>
                    </a:p>
                  </a:txBody>
                  <a:tcPr/>
                </a:tc>
                <a:tc>
                  <a:txBody>
                    <a:bodyPr/>
                    <a:lstStyle/>
                    <a:p>
                      <a:r>
                        <a:rPr sz="1100" b="0">
                          <a:solidFill>
                            <a:srgbClr val="0F172A"/>
                          </a:solidFill>
                          <a:latin typeface="Calibri"/>
                        </a:rPr>
                        <a:t>NumPy 1.24 &amp; SciPy (Circular variance &amp; turbulence modeling)</a:t>
                      </a:r>
                    </a:p>
                  </a:txBody>
                  <a:tcPr/>
                </a:tc>
              </a:tr>
              <a:tr h="514350">
                <a:tc>
                  <a:txBody>
                    <a:bodyPr/>
                    <a:lstStyle/>
                    <a:p>
                      <a:r>
                        <a:rPr sz="1100" b="1">
                          <a:solidFill>
                            <a:srgbClr val="1F3759"/>
                          </a:solidFill>
                          <a:latin typeface="Calibri"/>
                        </a:rPr>
                        <a:t>Target Hardware Platform</a:t>
                      </a:r>
                    </a:p>
                  </a:txBody>
                  <a:tcPr/>
                </a:tc>
                <a:tc>
                  <a:txBody>
                    <a:bodyPr/>
                    <a:lstStyle/>
                    <a:p>
                      <a:r>
                        <a:rPr sz="1100" b="0">
                          <a:solidFill>
                            <a:srgbClr val="0F172A"/>
                          </a:solidFill>
                          <a:latin typeface="Calibri"/>
                        </a:rPr>
                        <a:t>Intel Core i7 CPU (12 cores @ 2.2 GHz) / NVIDIA Jetson (Phase II)</a:t>
                      </a:r>
                    </a:p>
                  </a:txBody>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lgn="l">
              <a:defRPr sz="2500" b="1">
                <a:solidFill>
                  <a:srgbClr val="FFFFFF"/>
                </a:solidFill>
              </a:defRPr>
            </a:pPr>
            <a:r>
              <a:rPr sz="1800" b="1">
                <a:solidFill>
                  <a:srgbClr val="FFFFFF"/>
                </a:solidFill>
                <a:latin typeface="Calibri"/>
              </a:rPr>
              <a:t>13. Experimental Benchmark Dataset Construction</a:t>
            </a:r>
          </a:p>
        </p:txBody>
      </p:sp>
      <p:sp>
        <p:nvSpPr>
          <p:cNvPr id="4" name="TextBox 3"/>
          <p:cNvSpPr txBox="1"/>
          <p:nvPr/>
        </p:nvSpPr>
        <p:spPr>
          <a:xfrm>
            <a:off x="274320" y="765810"/>
            <a:ext cx="10972800" cy="5909310"/>
          </a:xfrm>
          <a:prstGeom prst="rect">
            <a:avLst/>
          </a:prstGeom>
          <a:noFill/>
        </p:spPr>
        <p:txBody>
          <a:bodyPr wrap="square">
            <a:spAutoFit/>
          </a:bodyPr>
          <a:lstStyle/>
          <a:p>
            <a:pPr>
              <a:spcAft>
                <a:spcPts val="800"/>
              </a:spcAft>
            </a:pPr>
            <a:r>
              <a:rPr sz="1250" b="1">
                <a:solidFill>
                  <a:srgbClr val="1F3759"/>
                </a:solidFill>
                <a:latin typeface="Calibri"/>
              </a:rPr>
              <a:t>•  Benchmark Corpus Structure:
   </a:t>
            </a:r>
            <a:r>
              <a:rPr sz="1200" b="0">
                <a:solidFill>
                  <a:srgbClr val="334155"/>
                </a:solidFill>
                <a:latin typeface="Calibri"/>
              </a:rPr>
              <a:t>18 distinct video recordings totaling 3,600 annotated frames captured at a temporal resolution of 20 Hz in 640x480 VGA resolution (180.0s total duration).</a:t>
            </a:r>
            <a:endParaRPr lang="en-IN" dirty="0"/>
          </a:p>
          <a:p>
            <a:pPr>
              <a:spcAft>
                <a:spcPts val="800"/>
              </a:spcAft>
            </a:pPr>
            <a:r>
              <a:rPr sz="1250" b="1">
                <a:solidFill>
                  <a:srgbClr val="1F3759"/>
                </a:solidFill>
                <a:latin typeface="Calibri"/>
              </a:rPr>
              <a:t>•  Five Canonical Crowd Movement Scenarios:
   </a:t>
            </a:r>
            <a:r>
              <a:rPr sz="1200" b="0">
                <a:solidFill>
                  <a:srgbClr val="334155"/>
                </a:solidFill>
                <a:latin typeface="Calibri"/>
              </a:rPr>
              <a:t>Representing operational safety extremes:
  1. Normal Bidirectional Flow (steady transit concourses)
  2. Bottleneck Inflow Congestion (progressive gate narrowing)
  3. Counter-Flow Surge (opposing pedestrian stream collision)
  4. Radial Panic Dispersion (rapid isotropic scattering panics)
  5. Dense Standstill Compression (extreme mechanical locking where movement stalls)</a:t>
            </a:r>
          </a:p>
          <a:p>
            <a:pPr>
              <a:spcAft>
                <a:spcPts val="800"/>
              </a:spcAft>
            </a:pPr>
            <a:r>
              <a:rPr sz="1250" b="1">
                <a:solidFill>
                  <a:srgbClr val="1F3759"/>
                </a:solidFill>
                <a:latin typeface="Calibri"/>
              </a:rPr>
              <a:t>•  Sequence-Level Partitioning (Zero Data Leakage):
   </a:t>
            </a:r>
            <a:r>
              <a:rPr sz="1200" b="0">
                <a:solidFill>
                  <a:srgbClr val="334155"/>
                </a:solidFill>
                <a:latin typeface="Calibri"/>
              </a:rPr>
              <a:t>Partitioned strictly at recording boundaries:
  • Training Split: 12 sequences (2,400 frames, 66.7%, 120.0s)
  • Validation Split: 3 sequences (640 frames, 17.8%, 32.0s)
  • Held-Out Test Split: 3 sequences (560 frames, 15.5%, 28.0s)</a:t>
            </a:r>
          </a:p>
          <a:p>
            <a:pPr>
              <a:spcAft>
                <a:spcPts val="800"/>
              </a:spcAft>
            </a:pPr>
            <a:r>
              <a:rPr sz="1250" b="1">
                <a:solidFill>
                  <a:srgbClr val="1F3759"/>
                </a:solidFill>
                <a:latin typeface="Calibri"/>
              </a:rPr>
              <a:t>•  Rigorous Normalization Protocol:
   </a:t>
            </a:r>
            <a:r>
              <a:rPr sz="1200" b="0">
                <a:solidFill>
                  <a:srgbClr val="334155"/>
                </a:solidFill>
                <a:latin typeface="Calibri"/>
              </a:rPr>
              <a:t>All feature scalers, normalizers, and baselines were fitted exclusively on training sequences to eliminate cross-fold bias.</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14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lgn="l">
              <a:defRPr sz="2500" b="1">
                <a:solidFill>
                  <a:srgbClr val="FFFFFF"/>
                </a:solidFill>
              </a:defRPr>
            </a:pPr>
            <a:r>
              <a:rPr sz="1800" b="1">
                <a:solidFill>
                  <a:srgbClr val="FFFFFF"/>
                </a:solidFill>
                <a:latin typeface="Calibri"/>
              </a:rPr>
              <a:t>14. Core Algorithms &amp; Mathematical Modeling</a:t>
            </a:r>
          </a:p>
        </p:txBody>
      </p:sp>
      <p:sp>
        <p:nvSpPr>
          <p:cNvPr id="4" name="TextBox 3"/>
          <p:cNvSpPr txBox="1"/>
          <p:nvPr/>
        </p:nvSpPr>
        <p:spPr>
          <a:xfrm>
            <a:off x="548640" y="1005259"/>
            <a:ext cx="10972800" cy="5339923"/>
          </a:xfrm>
          <a:prstGeom prst="rect">
            <a:avLst/>
          </a:prstGeom>
          <a:noFill/>
        </p:spPr>
        <p:txBody>
          <a:bodyPr wrap="square">
            <a:spAutoFit/>
          </a:bodyPr>
          <a:lstStyle/>
          <a:p>
            <a:pPr>
              <a:spcAft>
                <a:spcPts val="700"/>
              </a:spcAft>
            </a:pPr>
            <a:r>
              <a:rPr sz="1250" b="1">
                <a:solidFill>
                  <a:srgbClr val="1F3759"/>
                </a:solidFill>
                <a:latin typeface="Calibri"/>
              </a:rPr>
              <a:t>•  1. Overlap-Free Spatial Density D(t):
   </a:t>
            </a:r>
            <a:r>
              <a:rPr sz="1150" b="0">
                <a:solidFill>
                  <a:srgbClr val="0F172A"/>
                </a:solidFill>
                <a:latin typeface="Calibri"/>
              </a:rPr>
              <a:t>D(t) = min(100, 0.6 * (|Omega_crowd| / (H*W) * 250) + 0.4 * (N(t) / N_max * 100))
   where Omega_crowd(t) is the geometric polygon union across all detected bounding boxes.</a:t>
            </a:r>
          </a:p>
          <a:p>
            <a:pPr>
              <a:spcAft>
                <a:spcPts val="700"/>
              </a:spcAft>
            </a:pPr>
            <a:r>
              <a:rPr sz="1250" b="1">
                <a:solidFill>
                  <a:srgbClr val="1F3759"/>
                </a:solidFill>
                <a:latin typeface="Calibri"/>
              </a:rPr>
              <a:t>•  2. Farneback Dense Optical Flow Kinematics:
   </a:t>
            </a:r>
            <a:r>
              <a:rPr sz="1150" b="0">
                <a:solidFill>
                  <a:srgbClr val="0F172A"/>
                </a:solidFill>
                <a:latin typeface="Calibri"/>
              </a:rPr>
              <a:t>d(x) = -0.5 * (A1 + A2)^(-1) * (b2 - b1)
   evaluating mean velocity M(t) and acceleration Delta M(t) across active pixels (|d(x)| &gt; 0.5 px).</a:t>
            </a:r>
          </a:p>
          <a:p>
            <a:pPr>
              <a:spcAft>
                <a:spcPts val="700"/>
              </a:spcAft>
            </a:pPr>
            <a:r>
              <a:rPr sz="1250" b="1">
                <a:solidFill>
                  <a:srgbClr val="1F3759"/>
                </a:solidFill>
                <a:latin typeface="Calibri"/>
              </a:rPr>
              <a:t>•  3. Circular Heading Variance &amp; Fluid Turbulence:
   </a:t>
            </a:r>
            <a:r>
              <a:rPr sz="1150" b="0">
                <a:solidFill>
                  <a:srgbClr val="0F172A"/>
                </a:solidFill>
                <a:latin typeface="Calibri"/>
              </a:rPr>
              <a:t>R_dir = sqrt(C_dir^2 + S_dir^2) / N_act  --&gt;  sigma_theta^2(t) = 1.0 - R_dir(t)
   Turbulence Index: I_flow(t) = (1.0 - (||Sum d(x)||_2 / Sum ||d(x)||_2)) * 100</a:t>
            </a:r>
          </a:p>
          <a:p>
            <a:pPr>
              <a:spcAft>
                <a:spcPts val="700"/>
              </a:spcAft>
            </a:pPr>
            <a:r>
              <a:rPr sz="1250" b="1">
                <a:solidFill>
                  <a:srgbClr val="1F3759"/>
                </a:solidFill>
                <a:latin typeface="Calibri"/>
              </a:rPr>
              <a:t>•  4. Decoupled Static Compression Index C_comp(t):
   </a:t>
            </a:r>
            <a:r>
              <a:rPr sz="1150" b="0">
                <a:solidFill>
                  <a:srgbClr val="0F172A"/>
                </a:solidFill>
                <a:latin typeface="Calibri"/>
              </a:rPr>
              <a:t>C_comp(t) = D(t) * exp(-M(t) / M_0)  --&gt; Peaks during fatal zero-velocity crowd crushes!</a:t>
            </a:r>
          </a:p>
          <a:p>
            <a:pPr>
              <a:spcAft>
                <a:spcPts val="700"/>
              </a:spcAft>
            </a:pPr>
            <a:r>
              <a:rPr sz="1250" b="1">
                <a:solidFill>
                  <a:srgbClr val="1F3759"/>
                </a:solidFill>
                <a:latin typeface="Calibri"/>
              </a:rPr>
              <a:t>•  5. Decoupled Kinetic Surge Index S_dyn(t):
   </a:t>
            </a:r>
            <a:r>
              <a:rPr sz="1150" b="0">
                <a:solidFill>
                  <a:srgbClr val="0F172A"/>
                </a:solidFill>
                <a:latin typeface="Calibri"/>
              </a:rPr>
              <a:t>S_dyn(t) = M(t) * (1.0 + 2 * sigma_theta^2(t)) * (1.0 + I_flow(t) / 100)  --&gt; Captures violent panics!</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15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lgn="l">
              <a:defRPr sz="2500" b="1">
                <a:solidFill>
                  <a:srgbClr val="FFFFFF"/>
                </a:solidFill>
              </a:defRPr>
            </a:pPr>
            <a:r>
              <a:rPr sz="1800" b="1">
                <a:solidFill>
                  <a:srgbClr val="FFFFFF"/>
                </a:solidFill>
                <a:latin typeface="Calibri"/>
              </a:rPr>
              <a:t>15. Work Completed – 60% Milestone Progress Summary</a:t>
            </a:r>
          </a:p>
        </p:txBody>
      </p:sp>
      <p:sp>
        <p:nvSpPr>
          <p:cNvPr id="4" name="TextBox 3"/>
          <p:cNvSpPr txBox="1"/>
          <p:nvPr/>
        </p:nvSpPr>
        <p:spPr>
          <a:xfrm>
            <a:off x="855741" y="902524"/>
            <a:ext cx="10972800" cy="5955476"/>
          </a:xfrm>
          <a:prstGeom prst="rect">
            <a:avLst/>
          </a:prstGeom>
          <a:noFill/>
        </p:spPr>
        <p:txBody>
          <a:bodyPr wrap="square">
            <a:spAutoFit/>
          </a:bodyPr>
          <a:lstStyle/>
          <a:p>
            <a:pPr>
              <a:spcAft>
                <a:spcPts val="800"/>
              </a:spcAft>
            </a:pPr>
            <a:r>
              <a:rPr sz="1300" b="1">
                <a:solidFill>
                  <a:srgbClr val="16A34A"/>
                </a:solidFill>
                <a:latin typeface="Calibri"/>
              </a:rPr>
              <a:t>•  Complete End-to-End Pipeline Implemented: </a:t>
            </a:r>
            <a:r>
              <a:rPr sz="1250" b="0">
                <a:solidFill>
                  <a:srgbClr val="334155"/>
                </a:solidFill>
                <a:latin typeface="Calibri"/>
              </a:rPr>
              <a:t>YOLOv8n detector, Farneback optical flow, circular statistics, and temporal rolling filters fully operational and integrated.</a:t>
            </a:r>
            <a:endParaRPr lang="en-IN" sz="2400" dirty="0"/>
          </a:p>
          <a:p>
            <a:pPr>
              <a:spcAft>
                <a:spcPts val="800"/>
              </a:spcAft>
            </a:pPr>
            <a:r>
              <a:rPr sz="1300" b="1">
                <a:solidFill>
                  <a:srgbClr val="16A34A"/>
                </a:solidFill>
                <a:latin typeface="Calibri"/>
              </a:rPr>
              <a:t>•  Decoupled Indicators Verified on Empirical Data: </a:t>
            </a:r>
            <a:r>
              <a:rPr sz="1250" b="0">
                <a:solidFill>
                  <a:srgbClr val="334155"/>
                </a:solidFill>
                <a:latin typeface="Calibri"/>
              </a:rPr>
              <a:t>Static compression C_comp successfully eliminates zero-velocity false negative detections during standstill crushes.</a:t>
            </a:r>
          </a:p>
          <a:p>
            <a:pPr>
              <a:spcAft>
                <a:spcPts val="800"/>
              </a:spcAft>
            </a:pPr>
            <a:r>
              <a:rPr sz="1300" b="1">
                <a:solidFill>
                  <a:srgbClr val="16A34A"/>
                </a:solidFill>
                <a:latin typeface="Calibri"/>
              </a:rPr>
              <a:t>•  Benchmark Classifier Trained &amp; Tested: </a:t>
            </a:r>
            <a:r>
              <a:rPr sz="1250" b="0">
                <a:solidFill>
                  <a:srgbClr val="334155"/>
                </a:solidFill>
                <a:latin typeface="Calibri"/>
              </a:rPr>
              <a:t>Random Forest model (150 trees) achieved 0.8892 Macro F1 and 86.79% overall accuracy on the held-out test partition.</a:t>
            </a:r>
          </a:p>
          <a:p>
            <a:pPr>
              <a:spcAft>
                <a:spcPts val="800"/>
              </a:spcAft>
            </a:pPr>
            <a:r>
              <a:rPr sz="1300" b="1">
                <a:solidFill>
                  <a:srgbClr val="16A34A"/>
                </a:solidFill>
                <a:latin typeface="Calibri"/>
              </a:rPr>
              <a:t>•  False Alarms Completely Suppressed (0.00% FAR): </a:t>
            </a:r>
            <a:r>
              <a:rPr sz="1250" b="0">
                <a:solidFill>
                  <a:srgbClr val="334155"/>
                </a:solidFill>
                <a:latin typeface="Calibri"/>
              </a:rPr>
              <a:t>5-frame temporal persistence filter (K=5, 250ms) suppresses false alarm chattering to 0.00% on normal walking footage.</a:t>
            </a:r>
          </a:p>
          <a:p>
            <a:pPr>
              <a:spcAft>
                <a:spcPts val="800"/>
              </a:spcAft>
            </a:pPr>
            <a:r>
              <a:rPr sz="1300" b="1">
                <a:solidFill>
                  <a:srgbClr val="16A34A"/>
                </a:solidFill>
                <a:latin typeface="Calibri"/>
              </a:rPr>
              <a:t>•  Anticipatory Early Warning Horizon Secured: </a:t>
            </a:r>
            <a:r>
              <a:rPr sz="1250" b="0">
                <a:solidFill>
                  <a:srgbClr val="334155"/>
                </a:solidFill>
                <a:latin typeface="Calibri"/>
              </a:rPr>
              <a:t>Provides 2.52 seconds average lead time (range 1.10s to 3.25s) prior to severe congestion or hazard onset.</a:t>
            </a:r>
          </a:p>
          <a:p>
            <a:pPr>
              <a:spcAft>
                <a:spcPts val="800"/>
              </a:spcAft>
            </a:pPr>
            <a:r>
              <a:rPr sz="1300" b="1">
                <a:solidFill>
                  <a:srgbClr val="16A34A"/>
                </a:solidFill>
                <a:latin typeface="Calibri"/>
              </a:rPr>
              <a:t>•  Edge Real-Time Feasibility Confirmed: </a:t>
            </a:r>
            <a:r>
              <a:rPr sz="1250" b="0">
                <a:solidFill>
                  <a:srgbClr val="334155"/>
                </a:solidFill>
                <a:latin typeface="Calibri"/>
              </a:rPr>
              <a:t>Attains 7.4 FPS throughput at 640x480 VGA on commodity Intel Core i7 CPU without GPU hardware requirements.</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16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lgn="l">
              <a:defRPr sz="2500" b="1">
                <a:solidFill>
                  <a:srgbClr val="FFFFFF"/>
                </a:solidFill>
              </a:defRPr>
            </a:pPr>
            <a:r>
              <a:rPr sz="1800" b="1">
                <a:solidFill>
                  <a:srgbClr val="FFFFFF"/>
                </a:solidFill>
                <a:latin typeface="Calibri"/>
              </a:rPr>
              <a:t>16. Performance Evaluation &amp; Multi-Model Benchmark</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17</a:t>
            </a:r>
          </a:p>
        </p:txBody>
      </p:sp>
      <p:graphicFrame>
        <p:nvGraphicFramePr>
          <p:cNvPr id="6" name="Table 5"/>
          <p:cNvGraphicFramePr>
            <a:graphicFrameLocks noGrp="1"/>
          </p:cNvGraphicFramePr>
          <p:nvPr/>
        </p:nvGraphicFramePr>
        <p:xfrm>
          <a:off x="731520" y="1280160"/>
          <a:ext cx="10725912" cy="3566160"/>
        </p:xfrm>
        <a:graphic>
          <a:graphicData uri="http://schemas.openxmlformats.org/drawingml/2006/table">
            <a:tbl>
              <a:tblPr firstRow="1" bandRow="1">
                <a:tableStyleId>{5C22544A-7EE6-4342-B048-85BDC9FD1C3A}</a:tableStyleId>
              </a:tblPr>
              <a:tblGrid>
                <a:gridCol w="2834640"/>
                <a:gridCol w="1005840"/>
                <a:gridCol w="1005840"/>
                <a:gridCol w="914400"/>
                <a:gridCol w="4965192"/>
              </a:tblGrid>
              <a:tr h="396240">
                <a:tc>
                  <a:txBody>
                    <a:bodyPr/>
                    <a:lstStyle/>
                    <a:p>
                      <a:r>
                        <a:rPr sz="1150" b="1">
                          <a:solidFill>
                            <a:srgbClr val="FFFFFF"/>
                          </a:solidFill>
                          <a:latin typeface="Calibri"/>
                        </a:rPr>
                        <a:t>Evaluated Model Architecture</a:t>
                      </a:r>
                    </a:p>
                  </a:txBody>
                  <a:tcPr/>
                </a:tc>
                <a:tc>
                  <a:txBody>
                    <a:bodyPr/>
                    <a:lstStyle/>
                    <a:p>
                      <a:r>
                        <a:rPr sz="1150" b="1">
                          <a:solidFill>
                            <a:srgbClr val="FFFFFF"/>
                          </a:solidFill>
                          <a:latin typeface="Calibri"/>
                        </a:rPr>
                        <a:t>Macro F1</a:t>
                      </a:r>
                    </a:p>
                  </a:txBody>
                  <a:tcPr/>
                </a:tc>
                <a:tc>
                  <a:txBody>
                    <a:bodyPr/>
                    <a:lstStyle/>
                    <a:p>
                      <a:r>
                        <a:rPr sz="1150" b="1">
                          <a:solidFill>
                            <a:srgbClr val="FFFFFF"/>
                          </a:solidFill>
                          <a:latin typeface="Calibri"/>
                        </a:rPr>
                        <a:t>Accuracy</a:t>
                      </a:r>
                    </a:p>
                  </a:txBody>
                  <a:tcPr/>
                </a:tc>
                <a:tc>
                  <a:txBody>
                    <a:bodyPr/>
                    <a:lstStyle/>
                    <a:p>
                      <a:r>
                        <a:rPr sz="1150" b="1">
                          <a:solidFill>
                            <a:srgbClr val="FFFFFF"/>
                          </a:solidFill>
                          <a:latin typeface="Calibri"/>
                        </a:rPr>
                        <a:t>FAR (%)</a:t>
                      </a:r>
                    </a:p>
                  </a:txBody>
                  <a:tcPr/>
                </a:tc>
                <a:tc>
                  <a:txBody>
                    <a:bodyPr/>
                    <a:lstStyle/>
                    <a:p>
                      <a:r>
                        <a:rPr sz="1150" b="1">
                          <a:solidFill>
                            <a:srgbClr val="FFFFFF"/>
                          </a:solidFill>
                          <a:latin typeface="Calibri"/>
                        </a:rPr>
                        <a:t>Empirical Finding / Operational Status</a:t>
                      </a:r>
                    </a:p>
                  </a:txBody>
                  <a:tcPr/>
                </a:tc>
              </a:tr>
              <a:tr h="396240">
                <a:tc>
                  <a:txBody>
                    <a:bodyPr/>
                    <a:lstStyle/>
                    <a:p>
                      <a:r>
                        <a:rPr sz="1000" b="1">
                          <a:solidFill>
                            <a:srgbClr val="1F3759"/>
                          </a:solidFill>
                          <a:latin typeface="Calibri"/>
                        </a:rPr>
                        <a:t>Linear Heuristic Baseline</a:t>
                      </a:r>
                    </a:p>
                  </a:txBody>
                  <a:tcPr/>
                </a:tc>
                <a:tc>
                  <a:txBody>
                    <a:bodyPr/>
                    <a:lstStyle/>
                    <a:p>
                      <a:r>
                        <a:rPr sz="1000" b="0">
                          <a:solidFill>
                            <a:srgbClr val="0F172A"/>
                          </a:solidFill>
                          <a:latin typeface="Calibri"/>
                        </a:rPr>
                        <a:t>0.2746</a:t>
                      </a:r>
                    </a:p>
                  </a:txBody>
                  <a:tcPr/>
                </a:tc>
                <a:tc>
                  <a:txBody>
                    <a:bodyPr/>
                    <a:lstStyle/>
                    <a:p>
                      <a:r>
                        <a:rPr sz="1000" b="0">
                          <a:solidFill>
                            <a:srgbClr val="0F172A"/>
                          </a:solidFill>
                          <a:latin typeface="Calibri"/>
                        </a:rPr>
                        <a:t>32.86%</a:t>
                      </a:r>
                    </a:p>
                  </a:txBody>
                  <a:tcPr/>
                </a:tc>
                <a:tc>
                  <a:txBody>
                    <a:bodyPr/>
                    <a:lstStyle/>
                    <a:p>
                      <a:r>
                        <a:rPr sz="1000" b="0">
                          <a:solidFill>
                            <a:srgbClr val="0F172A"/>
                          </a:solidFill>
                          <a:latin typeface="Calibri"/>
                        </a:rPr>
                        <a:t>6.25%</a:t>
                      </a:r>
                    </a:p>
                  </a:txBody>
                  <a:tcPr/>
                </a:tc>
                <a:tc>
                  <a:txBody>
                    <a:bodyPr/>
                    <a:lstStyle/>
                    <a:p>
                      <a:r>
                        <a:rPr sz="1000" b="0">
                          <a:solidFill>
                            <a:srgbClr val="334155"/>
                          </a:solidFill>
                          <a:latin typeface="Calibri"/>
                        </a:rPr>
                        <a:t>Fails on standstill crushes; high false alarms</a:t>
                      </a:r>
                    </a:p>
                  </a:txBody>
                  <a:tcPr/>
                </a:tc>
              </a:tr>
              <a:tr h="396240">
                <a:tc>
                  <a:txBody>
                    <a:bodyPr/>
                    <a:lstStyle/>
                    <a:p>
                      <a:r>
                        <a:rPr sz="1000" b="1">
                          <a:solidFill>
                            <a:srgbClr val="1F3759"/>
                          </a:solidFill>
                          <a:latin typeface="Calibri"/>
                        </a:rPr>
                        <a:t>Density-Only Baseline</a:t>
                      </a:r>
                    </a:p>
                  </a:txBody>
                  <a:tcPr/>
                </a:tc>
                <a:tc>
                  <a:txBody>
                    <a:bodyPr/>
                    <a:lstStyle/>
                    <a:p>
                      <a:r>
                        <a:rPr sz="1000" b="0">
                          <a:solidFill>
                            <a:srgbClr val="0F172A"/>
                          </a:solidFill>
                          <a:latin typeface="Calibri"/>
                        </a:rPr>
                        <a:t>0.4427</a:t>
                      </a:r>
                    </a:p>
                  </a:txBody>
                  <a:tcPr/>
                </a:tc>
                <a:tc>
                  <a:txBody>
                    <a:bodyPr/>
                    <a:lstStyle/>
                    <a:p>
                      <a:r>
                        <a:rPr sz="1000" b="0">
                          <a:solidFill>
                            <a:srgbClr val="0F172A"/>
                          </a:solidFill>
                          <a:latin typeface="Calibri"/>
                        </a:rPr>
                        <a:t>50.54%</a:t>
                      </a:r>
                    </a:p>
                  </a:txBody>
                  <a:tcPr/>
                </a:tc>
                <a:tc>
                  <a:txBody>
                    <a:bodyPr/>
                    <a:lstStyle/>
                    <a:p>
                      <a:r>
                        <a:rPr sz="1000" b="0">
                          <a:solidFill>
                            <a:srgbClr val="0F172A"/>
                          </a:solidFill>
                          <a:latin typeface="Calibri"/>
                        </a:rPr>
                        <a:t>0.00%</a:t>
                      </a:r>
                    </a:p>
                  </a:txBody>
                  <a:tcPr/>
                </a:tc>
                <a:tc>
                  <a:txBody>
                    <a:bodyPr/>
                    <a:lstStyle/>
                    <a:p>
                      <a:r>
                        <a:rPr sz="1000" b="0">
                          <a:solidFill>
                            <a:srgbClr val="334155"/>
                          </a:solidFill>
                          <a:latin typeface="Calibri"/>
                        </a:rPr>
                        <a:t>Cannot detect rapid motion surges or panic running</a:t>
                      </a:r>
                    </a:p>
                  </a:txBody>
                  <a:tcPr/>
                </a:tc>
              </a:tr>
              <a:tr h="396240">
                <a:tc>
                  <a:txBody>
                    <a:bodyPr/>
                    <a:lstStyle/>
                    <a:p>
                      <a:r>
                        <a:rPr sz="1000" b="1">
                          <a:solidFill>
                            <a:srgbClr val="1F3759"/>
                          </a:solidFill>
                          <a:latin typeface="Calibri"/>
                        </a:rPr>
                        <a:t>Motion-Only Baseline</a:t>
                      </a:r>
                    </a:p>
                  </a:txBody>
                  <a:tcPr/>
                </a:tc>
                <a:tc>
                  <a:txBody>
                    <a:bodyPr/>
                    <a:lstStyle/>
                    <a:p>
                      <a:r>
                        <a:rPr sz="1000" b="0">
                          <a:solidFill>
                            <a:srgbClr val="0F172A"/>
                          </a:solidFill>
                          <a:latin typeface="Calibri"/>
                        </a:rPr>
                        <a:t>0.8228</a:t>
                      </a:r>
                    </a:p>
                  </a:txBody>
                  <a:tcPr/>
                </a:tc>
                <a:tc>
                  <a:txBody>
                    <a:bodyPr/>
                    <a:lstStyle/>
                    <a:p>
                      <a:r>
                        <a:rPr sz="1000" b="0">
                          <a:solidFill>
                            <a:srgbClr val="0F172A"/>
                          </a:solidFill>
                          <a:latin typeface="Calibri"/>
                        </a:rPr>
                        <a:t>80.89%</a:t>
                      </a:r>
                    </a:p>
                  </a:txBody>
                  <a:tcPr/>
                </a:tc>
                <a:tc>
                  <a:txBody>
                    <a:bodyPr/>
                    <a:lstStyle/>
                    <a:p>
                      <a:r>
                        <a:rPr sz="1000" b="0">
                          <a:solidFill>
                            <a:srgbClr val="0F172A"/>
                          </a:solidFill>
                          <a:latin typeface="Calibri"/>
                        </a:rPr>
                        <a:t>0.00%</a:t>
                      </a:r>
                    </a:p>
                  </a:txBody>
                  <a:tcPr/>
                </a:tc>
                <a:tc>
                  <a:txBody>
                    <a:bodyPr/>
                    <a:lstStyle/>
                    <a:p>
                      <a:r>
                        <a:rPr sz="1000" b="0">
                          <a:solidFill>
                            <a:srgbClr val="334155"/>
                          </a:solidFill>
                          <a:latin typeface="Calibri"/>
                        </a:rPr>
                        <a:t>Fails on zero-velocity static crowd compaction</a:t>
                      </a:r>
                    </a:p>
                  </a:txBody>
                  <a:tcPr/>
                </a:tc>
              </a:tr>
              <a:tr h="396240">
                <a:tc>
                  <a:txBody>
                    <a:bodyPr/>
                    <a:lstStyle/>
                    <a:p>
                      <a:r>
                        <a:rPr sz="1000" b="1">
                          <a:solidFill>
                            <a:srgbClr val="1F3759"/>
                          </a:solidFill>
                          <a:latin typeface="Calibri"/>
                        </a:rPr>
                        <a:t>Logistic Regression (Balanced)</a:t>
                      </a:r>
                    </a:p>
                  </a:txBody>
                  <a:tcPr/>
                </a:tc>
                <a:tc>
                  <a:txBody>
                    <a:bodyPr/>
                    <a:lstStyle/>
                    <a:p>
                      <a:r>
                        <a:rPr sz="1000" b="0">
                          <a:solidFill>
                            <a:srgbClr val="0F172A"/>
                          </a:solidFill>
                          <a:latin typeface="Calibri"/>
                        </a:rPr>
                        <a:t>0.8466</a:t>
                      </a:r>
                    </a:p>
                  </a:txBody>
                  <a:tcPr/>
                </a:tc>
                <a:tc>
                  <a:txBody>
                    <a:bodyPr/>
                    <a:lstStyle/>
                    <a:p>
                      <a:r>
                        <a:rPr sz="1000" b="0">
                          <a:solidFill>
                            <a:srgbClr val="0F172A"/>
                          </a:solidFill>
                          <a:latin typeface="Calibri"/>
                        </a:rPr>
                        <a:t>82.86%</a:t>
                      </a:r>
                    </a:p>
                  </a:txBody>
                  <a:tcPr/>
                </a:tc>
                <a:tc>
                  <a:txBody>
                    <a:bodyPr/>
                    <a:lstStyle/>
                    <a:p>
                      <a:r>
                        <a:rPr sz="1000" b="0">
                          <a:solidFill>
                            <a:srgbClr val="0F172A"/>
                          </a:solidFill>
                          <a:latin typeface="Calibri"/>
                        </a:rPr>
                        <a:t>0.00%</a:t>
                      </a:r>
                    </a:p>
                  </a:txBody>
                  <a:tcPr/>
                </a:tc>
                <a:tc>
                  <a:txBody>
                    <a:bodyPr/>
                    <a:lstStyle/>
                    <a:p>
                      <a:r>
                        <a:rPr sz="1000" b="0">
                          <a:solidFill>
                            <a:srgbClr val="334155"/>
                          </a:solidFill>
                          <a:latin typeface="Calibri"/>
                        </a:rPr>
                        <a:t>Linear boundary; struggles with subtle surge transitions</a:t>
                      </a:r>
                    </a:p>
                  </a:txBody>
                  <a:tcPr/>
                </a:tc>
              </a:tr>
              <a:tr h="396240">
                <a:tc>
                  <a:txBody>
                    <a:bodyPr/>
                    <a:lstStyle/>
                    <a:p>
                      <a:r>
                        <a:rPr sz="1000" b="1">
                          <a:solidFill>
                            <a:srgbClr val="1F3759"/>
                          </a:solidFill>
                          <a:latin typeface="Calibri"/>
                        </a:rPr>
                        <a:t>Linear SVM (Balanced)</a:t>
                      </a:r>
                    </a:p>
                  </a:txBody>
                  <a:tcPr/>
                </a:tc>
                <a:tc>
                  <a:txBody>
                    <a:bodyPr/>
                    <a:lstStyle/>
                    <a:p>
                      <a:r>
                        <a:rPr sz="1000" b="0">
                          <a:solidFill>
                            <a:srgbClr val="0F172A"/>
                          </a:solidFill>
                          <a:latin typeface="Calibri"/>
                        </a:rPr>
                        <a:t>0.8500</a:t>
                      </a:r>
                    </a:p>
                  </a:txBody>
                  <a:tcPr/>
                </a:tc>
                <a:tc>
                  <a:txBody>
                    <a:bodyPr/>
                    <a:lstStyle/>
                    <a:p>
                      <a:r>
                        <a:rPr sz="1000" b="0">
                          <a:solidFill>
                            <a:srgbClr val="0F172A"/>
                          </a:solidFill>
                          <a:latin typeface="Calibri"/>
                        </a:rPr>
                        <a:t>83.04%</a:t>
                      </a:r>
                    </a:p>
                  </a:txBody>
                  <a:tcPr/>
                </a:tc>
                <a:tc>
                  <a:txBody>
                    <a:bodyPr/>
                    <a:lstStyle/>
                    <a:p>
                      <a:r>
                        <a:rPr sz="1000" b="0">
                          <a:solidFill>
                            <a:srgbClr val="0F172A"/>
                          </a:solidFill>
                          <a:latin typeface="Calibri"/>
                        </a:rPr>
                        <a:t>0.00%</a:t>
                      </a:r>
                    </a:p>
                  </a:txBody>
                  <a:tcPr/>
                </a:tc>
                <a:tc>
                  <a:txBody>
                    <a:bodyPr/>
                    <a:lstStyle/>
                    <a:p>
                      <a:r>
                        <a:rPr sz="1000" b="0">
                          <a:solidFill>
                            <a:srgbClr val="334155"/>
                          </a:solidFill>
                          <a:latin typeface="Calibri"/>
                        </a:rPr>
                        <a:t>Solid margin separation on multi-feature spaces</a:t>
                      </a:r>
                    </a:p>
                  </a:txBody>
                  <a:tcPr/>
                </a:tc>
              </a:tr>
              <a:tr h="396240">
                <a:tc>
                  <a:txBody>
                    <a:bodyPr/>
                    <a:lstStyle/>
                    <a:p>
                      <a:r>
                        <a:rPr sz="1000" b="1">
                          <a:solidFill>
                            <a:srgbClr val="1F3759"/>
                          </a:solidFill>
                          <a:latin typeface="Calibri"/>
                        </a:rPr>
                        <a:t>Multi-Layer Perceptron (64-32)</a:t>
                      </a:r>
                    </a:p>
                  </a:txBody>
                  <a:tcPr/>
                </a:tc>
                <a:tc>
                  <a:txBody>
                    <a:bodyPr/>
                    <a:lstStyle/>
                    <a:p>
                      <a:r>
                        <a:rPr sz="1000" b="0">
                          <a:solidFill>
                            <a:srgbClr val="0F172A"/>
                          </a:solidFill>
                          <a:latin typeface="Calibri"/>
                        </a:rPr>
                        <a:t>0.8666</a:t>
                      </a:r>
                    </a:p>
                  </a:txBody>
                  <a:tcPr/>
                </a:tc>
                <a:tc>
                  <a:txBody>
                    <a:bodyPr/>
                    <a:lstStyle/>
                    <a:p>
                      <a:r>
                        <a:rPr sz="1000" b="0">
                          <a:solidFill>
                            <a:srgbClr val="0F172A"/>
                          </a:solidFill>
                          <a:latin typeface="Calibri"/>
                        </a:rPr>
                        <a:t>84.64%</a:t>
                      </a:r>
                    </a:p>
                  </a:txBody>
                  <a:tcPr/>
                </a:tc>
                <a:tc>
                  <a:txBody>
                    <a:bodyPr/>
                    <a:lstStyle/>
                    <a:p>
                      <a:r>
                        <a:rPr sz="1000" b="0">
                          <a:solidFill>
                            <a:srgbClr val="0F172A"/>
                          </a:solidFill>
                          <a:latin typeface="Calibri"/>
                        </a:rPr>
                        <a:t>0.00%</a:t>
                      </a:r>
                    </a:p>
                  </a:txBody>
                  <a:tcPr/>
                </a:tc>
                <a:tc>
                  <a:txBody>
                    <a:bodyPr/>
                    <a:lstStyle/>
                    <a:p>
                      <a:r>
                        <a:rPr sz="1000" b="0">
                          <a:solidFill>
                            <a:srgbClr val="334155"/>
                          </a:solidFill>
                          <a:latin typeface="Calibri"/>
                        </a:rPr>
                        <a:t>Effective non-linear representation; higher latency</a:t>
                      </a:r>
                    </a:p>
                  </a:txBody>
                  <a:tcPr/>
                </a:tc>
              </a:tr>
              <a:tr h="396240">
                <a:tc>
                  <a:txBody>
                    <a:bodyPr/>
                    <a:lstStyle/>
                    <a:p>
                      <a:r>
                        <a:rPr sz="1000" b="1">
                          <a:solidFill>
                            <a:srgbClr val="1F3759"/>
                          </a:solidFill>
                          <a:latin typeface="Calibri"/>
                        </a:rPr>
                        <a:t>HistGradientBoosting</a:t>
                      </a:r>
                    </a:p>
                  </a:txBody>
                  <a:tcPr/>
                </a:tc>
                <a:tc>
                  <a:txBody>
                    <a:bodyPr/>
                    <a:lstStyle/>
                    <a:p>
                      <a:r>
                        <a:rPr sz="1000" b="0">
                          <a:solidFill>
                            <a:srgbClr val="0F172A"/>
                          </a:solidFill>
                          <a:latin typeface="Calibri"/>
                        </a:rPr>
                        <a:t>0.8266</a:t>
                      </a:r>
                    </a:p>
                  </a:txBody>
                  <a:tcPr/>
                </a:tc>
                <a:tc>
                  <a:txBody>
                    <a:bodyPr/>
                    <a:lstStyle/>
                    <a:p>
                      <a:r>
                        <a:rPr sz="1000" b="0">
                          <a:solidFill>
                            <a:srgbClr val="0F172A"/>
                          </a:solidFill>
                          <a:latin typeface="Calibri"/>
                        </a:rPr>
                        <a:t>81.61%</a:t>
                      </a:r>
                    </a:p>
                  </a:txBody>
                  <a:tcPr/>
                </a:tc>
                <a:tc>
                  <a:txBody>
                    <a:bodyPr/>
                    <a:lstStyle/>
                    <a:p>
                      <a:r>
                        <a:rPr sz="1000" b="0">
                          <a:solidFill>
                            <a:srgbClr val="0F172A"/>
                          </a:solidFill>
                          <a:latin typeface="Calibri"/>
                        </a:rPr>
                        <a:t>0.00%</a:t>
                      </a:r>
                    </a:p>
                  </a:txBody>
                  <a:tcPr/>
                </a:tc>
                <a:tc>
                  <a:txBody>
                    <a:bodyPr/>
                    <a:lstStyle/>
                    <a:p>
                      <a:r>
                        <a:rPr sz="1000" b="0">
                          <a:solidFill>
                            <a:srgbClr val="334155"/>
                          </a:solidFill>
                          <a:latin typeface="Calibri"/>
                        </a:rPr>
                        <a:t>Fast tree ensemble; sensitive to small boundary samples</a:t>
                      </a:r>
                    </a:p>
                  </a:txBody>
                  <a:tcPr/>
                </a:tc>
              </a:tr>
              <a:tr h="396240">
                <a:tc>
                  <a:txBody>
                    <a:bodyPr/>
                    <a:lstStyle/>
                    <a:p>
                      <a:r>
                        <a:rPr sz="1000" b="1">
                          <a:solidFill>
                            <a:srgbClr val="16A34A"/>
                          </a:solidFill>
                          <a:latin typeface="Calibri"/>
                        </a:rPr>
                        <a:t>Random Forest (150 Trees) [SELECTED]</a:t>
                      </a:r>
                    </a:p>
                  </a:txBody>
                  <a:tcPr/>
                </a:tc>
                <a:tc>
                  <a:txBody>
                    <a:bodyPr/>
                    <a:lstStyle/>
                    <a:p>
                      <a:r>
                        <a:rPr sz="1000" b="1">
                          <a:solidFill>
                            <a:srgbClr val="16A34A"/>
                          </a:solidFill>
                          <a:latin typeface="Calibri"/>
                        </a:rPr>
                        <a:t>0.8892</a:t>
                      </a:r>
                    </a:p>
                  </a:txBody>
                  <a:tcPr/>
                </a:tc>
                <a:tc>
                  <a:txBody>
                    <a:bodyPr/>
                    <a:lstStyle/>
                    <a:p>
                      <a:r>
                        <a:rPr sz="1000" b="1">
                          <a:solidFill>
                            <a:srgbClr val="16A34A"/>
                          </a:solidFill>
                          <a:latin typeface="Calibri"/>
                        </a:rPr>
                        <a:t>86.79%</a:t>
                      </a:r>
                    </a:p>
                  </a:txBody>
                  <a:tcPr/>
                </a:tc>
                <a:tc>
                  <a:txBody>
                    <a:bodyPr/>
                    <a:lstStyle/>
                    <a:p>
                      <a:r>
                        <a:rPr sz="1000" b="1">
                          <a:solidFill>
                            <a:srgbClr val="16A34A"/>
                          </a:solidFill>
                          <a:latin typeface="Calibri"/>
                        </a:rPr>
                        <a:t>0.00%</a:t>
                      </a:r>
                    </a:p>
                  </a:txBody>
                  <a:tcPr/>
                </a:tc>
                <a:tc>
                  <a:txBody>
                    <a:bodyPr/>
                    <a:lstStyle/>
                    <a:p>
                      <a:r>
                        <a:rPr sz="1000" b="1">
                          <a:solidFill>
                            <a:srgbClr val="16A34A"/>
                          </a:solidFill>
                          <a:latin typeface="Calibri"/>
                        </a:rPr>
                        <a:t>TOP MODEL: 90.26% Precision, 2.52s warning lead time</a:t>
                      </a:r>
                    </a:p>
                  </a:txBody>
                  <a:tcPr/>
                </a:tc>
              </a:tr>
            </a:tbl>
          </a:graphicData>
        </a:graphic>
      </p:graphicFrame>
      <p:sp>
        <p:nvSpPr>
          <p:cNvPr id="7" name="TextBox 6"/>
          <p:cNvSpPr txBox="1"/>
          <p:nvPr/>
        </p:nvSpPr>
        <p:spPr>
          <a:xfrm>
            <a:off x="731520" y="4983480"/>
            <a:ext cx="10725912" cy="1005840"/>
          </a:xfrm>
          <a:prstGeom prst="rect">
            <a:avLst/>
          </a:prstGeom>
          <a:noFill/>
        </p:spPr>
        <p:txBody>
          <a:bodyPr wrap="square">
            <a:spAutoFit/>
          </a:bodyPr>
          <a:lstStyle/>
          <a:p>
            <a:r>
              <a:rPr sz="1200" b="1">
                <a:solidFill>
                  <a:srgbClr val="1F3759"/>
                </a:solidFill>
                <a:latin typeface="Calibri"/>
              </a:rPr>
              <a:t>Key Empirical Takeaway (60% Work Completion Milestone): </a:t>
            </a:r>
            <a:r>
              <a:rPr sz="1150" b="0">
                <a:solidFill>
                  <a:srgbClr val="334155"/>
                </a:solidFill>
                <a:latin typeface="Calibri"/>
              </a:rPr>
              <a:t>Decoupled physical indicators (Ccomp &amp; Sdyn) combined with a 150-tree Random Forest classifier achieve 0.8892 Macro F1 and completely eliminate false alarms (0.00% FAR), surpassing baseline heuristics by +0.6146 F1 while providing an anticipatory 2.52-second early warning horizon on commodity CPU (7.4 FPS).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lgn="l">
              <a:defRPr sz="2500" b="1">
                <a:solidFill>
                  <a:srgbClr val="FFFFFF"/>
                </a:solidFill>
              </a:defRPr>
            </a:pPr>
            <a:r>
              <a:rPr sz="1800" b="1">
                <a:solidFill>
                  <a:srgbClr val="FFFFFF"/>
                </a:solidFill>
                <a:latin typeface="Calibri"/>
              </a:rPr>
              <a:t>17. Project Timeline &amp; Phase-Wise Milestones</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18</a:t>
            </a:r>
          </a:p>
        </p:txBody>
      </p:sp>
      <p:graphicFrame>
        <p:nvGraphicFramePr>
          <p:cNvPr id="6" name="Table 5"/>
          <p:cNvGraphicFramePr>
            <a:graphicFrameLocks noGrp="1"/>
          </p:cNvGraphicFramePr>
          <p:nvPr/>
        </p:nvGraphicFramePr>
        <p:xfrm>
          <a:off x="731520" y="1371600"/>
          <a:ext cx="10725912" cy="4206240"/>
        </p:xfrm>
        <a:graphic>
          <a:graphicData uri="http://schemas.openxmlformats.org/drawingml/2006/table">
            <a:tbl>
              <a:tblPr firstRow="1" bandRow="1">
                <a:tableStyleId>{5C22544A-7EE6-4342-B048-85BDC9FD1C3A}</a:tableStyleId>
              </a:tblPr>
              <a:tblGrid>
                <a:gridCol w="6858000"/>
                <a:gridCol w="3867912"/>
              </a:tblGrid>
              <a:tr h="525780">
                <a:tc>
                  <a:txBody>
                    <a:bodyPr/>
                    <a:lstStyle/>
                    <a:p>
                      <a:r>
                        <a:rPr sz="1200" b="1">
                          <a:solidFill>
                            <a:srgbClr val="FFFFFF"/>
                          </a:solidFill>
                          <a:latin typeface="Calibri"/>
                        </a:rPr>
                        <a:t>Phase / Milestone Stage</a:t>
                      </a:r>
                    </a:p>
                  </a:txBody>
                  <a:tcPr/>
                </a:tc>
                <a:tc>
                  <a:txBody>
                    <a:bodyPr/>
                    <a:lstStyle/>
                    <a:p>
                      <a:r>
                        <a:rPr sz="1200" b="1">
                          <a:solidFill>
                            <a:srgbClr val="FFFFFF"/>
                          </a:solidFill>
                          <a:latin typeface="Calibri"/>
                        </a:rPr>
                        <a:t>Planned Milestone Schedule &amp; Review II Status</a:t>
                      </a:r>
                    </a:p>
                  </a:txBody>
                  <a:tcPr/>
                </a:tc>
              </a:tr>
              <a:tr h="525780">
                <a:tc>
                  <a:txBody>
                    <a:bodyPr/>
                    <a:lstStyle/>
                    <a:p>
                      <a:r>
                        <a:rPr sz="1100" b="1">
                          <a:solidFill>
                            <a:srgbClr val="1F3759"/>
                          </a:solidFill>
                          <a:latin typeface="Calibri"/>
                        </a:rPr>
                        <a:t>Phase 1: Problem Identification &amp; Domain Research</a:t>
                      </a:r>
                    </a:p>
                  </a:txBody>
                  <a:tcPr/>
                </a:tc>
                <a:tc>
                  <a:txBody>
                    <a:bodyPr/>
                    <a:lstStyle/>
                    <a:p>
                      <a:r>
                        <a:rPr sz="1100" b="1">
                          <a:solidFill>
                            <a:srgbClr val="16A34A"/>
                          </a:solidFill>
                          <a:latin typeface="Calibri"/>
                        </a:rPr>
                        <a:t>Aug 2026 [Completed]</a:t>
                      </a:r>
                    </a:p>
                  </a:txBody>
                  <a:tcPr/>
                </a:tc>
              </a:tr>
              <a:tr h="525780">
                <a:tc>
                  <a:txBody>
                    <a:bodyPr/>
                    <a:lstStyle/>
                    <a:p>
                      <a:r>
                        <a:rPr sz="1100" b="1">
                          <a:solidFill>
                            <a:srgbClr val="1F3759"/>
                          </a:solidFill>
                          <a:latin typeface="Calibri"/>
                        </a:rPr>
                        <a:t>Phase 2: Literature Survey &amp; Gap Analysis</a:t>
                      </a:r>
                    </a:p>
                  </a:txBody>
                  <a:tcPr/>
                </a:tc>
                <a:tc>
                  <a:txBody>
                    <a:bodyPr/>
                    <a:lstStyle/>
                    <a:p>
                      <a:r>
                        <a:rPr sz="1100" b="1">
                          <a:solidFill>
                            <a:srgbClr val="16A34A"/>
                          </a:solidFill>
                          <a:latin typeface="Calibri"/>
                        </a:rPr>
                        <a:t>Aug – Sep 2026 [Completed]</a:t>
                      </a:r>
                    </a:p>
                  </a:txBody>
                  <a:tcPr/>
                </a:tc>
              </a:tr>
              <a:tr h="525780">
                <a:tc>
                  <a:txBody>
                    <a:bodyPr/>
                    <a:lstStyle/>
                    <a:p>
                      <a:r>
                        <a:rPr sz="1100" b="1">
                          <a:solidFill>
                            <a:srgbClr val="1F3759"/>
                          </a:solidFill>
                          <a:latin typeface="Calibri"/>
                        </a:rPr>
                        <a:t>Phase 3: Benchmark Dataset Collection (18 videos, 3,600 frames)</a:t>
                      </a:r>
                    </a:p>
                  </a:txBody>
                  <a:tcPr/>
                </a:tc>
                <a:tc>
                  <a:txBody>
                    <a:bodyPr/>
                    <a:lstStyle/>
                    <a:p>
                      <a:r>
                        <a:rPr sz="1100" b="1">
                          <a:solidFill>
                            <a:srgbClr val="16A34A"/>
                          </a:solidFill>
                          <a:latin typeface="Calibri"/>
                        </a:rPr>
                        <a:t>Sep 2026 [Completed]</a:t>
                      </a:r>
                    </a:p>
                  </a:txBody>
                  <a:tcPr/>
                </a:tc>
              </a:tr>
              <a:tr h="525780">
                <a:tc>
                  <a:txBody>
                    <a:bodyPr/>
                    <a:lstStyle/>
                    <a:p>
                      <a:r>
                        <a:rPr sz="1100" b="1">
                          <a:solidFill>
                            <a:srgbClr val="1F3759"/>
                          </a:solidFill>
                          <a:latin typeface="Calibri"/>
                        </a:rPr>
                        <a:t>Phase 4: System Architecture &amp; Decoupled Mathematical Modeling</a:t>
                      </a:r>
                    </a:p>
                  </a:txBody>
                  <a:tcPr/>
                </a:tc>
                <a:tc>
                  <a:txBody>
                    <a:bodyPr/>
                    <a:lstStyle/>
                    <a:p>
                      <a:r>
                        <a:rPr sz="1100" b="1">
                          <a:solidFill>
                            <a:srgbClr val="16A34A"/>
                          </a:solidFill>
                          <a:latin typeface="Calibri"/>
                        </a:rPr>
                        <a:t>Sep – Oct 2026 [Completed]</a:t>
                      </a:r>
                    </a:p>
                  </a:txBody>
                  <a:tcPr/>
                </a:tc>
              </a:tr>
              <a:tr h="525780">
                <a:tc>
                  <a:txBody>
                    <a:bodyPr/>
                    <a:lstStyle/>
                    <a:p>
                      <a:r>
                        <a:rPr sz="1100" b="1">
                          <a:solidFill>
                            <a:srgbClr val="1F3759"/>
                          </a:solidFill>
                          <a:latin typeface="Calibri"/>
                        </a:rPr>
                        <a:t>Phase 5: Core Model Development &amp; Supervised Classifier Training</a:t>
                      </a:r>
                    </a:p>
                  </a:txBody>
                  <a:tcPr/>
                </a:tc>
                <a:tc>
                  <a:txBody>
                    <a:bodyPr/>
                    <a:lstStyle/>
                    <a:p>
                      <a:r>
                        <a:rPr sz="1100" b="1">
                          <a:solidFill>
                            <a:srgbClr val="16A34A"/>
                          </a:solidFill>
                          <a:latin typeface="Calibri"/>
                        </a:rPr>
                        <a:t>Oct 2026 [Completed]</a:t>
                      </a:r>
                    </a:p>
                  </a:txBody>
                  <a:tcPr/>
                </a:tc>
              </a:tr>
              <a:tr h="525780">
                <a:tc>
                  <a:txBody>
                    <a:bodyPr/>
                    <a:lstStyle/>
                    <a:p>
                      <a:r>
                        <a:rPr sz="1100" b="1">
                          <a:solidFill>
                            <a:srgbClr val="1F3759"/>
                          </a:solidFill>
                          <a:latin typeface="Calibri"/>
                        </a:rPr>
                        <a:t>Phase 6: Multi-Model Evaluation &amp; False Alarm Suppression Audit</a:t>
                      </a:r>
                    </a:p>
                  </a:txBody>
                  <a:tcPr/>
                </a:tc>
                <a:tc>
                  <a:txBody>
                    <a:bodyPr/>
                    <a:lstStyle/>
                    <a:p>
                      <a:r>
                        <a:rPr sz="1100" b="1">
                          <a:solidFill>
                            <a:srgbClr val="16A34A"/>
                          </a:solidFill>
                          <a:latin typeface="Calibri"/>
                        </a:rPr>
                        <a:t>Oct 2026 [Completed]</a:t>
                      </a:r>
                    </a:p>
                  </a:txBody>
                  <a:tcPr/>
                </a:tc>
              </a:tr>
              <a:tr h="525780">
                <a:tc>
                  <a:txBody>
                    <a:bodyPr/>
                    <a:lstStyle/>
                    <a:p>
                      <a:r>
                        <a:rPr sz="1100" b="1">
                          <a:solidFill>
                            <a:srgbClr val="1F3759"/>
                          </a:solidFill>
                          <a:latin typeface="Calibri"/>
                        </a:rPr>
                        <a:t>Phase 7: Phase II Real-Time Edge &amp; Hardware Turnstile Integration</a:t>
                      </a:r>
                    </a:p>
                  </a:txBody>
                  <a:tcPr/>
                </a:tc>
                <a:tc>
                  <a:txBody>
                    <a:bodyPr/>
                    <a:lstStyle/>
                    <a:p>
                      <a:r>
                        <a:rPr sz="1100" b="0">
                          <a:solidFill>
                            <a:srgbClr val="D97706"/>
                          </a:solidFill>
                          <a:latin typeface="Calibri"/>
                        </a:rPr>
                        <a:t>Nov – Dec 2026 [In Progress - Phase II]</a:t>
                      </a:r>
                    </a:p>
                  </a:txBody>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5022" y="109728"/>
            <a:ext cx="2421753" cy="477054"/>
          </a:xfrm>
          <a:prstGeom prst="rect">
            <a:avLst/>
          </a:prstGeom>
          <a:noFill/>
        </p:spPr>
        <p:txBody>
          <a:bodyPr wrap="none">
            <a:spAutoFit/>
          </a:bodyPr>
          <a:lstStyle/>
          <a:p>
            <a:pPr algn="l">
              <a:defRPr sz="2500" b="1">
                <a:solidFill>
                  <a:srgbClr val="FFFFFF"/>
                </a:solidFill>
              </a:defRPr>
            </a:pPr>
            <a:r>
              <a:rPr sz="1800" b="1">
                <a:solidFill>
                  <a:srgbClr val="FFFFFF"/>
                </a:solidFill>
                <a:latin typeface="Calibri"/>
              </a:rPr>
              <a:t>18. Phase-Wise Work Status (60% Completed)</a:t>
            </a:r>
          </a:p>
        </p:txBody>
      </p:sp>
      <p:graphicFrame>
        <p:nvGraphicFramePr>
          <p:cNvPr id="4" name="Table 3"/>
          <p:cNvGraphicFramePr>
            <a:graphicFrameLocks noGrp="1"/>
          </p:cNvGraphicFramePr>
          <p:nvPr>
            <p:extLst>
              <p:ext uri="{D42A27DB-BD31-4B8C-83A1-F6EECF244321}">
                <p14:modId xmlns:p14="http://schemas.microsoft.com/office/powerpoint/2010/main" val="1623925926"/>
              </p:ext>
            </p:extLst>
          </p:nvPr>
        </p:nvGraphicFramePr>
        <p:xfrm>
          <a:off x="731520" y="1371600"/>
          <a:ext cx="10725912" cy="4206240"/>
        </p:xfrm>
        <a:graphic>
          <a:graphicData uri="http://schemas.openxmlformats.org/drawingml/2006/table">
            <a:tbl>
              <a:tblPr firstRow="1" bandRow="1">
                <a:tableStyleId>{5C22544A-7EE6-4342-B048-85BDC9FD1C3A}</a:tableStyleId>
              </a:tblPr>
              <a:tblGrid>
                <a:gridCol w="745799">
                  <a:extLst>
                    <a:ext uri="{9D8B030D-6E8A-4147-A177-3AD203B41FA5}">
                      <a16:colId xmlns:a16="http://schemas.microsoft.com/office/drawing/2014/main" val="20000"/>
                    </a:ext>
                  </a:extLst>
                </a:gridCol>
                <a:gridCol w="4847693">
                  <a:extLst>
                    <a:ext uri="{9D8B030D-6E8A-4147-A177-3AD203B41FA5}">
                      <a16:colId xmlns:a16="http://schemas.microsoft.com/office/drawing/2014/main" val="20001"/>
                    </a:ext>
                  </a:extLst>
                </a:gridCol>
                <a:gridCol w="2144172">
                  <a:extLst>
                    <a:ext uri="{9D8B030D-6E8A-4147-A177-3AD203B41FA5}">
                      <a16:colId xmlns:a16="http://schemas.microsoft.com/office/drawing/2014/main" val="20002"/>
                    </a:ext>
                  </a:extLst>
                </a:gridCol>
                <a:gridCol w="2610296">
                  <a:extLst>
                    <a:ext uri="{9D8B030D-6E8A-4147-A177-3AD203B41FA5}">
                      <a16:colId xmlns:a16="http://schemas.microsoft.com/office/drawing/2014/main" val="20003"/>
                    </a:ext>
                  </a:extLst>
                </a:gridCol>
              </a:tblGrid>
              <a:tr h="560070">
                <a:tc>
                  <a:txBody>
                    <a:bodyPr/>
                    <a:lstStyle/>
                    <a:p>
                      <a:r>
                        <a:rPr sz="1200" b="1">
                          <a:solidFill>
                            <a:srgbClr val="FFFFFF"/>
                          </a:solidFill>
                          <a:latin typeface="Calibri"/>
                        </a:rPr>
                        <a:t>Phase</a:t>
                      </a:r>
                    </a:p>
                  </a:txBody>
                  <a:tcPr anchor="ctr">
                    <a:solidFill>
                      <a:srgbClr val="1F3759"/>
                    </a:solidFill>
                  </a:tcPr>
                </a:tc>
                <a:tc>
                  <a:txBody>
                    <a:bodyPr/>
                    <a:lstStyle/>
                    <a:p>
                      <a:r>
                        <a:rPr sz="1200" b="1">
                          <a:solidFill>
                            <a:srgbClr val="FFFFFF"/>
                          </a:solidFill>
                          <a:latin typeface="Calibri"/>
                        </a:rPr>
                        <a:t>Activity / Milestone Description</a:t>
                      </a:r>
                    </a:p>
                  </a:txBody>
                  <a:tcPr anchor="ctr">
                    <a:solidFill>
                      <a:srgbClr val="1F3759"/>
                    </a:solidFill>
                  </a:tcPr>
                </a:tc>
                <a:tc>
                  <a:txBody>
                    <a:bodyPr/>
                    <a:lstStyle/>
                    <a:p>
                      <a:r>
                        <a:rPr sz="1200" b="1">
                          <a:solidFill>
                            <a:srgbClr val="FFFFFF"/>
                          </a:solidFill>
                          <a:latin typeface="Calibri"/>
                        </a:rPr>
                        <a:t>Planned Date</a:t>
                      </a:r>
                    </a:p>
                  </a:txBody>
                  <a:tcPr anchor="ctr">
                    <a:solidFill>
                      <a:srgbClr val="1F3759"/>
                    </a:solidFill>
                  </a:tcPr>
                </a:tc>
                <a:tc>
                  <a:txBody>
                    <a:bodyPr/>
                    <a:lstStyle/>
                    <a:p>
                      <a:r>
                        <a:rPr sz="1200" b="1">
                          <a:solidFill>
                            <a:srgbClr val="FFFFFF"/>
                          </a:solidFill>
                          <a:latin typeface="Calibri"/>
                        </a:rPr>
                        <a:t>Review II Status</a:t>
                      </a:r>
                    </a:p>
                  </a:txBody>
                  <a:tcPr anchor="ctr">
                    <a:solidFill>
                      <a:srgbClr val="1F3759"/>
                    </a:solidFill>
                  </a:tcPr>
                </a:tc>
                <a:extLst>
                  <a:ext uri="{0D108BD9-81ED-4DB2-BD59-A6C34878D82A}">
                    <a16:rowId xmlns:a16="http://schemas.microsoft.com/office/drawing/2014/main" val="10000"/>
                  </a:ext>
                </a:extLst>
              </a:tr>
              <a:tr h="560070">
                <a:tc>
                  <a:txBody>
                    <a:bodyPr/>
                    <a:lstStyle/>
                    <a:p>
                      <a:r>
                        <a:rPr sz="1100" b="1">
                          <a:solidFill>
                            <a:srgbClr val="1F3759"/>
                          </a:solidFill>
                          <a:latin typeface="Calibri"/>
                        </a:rPr>
                        <a:t>1</a:t>
                      </a:r>
                    </a:p>
                  </a:txBody>
                  <a:tcPr anchor="ctr">
                    <a:solidFill>
                      <a:srgbClr val="F2F6FA"/>
                    </a:solidFill>
                  </a:tcPr>
                </a:tc>
                <a:tc>
                  <a:txBody>
                    <a:bodyPr/>
                    <a:lstStyle/>
                    <a:p>
                      <a:r>
                        <a:rPr sz="1100" b="0">
                          <a:solidFill>
                            <a:srgbClr val="0F172A"/>
                          </a:solidFill>
                          <a:latin typeface="Calibri"/>
                        </a:rPr>
                        <a:t>Problem Identification &amp; Operational Scope Definition</a:t>
                      </a:r>
                    </a:p>
                  </a:txBody>
                  <a:tcPr anchor="ctr">
                    <a:solidFill>
                      <a:srgbClr val="F2F6FA"/>
                    </a:solidFill>
                  </a:tcPr>
                </a:tc>
                <a:tc>
                  <a:txBody>
                    <a:bodyPr/>
                    <a:lstStyle/>
                    <a:p>
                      <a:r>
                        <a:rPr sz="1100" b="0">
                          <a:solidFill>
                            <a:srgbClr val="0F172A"/>
                          </a:solidFill>
                          <a:latin typeface="Calibri"/>
                        </a:rPr>
                        <a:t>Aug 2026</a:t>
                      </a:r>
                    </a:p>
                  </a:txBody>
                  <a:tcPr anchor="ctr">
                    <a:solidFill>
                      <a:srgbClr val="F2F6FA"/>
                    </a:solidFill>
                  </a:tcPr>
                </a:tc>
                <a:tc>
                  <a:txBody>
                    <a:bodyPr/>
                    <a:lstStyle/>
                    <a:p>
                      <a:r>
                        <a:rPr sz="1100" b="1">
                          <a:solidFill>
                            <a:srgbClr val="16A34A"/>
                          </a:solidFill>
                          <a:latin typeface="Calibri"/>
                        </a:rPr>
                        <a:t>Completed (100%)</a:t>
                      </a:r>
                    </a:p>
                  </a:txBody>
                  <a:tcPr anchor="ctr">
                    <a:solidFill>
                      <a:srgbClr val="F2F6FA"/>
                    </a:solidFill>
                  </a:tcPr>
                </a:tc>
                <a:extLst>
                  <a:ext uri="{0D108BD9-81ED-4DB2-BD59-A6C34878D82A}">
                    <a16:rowId xmlns:a16="http://schemas.microsoft.com/office/drawing/2014/main" val="10001"/>
                  </a:ext>
                </a:extLst>
              </a:tr>
              <a:tr h="560070">
                <a:tc>
                  <a:txBody>
                    <a:bodyPr/>
                    <a:lstStyle/>
                    <a:p>
                      <a:r>
                        <a:rPr sz="1100" b="1">
                          <a:solidFill>
                            <a:srgbClr val="1F3759"/>
                          </a:solidFill>
                          <a:latin typeface="Calibri"/>
                        </a:rPr>
                        <a:t>2</a:t>
                      </a:r>
                    </a:p>
                  </a:txBody>
                  <a:tcPr anchor="ctr">
                    <a:solidFill>
                      <a:srgbClr val="FFFFFF"/>
                    </a:solidFill>
                  </a:tcPr>
                </a:tc>
                <a:tc>
                  <a:txBody>
                    <a:bodyPr/>
                    <a:lstStyle/>
                    <a:p>
                      <a:r>
                        <a:rPr sz="1100" b="0">
                          <a:solidFill>
                            <a:srgbClr val="0F172A"/>
                          </a:solidFill>
                          <a:latin typeface="Calibri"/>
                        </a:rPr>
                        <a:t>Literature Survey &amp; Research Gap Identification</a:t>
                      </a:r>
                    </a:p>
                  </a:txBody>
                  <a:tcPr anchor="ctr">
                    <a:solidFill>
                      <a:srgbClr val="FFFFFF"/>
                    </a:solidFill>
                  </a:tcPr>
                </a:tc>
                <a:tc>
                  <a:txBody>
                    <a:bodyPr/>
                    <a:lstStyle/>
                    <a:p>
                      <a:r>
                        <a:rPr sz="1100" b="0">
                          <a:solidFill>
                            <a:srgbClr val="0F172A"/>
                          </a:solidFill>
                          <a:latin typeface="Calibri"/>
                        </a:rPr>
                        <a:t>Aug 2026</a:t>
                      </a:r>
                    </a:p>
                  </a:txBody>
                  <a:tcPr anchor="ctr">
                    <a:solidFill>
                      <a:srgbClr val="FFFFFF"/>
                    </a:solidFill>
                  </a:tcPr>
                </a:tc>
                <a:tc>
                  <a:txBody>
                    <a:bodyPr/>
                    <a:lstStyle/>
                    <a:p>
                      <a:r>
                        <a:rPr sz="1100" b="1">
                          <a:solidFill>
                            <a:srgbClr val="16A34A"/>
                          </a:solidFill>
                          <a:latin typeface="Calibri"/>
                        </a:rPr>
                        <a:t>Completed (100%)</a:t>
                      </a:r>
                    </a:p>
                  </a:txBody>
                  <a:tcPr anchor="ctr">
                    <a:solidFill>
                      <a:srgbClr val="FFFFFF"/>
                    </a:solidFill>
                  </a:tcPr>
                </a:tc>
                <a:extLst>
                  <a:ext uri="{0D108BD9-81ED-4DB2-BD59-A6C34878D82A}">
                    <a16:rowId xmlns:a16="http://schemas.microsoft.com/office/drawing/2014/main" val="10002"/>
                  </a:ext>
                </a:extLst>
              </a:tr>
              <a:tr h="560070">
                <a:tc>
                  <a:txBody>
                    <a:bodyPr/>
                    <a:lstStyle/>
                    <a:p>
                      <a:r>
                        <a:rPr sz="1100" b="1">
                          <a:solidFill>
                            <a:srgbClr val="1F3759"/>
                          </a:solidFill>
                          <a:latin typeface="Calibri"/>
                        </a:rPr>
                        <a:t>3</a:t>
                      </a:r>
                    </a:p>
                  </a:txBody>
                  <a:tcPr anchor="ctr">
                    <a:solidFill>
                      <a:srgbClr val="F2F6FA"/>
                    </a:solidFill>
                  </a:tcPr>
                </a:tc>
                <a:tc>
                  <a:txBody>
                    <a:bodyPr/>
                    <a:lstStyle/>
                    <a:p>
                      <a:r>
                        <a:rPr sz="1100" b="0">
                          <a:solidFill>
                            <a:srgbClr val="0F172A"/>
                          </a:solidFill>
                          <a:latin typeface="Calibri"/>
                        </a:rPr>
                        <a:t>Benchmark Dataset Curation &amp; Ground-Truth Annotation</a:t>
                      </a:r>
                    </a:p>
                  </a:txBody>
                  <a:tcPr anchor="ctr">
                    <a:solidFill>
                      <a:srgbClr val="F2F6FA"/>
                    </a:solidFill>
                  </a:tcPr>
                </a:tc>
                <a:tc>
                  <a:txBody>
                    <a:bodyPr/>
                    <a:lstStyle/>
                    <a:p>
                      <a:r>
                        <a:rPr sz="1100" b="0">
                          <a:solidFill>
                            <a:srgbClr val="0F172A"/>
                          </a:solidFill>
                          <a:latin typeface="Calibri"/>
                        </a:rPr>
                        <a:t>Sep 2026</a:t>
                      </a:r>
                    </a:p>
                  </a:txBody>
                  <a:tcPr anchor="ctr">
                    <a:solidFill>
                      <a:srgbClr val="F2F6FA"/>
                    </a:solidFill>
                  </a:tcPr>
                </a:tc>
                <a:tc>
                  <a:txBody>
                    <a:bodyPr/>
                    <a:lstStyle/>
                    <a:p>
                      <a:r>
                        <a:rPr sz="1100" b="1">
                          <a:solidFill>
                            <a:srgbClr val="16A34A"/>
                          </a:solidFill>
                          <a:latin typeface="Calibri"/>
                        </a:rPr>
                        <a:t>Completed (100%)</a:t>
                      </a:r>
                    </a:p>
                  </a:txBody>
                  <a:tcPr anchor="ctr">
                    <a:solidFill>
                      <a:srgbClr val="F2F6FA"/>
                    </a:solidFill>
                  </a:tcPr>
                </a:tc>
                <a:extLst>
                  <a:ext uri="{0D108BD9-81ED-4DB2-BD59-A6C34878D82A}">
                    <a16:rowId xmlns:a16="http://schemas.microsoft.com/office/drawing/2014/main" val="10003"/>
                  </a:ext>
                </a:extLst>
              </a:tr>
              <a:tr h="560070">
                <a:tc>
                  <a:txBody>
                    <a:bodyPr/>
                    <a:lstStyle/>
                    <a:p>
                      <a:r>
                        <a:rPr sz="1100" b="1">
                          <a:solidFill>
                            <a:srgbClr val="1F3759"/>
                          </a:solidFill>
                          <a:latin typeface="Calibri"/>
                        </a:rPr>
                        <a:t>4</a:t>
                      </a:r>
                    </a:p>
                  </a:txBody>
                  <a:tcPr anchor="ctr">
                    <a:solidFill>
                      <a:srgbClr val="FFFFFF"/>
                    </a:solidFill>
                  </a:tcPr>
                </a:tc>
                <a:tc>
                  <a:txBody>
                    <a:bodyPr/>
                    <a:lstStyle/>
                    <a:p>
                      <a:r>
                        <a:rPr sz="1100" b="0">
                          <a:solidFill>
                            <a:srgbClr val="0F172A"/>
                          </a:solidFill>
                          <a:latin typeface="Calibri"/>
                        </a:rPr>
                        <a:t>Decoupled Mathematical Modeling (Ccomp, Sdyn, Iflow)</a:t>
                      </a:r>
                    </a:p>
                  </a:txBody>
                  <a:tcPr anchor="ctr">
                    <a:solidFill>
                      <a:srgbClr val="FFFFFF"/>
                    </a:solidFill>
                  </a:tcPr>
                </a:tc>
                <a:tc>
                  <a:txBody>
                    <a:bodyPr/>
                    <a:lstStyle/>
                    <a:p>
                      <a:r>
                        <a:rPr sz="1100" b="0">
                          <a:solidFill>
                            <a:srgbClr val="0F172A"/>
                          </a:solidFill>
                          <a:latin typeface="Calibri"/>
                        </a:rPr>
                        <a:t>Sep 2026</a:t>
                      </a:r>
                    </a:p>
                  </a:txBody>
                  <a:tcPr anchor="ctr">
                    <a:solidFill>
                      <a:srgbClr val="FFFFFF"/>
                    </a:solidFill>
                  </a:tcPr>
                </a:tc>
                <a:tc>
                  <a:txBody>
                    <a:bodyPr/>
                    <a:lstStyle/>
                    <a:p>
                      <a:r>
                        <a:rPr sz="1100" b="1">
                          <a:solidFill>
                            <a:srgbClr val="16A34A"/>
                          </a:solidFill>
                          <a:latin typeface="Calibri"/>
                        </a:rPr>
                        <a:t>Completed (100%)</a:t>
                      </a:r>
                    </a:p>
                  </a:txBody>
                  <a:tcPr anchor="ctr">
                    <a:solidFill>
                      <a:srgbClr val="FFFFFF"/>
                    </a:solidFill>
                  </a:tcPr>
                </a:tc>
                <a:extLst>
                  <a:ext uri="{0D108BD9-81ED-4DB2-BD59-A6C34878D82A}">
                    <a16:rowId xmlns:a16="http://schemas.microsoft.com/office/drawing/2014/main" val="10004"/>
                  </a:ext>
                </a:extLst>
              </a:tr>
              <a:tr h="560070">
                <a:tc>
                  <a:txBody>
                    <a:bodyPr/>
                    <a:lstStyle/>
                    <a:p>
                      <a:r>
                        <a:rPr sz="1100" b="1">
                          <a:solidFill>
                            <a:srgbClr val="1F3759"/>
                          </a:solidFill>
                          <a:latin typeface="Calibri"/>
                        </a:rPr>
                        <a:t>5</a:t>
                      </a:r>
                    </a:p>
                  </a:txBody>
                  <a:tcPr anchor="ctr">
                    <a:solidFill>
                      <a:srgbClr val="F2F6FA"/>
                    </a:solidFill>
                  </a:tcPr>
                </a:tc>
                <a:tc>
                  <a:txBody>
                    <a:bodyPr/>
                    <a:lstStyle/>
                    <a:p>
                      <a:r>
                        <a:rPr sz="1100" b="0">
                          <a:solidFill>
                            <a:srgbClr val="0F172A"/>
                          </a:solidFill>
                          <a:latin typeface="Calibri"/>
                        </a:rPr>
                        <a:t>Core Pipeline Engineering (YOLOv8 + Farneback + ML)</a:t>
                      </a:r>
                    </a:p>
                  </a:txBody>
                  <a:tcPr anchor="ctr">
                    <a:solidFill>
                      <a:srgbClr val="F2F6FA"/>
                    </a:solidFill>
                  </a:tcPr>
                </a:tc>
                <a:tc>
                  <a:txBody>
                    <a:bodyPr/>
                    <a:lstStyle/>
                    <a:p>
                      <a:r>
                        <a:rPr sz="1100" b="0">
                          <a:solidFill>
                            <a:srgbClr val="0F172A"/>
                          </a:solidFill>
                          <a:latin typeface="Calibri"/>
                        </a:rPr>
                        <a:t>Oct 2026</a:t>
                      </a:r>
                    </a:p>
                  </a:txBody>
                  <a:tcPr anchor="ctr">
                    <a:solidFill>
                      <a:srgbClr val="F2F6FA"/>
                    </a:solidFill>
                  </a:tcPr>
                </a:tc>
                <a:tc>
                  <a:txBody>
                    <a:bodyPr/>
                    <a:lstStyle/>
                    <a:p>
                      <a:r>
                        <a:rPr sz="1100" b="1">
                          <a:solidFill>
                            <a:srgbClr val="16A34A"/>
                          </a:solidFill>
                          <a:latin typeface="Calibri"/>
                        </a:rPr>
                        <a:t>Completed (100%)</a:t>
                      </a:r>
                    </a:p>
                  </a:txBody>
                  <a:tcPr anchor="ctr">
                    <a:solidFill>
                      <a:srgbClr val="F2F6FA"/>
                    </a:solidFill>
                  </a:tcPr>
                </a:tc>
                <a:extLst>
                  <a:ext uri="{0D108BD9-81ED-4DB2-BD59-A6C34878D82A}">
                    <a16:rowId xmlns:a16="http://schemas.microsoft.com/office/drawing/2014/main" val="10005"/>
                  </a:ext>
                </a:extLst>
              </a:tr>
              <a:tr h="560070">
                <a:tc>
                  <a:txBody>
                    <a:bodyPr/>
                    <a:lstStyle/>
                    <a:p>
                      <a:r>
                        <a:rPr sz="1100" b="1">
                          <a:solidFill>
                            <a:srgbClr val="1F3759"/>
                          </a:solidFill>
                          <a:latin typeface="Calibri"/>
                        </a:rPr>
                        <a:t>6</a:t>
                      </a:r>
                    </a:p>
                  </a:txBody>
                  <a:tcPr anchor="ctr">
                    <a:solidFill>
                      <a:srgbClr val="FFFFFF"/>
                    </a:solidFill>
                  </a:tcPr>
                </a:tc>
                <a:tc>
                  <a:txBody>
                    <a:bodyPr/>
                    <a:lstStyle/>
                    <a:p>
                      <a:r>
                        <a:rPr sz="1100" b="0">
                          <a:solidFill>
                            <a:srgbClr val="0F172A"/>
                          </a:solidFill>
                          <a:latin typeface="Calibri"/>
                        </a:rPr>
                        <a:t>Multi-Model Benchmark Evaluation &amp; Lead-Time Audit</a:t>
                      </a:r>
                    </a:p>
                  </a:txBody>
                  <a:tcPr anchor="ctr">
                    <a:solidFill>
                      <a:srgbClr val="FFFFFF"/>
                    </a:solidFill>
                  </a:tcPr>
                </a:tc>
                <a:tc>
                  <a:txBody>
                    <a:bodyPr/>
                    <a:lstStyle/>
                    <a:p>
                      <a:r>
                        <a:rPr sz="1100" b="0">
                          <a:solidFill>
                            <a:srgbClr val="0F172A"/>
                          </a:solidFill>
                          <a:latin typeface="Calibri"/>
                        </a:rPr>
                        <a:t>Oct 2026</a:t>
                      </a:r>
                    </a:p>
                  </a:txBody>
                  <a:tcPr anchor="ctr">
                    <a:solidFill>
                      <a:srgbClr val="FFFFFF"/>
                    </a:solidFill>
                  </a:tcPr>
                </a:tc>
                <a:tc>
                  <a:txBody>
                    <a:bodyPr/>
                    <a:lstStyle/>
                    <a:p>
                      <a:r>
                        <a:rPr sz="1100" b="1">
                          <a:solidFill>
                            <a:srgbClr val="16A34A"/>
                          </a:solidFill>
                          <a:latin typeface="Calibri"/>
                        </a:rPr>
                        <a:t>Completed (100%)</a:t>
                      </a:r>
                    </a:p>
                  </a:txBody>
                  <a:tcPr anchor="ctr">
                    <a:solidFill>
                      <a:srgbClr val="FFFFFF"/>
                    </a:solidFill>
                  </a:tcPr>
                </a:tc>
                <a:extLst>
                  <a:ext uri="{0D108BD9-81ED-4DB2-BD59-A6C34878D82A}">
                    <a16:rowId xmlns:a16="http://schemas.microsoft.com/office/drawing/2014/main" val="10006"/>
                  </a:ext>
                </a:extLst>
              </a:tr>
              <a:tr h="560070">
                <a:tc>
                  <a:txBody>
                    <a:bodyPr/>
                    <a:lstStyle/>
                    <a:p>
                      <a:r>
                        <a:rPr sz="1100" b="1">
                          <a:solidFill>
                            <a:srgbClr val="1F3759"/>
                          </a:solidFill>
                          <a:latin typeface="Calibri"/>
                        </a:rPr>
                        <a:t>7</a:t>
                      </a:r>
                    </a:p>
                  </a:txBody>
                  <a:tcPr anchor="ctr">
                    <a:solidFill>
                      <a:srgbClr val="F2F6FA"/>
                    </a:solidFill>
                  </a:tcPr>
                </a:tc>
                <a:tc>
                  <a:txBody>
                    <a:bodyPr/>
                    <a:lstStyle/>
                    <a:p>
                      <a:r>
                        <a:rPr sz="1100" b="0">
                          <a:solidFill>
                            <a:srgbClr val="0F172A"/>
                          </a:solidFill>
                          <a:latin typeface="Calibri"/>
                        </a:rPr>
                        <a:t>Hardware Turnstile Relay &amp; Phase II Real-Time Edge</a:t>
                      </a:r>
                    </a:p>
                  </a:txBody>
                  <a:tcPr anchor="ctr">
                    <a:solidFill>
                      <a:srgbClr val="F2F6FA"/>
                    </a:solidFill>
                  </a:tcPr>
                </a:tc>
                <a:tc>
                  <a:txBody>
                    <a:bodyPr/>
                    <a:lstStyle/>
                    <a:p>
                      <a:r>
                        <a:rPr sz="1100" b="0">
                          <a:solidFill>
                            <a:srgbClr val="0F172A"/>
                          </a:solidFill>
                          <a:latin typeface="Calibri"/>
                        </a:rPr>
                        <a:t>Nov – Dec 2026</a:t>
                      </a:r>
                    </a:p>
                  </a:txBody>
                  <a:tcPr anchor="ctr">
                    <a:solidFill>
                      <a:srgbClr val="F2F6FA"/>
                    </a:solidFill>
                  </a:tcPr>
                </a:tc>
                <a:tc>
                  <a:txBody>
                    <a:bodyPr/>
                    <a:lstStyle/>
                    <a:p>
                      <a:r>
                        <a:rPr sz="1100" b="1">
                          <a:solidFill>
                            <a:srgbClr val="D97706"/>
                          </a:solidFill>
                          <a:latin typeface="Calibri"/>
                        </a:rPr>
                        <a:t>In Progress (20%)</a:t>
                      </a:r>
                    </a:p>
                  </a:txBody>
                  <a:tcPr anchor="ctr">
                    <a:solidFill>
                      <a:srgbClr val="F2F6FA"/>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23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lgn="l">
              <a:defRPr sz="2500" b="1">
                <a:solidFill>
                  <a:srgbClr val="FFFFFF"/>
                </a:solidFill>
              </a:defRPr>
            </a:pPr>
            <a:r>
              <a:rPr sz="1800" b="1">
                <a:solidFill>
                  <a:srgbClr val="FFFFFF"/>
                </a:solidFill>
                <a:latin typeface="Calibri"/>
              </a:rPr>
              <a:t>19. Phase II Roadmap &amp; Remaining Work (40%)</a:t>
            </a:r>
          </a:p>
        </p:txBody>
      </p:sp>
      <p:sp>
        <p:nvSpPr>
          <p:cNvPr id="4" name="TextBox 3"/>
          <p:cNvSpPr txBox="1"/>
          <p:nvPr/>
        </p:nvSpPr>
        <p:spPr>
          <a:xfrm>
            <a:off x="640080" y="1234440"/>
            <a:ext cx="10972800" cy="4832092"/>
          </a:xfrm>
          <a:prstGeom prst="rect">
            <a:avLst/>
          </a:prstGeom>
          <a:noFill/>
        </p:spPr>
        <p:txBody>
          <a:bodyPr wrap="square">
            <a:spAutoFit/>
          </a:bodyPr>
          <a:lstStyle/>
          <a:p>
            <a:pPr lvl="0">
              <a:spcAft>
                <a:spcPts val="800"/>
              </a:spcAft>
            </a:pPr>
            <a:r>
              <a:rPr sz="1300" b="1">
                <a:solidFill>
                  <a:srgbClr val="1F3759"/>
                </a:solidFill>
                <a:latin typeface="Calibri"/>
              </a:rPr>
              <a:t>•  1. Multi-Camera RTSP Stream Ingestion: </a:t>
            </a:r>
            <a:r>
              <a:rPr sz="1250" b="0">
                <a:solidFill>
                  <a:srgbClr val="334155"/>
                </a:solidFill>
                <a:latin typeface="Calibri"/>
              </a:rPr>
              <a:t>Extend pipeline to ingest and synchronize multiple concurrent camera feeds, applying site-specific homography calibration for metric velocity normalization across views.</a:t>
            </a:r>
          </a:p>
          <a:p>
            <a:pPr>
              <a:spcAft>
                <a:spcPts val="800"/>
              </a:spcAft>
            </a:pPr>
            <a:r>
              <a:rPr sz="1300" b="1">
                <a:solidFill>
                  <a:srgbClr val="1F3759"/>
                </a:solidFill>
                <a:latin typeface="Calibri"/>
              </a:rPr>
              <a:t>•  2. Interactive Web-Based Security Dispatch Console: </a:t>
            </a:r>
            <a:r>
              <a:rPr sz="1250" b="0">
                <a:solidFill>
                  <a:srgbClr val="334155"/>
                </a:solidFill>
                <a:latin typeface="Calibri"/>
              </a:rPr>
              <a:t>Develop a responsive monitoring dashboard featuring real-time crowd heatmaps, spatial compression graphs, velocity vectors, and automated alert logs.</a:t>
            </a:r>
          </a:p>
          <a:p>
            <a:pPr>
              <a:spcAft>
                <a:spcPts val="800"/>
              </a:spcAft>
            </a:pPr>
            <a:r>
              <a:rPr sz="1300" b="1">
                <a:solidFill>
                  <a:srgbClr val="1F3759"/>
                </a:solidFill>
                <a:latin typeface="Calibri"/>
              </a:rPr>
              <a:t>•  3. Hardware Turnstile Relay Interlock Testing: </a:t>
            </a:r>
            <a:r>
              <a:rPr sz="1250" b="0">
                <a:solidFill>
                  <a:srgbClr val="334155"/>
                </a:solidFill>
                <a:latin typeface="Calibri"/>
              </a:rPr>
              <a:t>Connect operational alert signals directly to access turnstiles to physically throttle incoming crowd influx during Critical hazard states.</a:t>
            </a:r>
          </a:p>
          <a:p>
            <a:pPr>
              <a:spcAft>
                <a:spcPts val="800"/>
              </a:spcAft>
            </a:pPr>
            <a:r>
              <a:rPr sz="1300" b="1">
                <a:solidFill>
                  <a:srgbClr val="1F3759"/>
                </a:solidFill>
                <a:latin typeface="Calibri"/>
              </a:rPr>
              <a:t>•  4. TensorRT Edge Embedded Optimization: </a:t>
            </a:r>
            <a:r>
              <a:rPr sz="1250" b="0">
                <a:solidFill>
                  <a:srgbClr val="334155"/>
                </a:solidFill>
                <a:latin typeface="Calibri"/>
              </a:rPr>
              <a:t>Deploy model weights using TensorRT FP16 acceleration on NVIDIA Jetson embedded hardware to target &gt; 15 FPS at 720p HD resolution.</a:t>
            </a:r>
          </a:p>
          <a:p>
            <a:pPr>
              <a:spcAft>
                <a:spcPts val="800"/>
              </a:spcAft>
            </a:pPr>
            <a:r>
              <a:rPr sz="1300" b="1">
                <a:solidFill>
                  <a:srgbClr val="1F3759"/>
                </a:solidFill>
                <a:latin typeface="Calibri"/>
              </a:rPr>
              <a:t>•  5. Comprehensive Phase II Documentation &amp; Publication: </a:t>
            </a:r>
            <a:r>
              <a:rPr sz="1250" b="0">
                <a:solidFill>
                  <a:srgbClr val="334155"/>
                </a:solidFill>
                <a:latin typeface="Calibri"/>
              </a:rPr>
              <a:t>Complete the final capstone dissertation, submit the IEEE STCR conference paper, and prepare demonstration videos for final defense.</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20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lgn="l">
              <a:defRPr sz="2500" b="1">
                <a:solidFill>
                  <a:srgbClr val="FFFFFF"/>
                </a:solidFill>
              </a:defRPr>
            </a:pPr>
            <a:r>
              <a:rPr sz="1800" b="1">
                <a:solidFill>
                  <a:srgbClr val="FFFFFF"/>
                </a:solidFill>
                <a:latin typeface="Calibri"/>
              </a:rPr>
              <a:t>20. Key References (IEEE Standard)</a:t>
            </a:r>
          </a:p>
        </p:txBody>
      </p:sp>
      <p:sp>
        <p:nvSpPr>
          <p:cNvPr id="4" name="TextBox 3"/>
          <p:cNvSpPr txBox="1"/>
          <p:nvPr/>
        </p:nvSpPr>
        <p:spPr>
          <a:xfrm>
            <a:off x="640080" y="1234440"/>
            <a:ext cx="10972800" cy="4724370"/>
          </a:xfrm>
          <a:prstGeom prst="rect">
            <a:avLst/>
          </a:prstGeom>
          <a:noFill/>
        </p:spPr>
        <p:txBody>
          <a:bodyPr wrap="square">
            <a:spAutoFit/>
          </a:bodyPr>
          <a:lstStyle/>
          <a:p>
            <a:pPr algn="just">
              <a:spcAft>
                <a:spcPts val="800"/>
              </a:spcAft>
            </a:pPr>
            <a:r>
              <a:rPr sz="1200" b="0">
                <a:solidFill>
                  <a:srgbClr val="334155"/>
                </a:solidFill>
                <a:latin typeface="Calibri"/>
              </a:rPr>
              <a:t>[1] D. Helbing and P. Mukerji, "Crowd disasters as systemic failures: Analysis of the Love Parade disaster," EPJ Data Science, vol. 1, no. 1, p. 7, 2012.</a:t>
            </a:r>
          </a:p>
          <a:p>
            <a:pPr>
              <a:spcAft>
                <a:spcPts val="800"/>
              </a:spcAft>
            </a:pPr>
            <a:r>
              <a:rPr sz="1200" b="0">
                <a:solidFill>
                  <a:srgbClr val="334155"/>
                </a:solidFill>
                <a:latin typeface="Calibri"/>
              </a:rPr>
              <a:t>[2] B. Krausz and C. Bauckhage, "Loveparade 2010: Automatic video analysis of a crowd disaster," Computer Vision and Image Understanding, vol. 116, no. 3, pp. 307-319, 2012.</a:t>
            </a:r>
          </a:p>
          <a:p>
            <a:pPr>
              <a:spcAft>
                <a:spcPts val="800"/>
              </a:spcAft>
            </a:pPr>
            <a:r>
              <a:rPr sz="1200" b="0">
                <a:solidFill>
                  <a:srgbClr val="334155"/>
                </a:solidFill>
                <a:latin typeface="Calibri"/>
              </a:rPr>
              <a:t>[3] G. Farneback, "Two-frame motion estimation based on polynomial expansion," in Proc. Scandinavian Conference on Image Analysis (SCIA), Springer, 2003, pp. 363-370.</a:t>
            </a:r>
          </a:p>
          <a:p>
            <a:pPr>
              <a:spcAft>
                <a:spcPts val="800"/>
              </a:spcAft>
            </a:pPr>
            <a:r>
              <a:rPr sz="1200" b="0">
                <a:solidFill>
                  <a:srgbClr val="334155"/>
                </a:solidFill>
                <a:latin typeface="Calibri"/>
              </a:rPr>
              <a:t>[4] J. Redmon, S. Divvala, R. Girshick, and A. Farhadi, "You only look once: Unified, real-time object detection," in Proc. IEEE CVPR, 2016, pp. 779-788.</a:t>
            </a:r>
          </a:p>
          <a:p>
            <a:pPr>
              <a:spcAft>
                <a:spcPts val="800"/>
              </a:spcAft>
            </a:pPr>
            <a:r>
              <a:rPr sz="1200" b="0">
                <a:solidFill>
                  <a:srgbClr val="334155"/>
                </a:solidFill>
                <a:latin typeface="Calibri"/>
              </a:rPr>
              <a:t>[5] A. C. Cob-Parro et al., "Stampede detector based on deep learning models using dense optical flow," Engineering Applications of Artificial Intelligence, vol. 142, p. 109940, 2025.</a:t>
            </a:r>
          </a:p>
          <a:p>
            <a:pPr>
              <a:spcAft>
                <a:spcPts val="800"/>
              </a:spcAft>
            </a:pPr>
            <a:r>
              <a:rPr sz="1200" b="0">
                <a:solidFill>
                  <a:srgbClr val="334155"/>
                </a:solidFill>
                <a:latin typeface="Calibri"/>
              </a:rPr>
              <a:t>[6] A. B. Arrieta et al., "Explainable Artificial Intelligence (XAI): Concepts, taxonomies, opportunities and challenges," Information Fusion, vol. 58, pp. 82-115, 2020.</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107</TotalTime>
  <Words>2246</Words>
  <Application>Microsoft Office PowerPoint</Application>
  <PresentationFormat>Widescreen</PresentationFormat>
  <Paragraphs>270</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Aakash leo</cp:lastModifiedBy>
  <cp:revision>4</cp:revision>
  <dcterms:created xsi:type="dcterms:W3CDTF">2013-01-27T09:14:16Z</dcterms:created>
  <dcterms:modified xsi:type="dcterms:W3CDTF">2026-08-19T16:37:42Z</dcterms:modified>
  <cp:category/>
</cp:coreProperties>
</file>