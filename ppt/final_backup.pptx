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80" r:id="rId5"/>
    <p:sldId id="281" r:id="rId6"/>
    <p:sldId id="282" r:id="rId7"/>
    <p:sldId id="259" r:id="rId8"/>
    <p:sldId id="260" r:id="rId9"/>
    <p:sldId id="261" r:id="rId10"/>
    <p:sldId id="262" r:id="rId11"/>
    <p:sldId id="277" r:id="rId12"/>
    <p:sldId id="264" r:id="rId13"/>
    <p:sldId id="265" r:id="rId14"/>
    <p:sldId id="266" r:id="rId15"/>
    <p:sldId id="267" r:id="rId16"/>
    <p:sldId id="268" r:id="rId17"/>
    <p:sldId id="269" r:id="rId18"/>
    <p:sldId id="270" r:id="rId19"/>
    <p:sldId id="271" r:id="rId20"/>
    <p:sldId id="272" r:id="rId21"/>
    <p:sldId id="273" r:id="rId22"/>
    <p:sldId id="278" r:id="rId23"/>
    <p:sldId id="275" r:id="rId24"/>
    <p:sldId id="276"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94660"/>
  </p:normalViewPr>
  <p:slideViewPr>
    <p:cSldViewPr snapToGrid="0" snapToObjects="1">
      <p:cViewPr>
        <p:scale>
          <a:sx n="66" d="100"/>
          <a:sy n="66" d="100"/>
        </p:scale>
        <p:origin x="2232" y="10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085841" y="1417320"/>
            <a:ext cx="5989845" cy="1077218"/>
          </a:xfrm>
          <a:prstGeom prst="rect">
            <a:avLst/>
          </a:prstGeom>
          <a:noFill/>
        </p:spPr>
        <p:txBody>
          <a:bodyPr wrap="none">
            <a:spAutoFit/>
          </a:bodyPr>
          <a:lstStyle/>
          <a:p>
            <a:pPr algn="ctr">
              <a:defRPr sz="3400" b="1">
                <a:solidFill>
                  <a:srgbClr val="FFFFFF"/>
                </a:solidFill>
              </a:defRPr>
            </a:pPr>
            <a:r>
              <a:rPr lang="en-IN" dirty="0"/>
              <a:t>B23CSP702 Project work Phase I</a:t>
            </a:r>
            <a:endParaRPr dirty="0"/>
          </a:p>
          <a:p>
            <a:pPr algn="ctr">
              <a:defRPr sz="3000" b="1">
                <a:solidFill>
                  <a:srgbClr val="AAD2F5"/>
                </a:solidFill>
              </a:defRPr>
            </a:pPr>
            <a:r>
              <a:rPr dirty="0"/>
              <a:t>FIRST REVIEW</a:t>
            </a:r>
          </a:p>
        </p:txBody>
      </p:sp>
      <p:sp>
        <p:nvSpPr>
          <p:cNvPr id="4" name="TextBox 3"/>
          <p:cNvSpPr txBox="1"/>
          <p:nvPr/>
        </p:nvSpPr>
        <p:spPr>
          <a:xfrm>
            <a:off x="3034383" y="3246120"/>
            <a:ext cx="6184193" cy="846386"/>
          </a:xfrm>
          <a:prstGeom prst="rect">
            <a:avLst/>
          </a:prstGeom>
          <a:noFill/>
        </p:spPr>
        <p:txBody>
          <a:bodyPr wrap="none">
            <a:spAutoFit/>
          </a:bodyPr>
          <a:lstStyle/>
          <a:p>
            <a:pPr algn="ctr">
              <a:defRPr sz="1700">
                <a:solidFill>
                  <a:srgbClr val="FFFFFF"/>
                </a:solidFill>
              </a:defRPr>
            </a:pPr>
            <a:r>
              <a:rPr dirty="0">
                <a:latin typeface="Arial Black" panose="020B0A04020102020204" pitchFamily="34" charset="0"/>
              </a:rPr>
              <a:t>Department of Computer Science and Engineering</a:t>
            </a:r>
          </a:p>
          <a:p>
            <a:pPr algn="ctr">
              <a:defRPr sz="1500">
                <a:solidFill>
                  <a:srgbClr val="FFFFFF"/>
                </a:solidFill>
              </a:defRPr>
            </a:pPr>
            <a:r>
              <a:rPr sz="1600" dirty="0">
                <a:latin typeface="Arial Black" panose="020B0A04020102020204" pitchFamily="34" charset="0"/>
              </a:rPr>
              <a:t>KIT – </a:t>
            </a:r>
            <a:r>
              <a:rPr sz="1600" dirty="0" err="1">
                <a:latin typeface="Arial Black" panose="020B0A04020102020204" pitchFamily="34" charset="0"/>
              </a:rPr>
              <a:t>Kalaignarkarunanidhi</a:t>
            </a:r>
            <a:r>
              <a:rPr sz="1600" dirty="0">
                <a:latin typeface="Arial Black" panose="020B0A04020102020204" pitchFamily="34" charset="0"/>
              </a:rPr>
              <a:t> Institute of Technology</a:t>
            </a:r>
            <a:r>
              <a:rPr lang="en-IN" sz="1600" dirty="0">
                <a:latin typeface="Arial Black" panose="020B0A04020102020204" pitchFamily="34" charset="0"/>
              </a:rPr>
              <a:t>|</a:t>
            </a:r>
            <a:r>
              <a:rPr sz="1600" dirty="0">
                <a:latin typeface="Arial Black" panose="020B0A04020102020204" pitchFamily="34" charset="0"/>
              </a:rPr>
              <a:t> </a:t>
            </a:r>
            <a:endParaRPr lang="en-IN" sz="1600" dirty="0">
              <a:latin typeface="Arial Black" panose="020B0A04020102020204" pitchFamily="34" charset="0"/>
            </a:endParaRPr>
          </a:p>
          <a:p>
            <a:pPr algn="ctr">
              <a:defRPr sz="1500">
                <a:solidFill>
                  <a:srgbClr val="FFFFFF"/>
                </a:solidFill>
              </a:defRPr>
            </a:pPr>
            <a:r>
              <a:rPr sz="1600" dirty="0">
                <a:latin typeface="Arial Black" panose="020B0A04020102020204" pitchFamily="34" charset="0"/>
              </a:rPr>
              <a:t>Academic Year 2026–2027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defRPr sz="2500" b="1">
                <a:solidFill>
                  <a:srgbClr val="FFFFFF"/>
                </a:solidFill>
              </a:defRPr>
            </a:pPr>
            <a:r>
              <a:t>1. Cover Slide</a:t>
            </a:r>
          </a:p>
        </p:txBody>
      </p:sp>
      <p:sp>
        <p:nvSpPr>
          <p:cNvPr id="4" name="TextBox 3"/>
          <p:cNvSpPr txBox="1"/>
          <p:nvPr/>
        </p:nvSpPr>
        <p:spPr>
          <a:xfrm>
            <a:off x="609447" y="1259175"/>
            <a:ext cx="10972800" cy="3808735"/>
          </a:xfrm>
          <a:prstGeom prst="rect">
            <a:avLst/>
          </a:prstGeom>
          <a:noFill/>
        </p:spPr>
        <p:txBody>
          <a:bodyPr wrap="square">
            <a:spAutoFit/>
          </a:bodyPr>
          <a:lstStyle/>
          <a:p>
            <a:pPr>
              <a:spcAft>
                <a:spcPts val="900"/>
              </a:spcAft>
              <a:defRPr sz="2100" b="0">
                <a:solidFill>
                  <a:srgbClr val="282828"/>
                </a:solidFill>
              </a:defRPr>
            </a:pPr>
            <a:r>
              <a:rPr dirty="0"/>
              <a:t>Project Title</a:t>
            </a:r>
            <a:r>
              <a:rPr lang="en-US" dirty="0"/>
              <a:t> </a:t>
            </a:r>
            <a:r>
              <a:rPr lang="en-IN" i="1" dirty="0" err="1"/>
              <a:t>CrowdSentinel</a:t>
            </a:r>
            <a:r>
              <a:rPr lang="en-IN" i="1" dirty="0"/>
              <a:t>: AI-Powered Early Detection of Crowd Congestion and Stampede Events</a:t>
            </a:r>
            <a:endParaRPr dirty="0"/>
          </a:p>
          <a:p>
            <a:pPr>
              <a:spcAft>
                <a:spcPts val="900"/>
              </a:spcAft>
              <a:defRPr sz="2100" b="0">
                <a:solidFill>
                  <a:srgbClr val="282828"/>
                </a:solidFill>
              </a:defRPr>
            </a:pPr>
            <a:r>
              <a:rPr dirty="0"/>
              <a:t>Team Members </a:t>
            </a:r>
            <a:r>
              <a:rPr lang="en-US" dirty="0"/>
              <a:t>:</a:t>
            </a:r>
          </a:p>
          <a:p>
            <a:pPr>
              <a:spcAft>
                <a:spcPts val="900"/>
              </a:spcAft>
              <a:defRPr sz="2100" b="0">
                <a:solidFill>
                  <a:srgbClr val="282828"/>
                </a:solidFill>
              </a:defRPr>
            </a:pPr>
            <a:r>
              <a:rPr lang="en-US" dirty="0"/>
              <a:t>			Aakash M – 711523BCS001</a:t>
            </a:r>
          </a:p>
          <a:p>
            <a:pPr>
              <a:spcAft>
                <a:spcPts val="900"/>
              </a:spcAft>
              <a:defRPr sz="2100" b="0">
                <a:solidFill>
                  <a:srgbClr val="282828"/>
                </a:solidFill>
              </a:defRPr>
            </a:pPr>
            <a:r>
              <a:rPr lang="en-US" dirty="0"/>
              <a:t>			Hema Dharshana S J – 711523BCS021</a:t>
            </a:r>
          </a:p>
          <a:p>
            <a:pPr>
              <a:spcAft>
                <a:spcPts val="900"/>
              </a:spcAft>
              <a:defRPr sz="2100" b="0">
                <a:solidFill>
                  <a:srgbClr val="282828"/>
                </a:solidFill>
              </a:defRPr>
            </a:pPr>
            <a:r>
              <a:rPr lang="en-US" dirty="0"/>
              <a:t>			Santhosh Kumar R  - 711523BCS049</a:t>
            </a:r>
            <a:endParaRPr dirty="0"/>
          </a:p>
          <a:p>
            <a:pPr>
              <a:spcAft>
                <a:spcPts val="900"/>
              </a:spcAft>
              <a:defRPr sz="2100" b="0">
                <a:solidFill>
                  <a:srgbClr val="282828"/>
                </a:solidFill>
              </a:defRPr>
            </a:pPr>
            <a:r>
              <a:rPr dirty="0"/>
              <a:t>Guide Name &amp; Designation</a:t>
            </a:r>
            <a:r>
              <a:rPr lang="en-US" dirty="0"/>
              <a:t> :</a:t>
            </a:r>
            <a:br>
              <a:rPr lang="en-US" dirty="0"/>
            </a:br>
            <a:r>
              <a:rPr lang="en-US" dirty="0"/>
              <a:t>			</a:t>
            </a:r>
            <a:r>
              <a:rPr lang="en-US" dirty="0" err="1"/>
              <a:t>Mr</a:t>
            </a:r>
            <a:r>
              <a:rPr lang="en-US" dirty="0"/>
              <a:t> </a:t>
            </a:r>
            <a:r>
              <a:rPr lang="en-US" dirty="0" err="1"/>
              <a:t>MugeshKumar</a:t>
            </a:r>
            <a:r>
              <a:rPr lang="en-US" dirty="0"/>
              <a:t> S</a:t>
            </a:r>
            <a:endParaRPr dirty="0"/>
          </a:p>
          <a:p>
            <a:pPr>
              <a:spcAft>
                <a:spcPts val="900"/>
              </a:spcAft>
              <a:defRPr sz="2100" b="0">
                <a:solidFill>
                  <a:srgbClr val="282828"/>
                </a:solidFill>
              </a:defRPr>
            </a:pPr>
            <a:r>
              <a:rPr dirty="0"/>
              <a:t>Department of CSE</a:t>
            </a:r>
          </a:p>
          <a:p>
            <a:pPr>
              <a:spcAft>
                <a:spcPts val="900"/>
              </a:spcAft>
              <a:defRPr sz="2100" b="0">
                <a:solidFill>
                  <a:srgbClr val="282828"/>
                </a:solidFill>
              </a:defRPr>
            </a:pPr>
            <a:r>
              <a:rPr dirty="0"/>
              <a:t>Academic Year: 2026–2027</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defRPr sz="2500" b="1">
                <a:solidFill>
                  <a:srgbClr val="FFFFFF"/>
                </a:solidFill>
              </a:defRPr>
            </a:pPr>
            <a:r>
              <a:rPr dirty="0"/>
              <a:t>2. Introduction</a:t>
            </a:r>
          </a:p>
        </p:txBody>
      </p:sp>
      <p:sp>
        <p:nvSpPr>
          <p:cNvPr id="4" name="TextBox 3"/>
          <p:cNvSpPr txBox="1"/>
          <p:nvPr/>
        </p:nvSpPr>
        <p:spPr>
          <a:xfrm>
            <a:off x="411480" y="1148176"/>
            <a:ext cx="10972800" cy="584775"/>
          </a:xfrm>
          <a:prstGeom prst="rect">
            <a:avLst/>
          </a:prstGeom>
          <a:noFill/>
        </p:spPr>
        <p:txBody>
          <a:bodyPr wrap="square">
            <a:spAutoFit/>
          </a:bodyPr>
          <a:lstStyle/>
          <a:p>
            <a:pPr lvl="0"/>
            <a:r>
              <a:rPr sz="3200" b="1" dirty="0"/>
              <a:t>Project background and context</a:t>
            </a:r>
            <a:r>
              <a:rPr lang="en-US" sz="3200" b="1" dirty="0"/>
              <a:t> </a:t>
            </a:r>
            <a:endParaRPr sz="3200" b="1" dirty="0"/>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3</a:t>
            </a:r>
          </a:p>
        </p:txBody>
      </p:sp>
      <p:sp>
        <p:nvSpPr>
          <p:cNvPr id="7" name="TextBox 6">
            <a:extLst>
              <a:ext uri="{FF2B5EF4-FFF2-40B4-BE49-F238E27FC236}">
                <a16:creationId xmlns:a16="http://schemas.microsoft.com/office/drawing/2014/main" id="{984ACAE4-DF3A-CB90-0C21-FFA4CA699DEA}"/>
              </a:ext>
            </a:extLst>
          </p:cNvPr>
          <p:cNvSpPr txBox="1"/>
          <p:nvPr/>
        </p:nvSpPr>
        <p:spPr>
          <a:xfrm>
            <a:off x="940278" y="1889185"/>
            <a:ext cx="8738559" cy="3108543"/>
          </a:xfrm>
          <a:prstGeom prst="rect">
            <a:avLst/>
          </a:prstGeom>
          <a:noFill/>
        </p:spPr>
        <p:txBody>
          <a:bodyPr wrap="square">
            <a:spAutoFit/>
          </a:bodyPr>
          <a:lstStyle/>
          <a:p>
            <a:pPr marL="342900" lvl="0" indent="-342900">
              <a:buFont typeface="Arial" panose="020B0604020202020204" pitchFamily="34" charset="0"/>
              <a:buChar char="•"/>
            </a:pPr>
            <a:r>
              <a:rPr lang="en-IN" sz="2800" dirty="0"/>
              <a:t>Large gatherings can become unsafe when too many people are present in a small area.</a:t>
            </a:r>
          </a:p>
          <a:p>
            <a:pPr marL="342900" lvl="0" indent="-342900">
              <a:buFont typeface="Arial" panose="020B0604020202020204" pitchFamily="34" charset="0"/>
              <a:buChar char="•"/>
            </a:pPr>
            <a:r>
              <a:rPr lang="en-IN" sz="2800" dirty="0"/>
              <a:t>Sudden crowd movement can quickly create dangerous situations.</a:t>
            </a:r>
          </a:p>
          <a:p>
            <a:pPr marL="342900" lvl="0" indent="-342900">
              <a:buFont typeface="Arial" panose="020B0604020202020204" pitchFamily="34" charset="0"/>
              <a:buChar char="•"/>
            </a:pPr>
            <a:r>
              <a:rPr lang="en-IN" sz="2800" dirty="0"/>
              <a:t>CCTV cameras are commonly used to monitor crowded places.</a:t>
            </a:r>
          </a:p>
          <a:p>
            <a:pPr marL="342900" lvl="0" indent="-342900">
              <a:buFont typeface="Arial" panose="020B0604020202020204" pitchFamily="34" charset="0"/>
              <a:buChar char="•"/>
            </a:pPr>
            <a:r>
              <a:rPr lang="en-IN" sz="2800" dirty="0"/>
              <a:t>AI can help </a:t>
            </a:r>
            <a:r>
              <a:rPr lang="en-IN" sz="2800" dirty="0" err="1"/>
              <a:t>analyze</a:t>
            </a:r>
            <a:r>
              <a:rPr lang="en-IN" sz="2800" dirty="0"/>
              <a:t> crowd conditions continuously.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CD3F0F-4DAB-B29F-6828-6927EF57FEE0}"/>
              </a:ext>
            </a:extLst>
          </p:cNvPr>
          <p:cNvSpPr txBox="1"/>
          <p:nvPr/>
        </p:nvSpPr>
        <p:spPr>
          <a:xfrm>
            <a:off x="675015" y="1004263"/>
            <a:ext cx="6094562" cy="584775"/>
          </a:xfrm>
          <a:prstGeom prst="rect">
            <a:avLst/>
          </a:prstGeom>
          <a:noFill/>
        </p:spPr>
        <p:txBody>
          <a:bodyPr wrap="square">
            <a:spAutoFit/>
          </a:bodyPr>
          <a:lstStyle/>
          <a:p>
            <a:pPr>
              <a:spcAft>
                <a:spcPts val="900"/>
              </a:spcAft>
              <a:defRPr sz="2100" b="0">
                <a:solidFill>
                  <a:srgbClr val="282828"/>
                </a:solidFill>
              </a:defRPr>
            </a:pPr>
            <a:r>
              <a:rPr lang="en-IN" sz="3200" b="1" dirty="0"/>
              <a:t>Problem area and motivation</a:t>
            </a:r>
          </a:p>
        </p:txBody>
      </p:sp>
      <p:sp>
        <p:nvSpPr>
          <p:cNvPr id="5" name="TextBox 4">
            <a:extLst>
              <a:ext uri="{FF2B5EF4-FFF2-40B4-BE49-F238E27FC236}">
                <a16:creationId xmlns:a16="http://schemas.microsoft.com/office/drawing/2014/main" id="{BC52E5A1-C1CE-A825-627C-29D1F44EC29F}"/>
              </a:ext>
            </a:extLst>
          </p:cNvPr>
          <p:cNvSpPr txBox="1"/>
          <p:nvPr/>
        </p:nvSpPr>
        <p:spPr>
          <a:xfrm>
            <a:off x="931653" y="2090172"/>
            <a:ext cx="9273395" cy="2677656"/>
          </a:xfrm>
          <a:prstGeom prst="rect">
            <a:avLst/>
          </a:prstGeom>
          <a:noFill/>
        </p:spPr>
        <p:txBody>
          <a:bodyPr wrap="square">
            <a:spAutoFit/>
          </a:bodyPr>
          <a:lstStyle/>
          <a:p>
            <a:pPr marL="342900" lvl="0" indent="-342900">
              <a:buFont typeface="Arial" panose="020B0604020202020204" pitchFamily="34" charset="0"/>
              <a:buChar char="•"/>
            </a:pPr>
            <a:r>
              <a:rPr lang="en-IN" sz="2800" dirty="0"/>
              <a:t>Monitoring large crowds manually through CCTV is difficult. </a:t>
            </a:r>
          </a:p>
          <a:p>
            <a:pPr marL="342900" lvl="0" indent="-342900">
              <a:buFont typeface="Arial" panose="020B0604020202020204" pitchFamily="34" charset="0"/>
              <a:buChar char="•"/>
            </a:pPr>
            <a:r>
              <a:rPr lang="en-IN" sz="2800" dirty="0"/>
              <a:t>Sudden changes in crowd density and movement can be missed. </a:t>
            </a:r>
          </a:p>
          <a:p>
            <a:pPr marL="342900" lvl="0" indent="-342900">
              <a:buFont typeface="Arial" panose="020B0604020202020204" pitchFamily="34" charset="0"/>
              <a:buChar char="•"/>
            </a:pPr>
            <a:r>
              <a:rPr lang="en-IN" sz="2800" dirty="0"/>
              <a:t>Dangerous crowd situations can develop within a short time. </a:t>
            </a:r>
          </a:p>
          <a:p>
            <a:pPr marL="342900" lvl="0" indent="-342900">
              <a:buFont typeface="Arial" panose="020B0604020202020204" pitchFamily="34" charset="0"/>
              <a:buChar char="•"/>
            </a:pPr>
            <a:r>
              <a:rPr lang="en-IN" sz="2800" dirty="0"/>
              <a:t>This motivates us to build an AI system for early risk detection. </a:t>
            </a:r>
          </a:p>
        </p:txBody>
      </p:sp>
      <p:sp>
        <p:nvSpPr>
          <p:cNvPr id="7" name="Rectangle 6">
            <a:extLst>
              <a:ext uri="{FF2B5EF4-FFF2-40B4-BE49-F238E27FC236}">
                <a16:creationId xmlns:a16="http://schemas.microsoft.com/office/drawing/2014/main" id="{5B42CCE6-52E4-A6D9-38AC-03BD026AB7F8}"/>
              </a:ext>
            </a:extLst>
          </p:cNvPr>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C0C3BA60-B033-7A8D-9E4B-74E6F468ED4F}"/>
              </a:ext>
            </a:extLst>
          </p:cNvPr>
          <p:cNvSpPr txBox="1"/>
          <p:nvPr/>
        </p:nvSpPr>
        <p:spPr>
          <a:xfrm>
            <a:off x="411480" y="109728"/>
            <a:ext cx="11247120" cy="365760"/>
          </a:xfrm>
          <a:prstGeom prst="rect">
            <a:avLst/>
          </a:prstGeom>
          <a:noFill/>
        </p:spPr>
        <p:txBody>
          <a:bodyPr wrap="none">
            <a:spAutoFit/>
          </a:bodyPr>
          <a:lstStyle/>
          <a:p>
            <a:pPr>
              <a:defRPr sz="2500" b="1">
                <a:solidFill>
                  <a:srgbClr val="FFFFFF"/>
                </a:solidFill>
              </a:defRPr>
            </a:pPr>
            <a:r>
              <a:rPr dirty="0"/>
              <a:t>2. Introduction</a:t>
            </a:r>
          </a:p>
        </p:txBody>
      </p:sp>
    </p:spTree>
    <p:extLst>
      <p:ext uri="{BB962C8B-B14F-4D97-AF65-F5344CB8AC3E}">
        <p14:creationId xmlns:p14="http://schemas.microsoft.com/office/powerpoint/2010/main" val="694963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3237D4-2D95-2CDF-EEDF-0040357CCA3E}"/>
              </a:ext>
            </a:extLst>
          </p:cNvPr>
          <p:cNvSpPr txBox="1"/>
          <p:nvPr/>
        </p:nvSpPr>
        <p:spPr>
          <a:xfrm>
            <a:off x="838918" y="953414"/>
            <a:ext cx="6094562" cy="584775"/>
          </a:xfrm>
          <a:prstGeom prst="rect">
            <a:avLst/>
          </a:prstGeom>
          <a:noFill/>
        </p:spPr>
        <p:txBody>
          <a:bodyPr wrap="square">
            <a:spAutoFit/>
          </a:bodyPr>
          <a:lstStyle/>
          <a:p>
            <a:pPr>
              <a:spcAft>
                <a:spcPts val="900"/>
              </a:spcAft>
              <a:defRPr sz="2100" b="0">
                <a:solidFill>
                  <a:srgbClr val="282828"/>
                </a:solidFill>
              </a:defRPr>
            </a:pPr>
            <a:r>
              <a:rPr lang="en-US" sz="3200" b="1" dirty="0"/>
              <a:t>Why the project is needed</a:t>
            </a:r>
          </a:p>
        </p:txBody>
      </p:sp>
      <p:sp>
        <p:nvSpPr>
          <p:cNvPr id="5" name="TextBox 4">
            <a:extLst>
              <a:ext uri="{FF2B5EF4-FFF2-40B4-BE49-F238E27FC236}">
                <a16:creationId xmlns:a16="http://schemas.microsoft.com/office/drawing/2014/main" id="{7D9FB70D-D846-1FB5-1D7F-A61FEA0209B0}"/>
              </a:ext>
            </a:extLst>
          </p:cNvPr>
          <p:cNvSpPr txBox="1"/>
          <p:nvPr/>
        </p:nvSpPr>
        <p:spPr>
          <a:xfrm>
            <a:off x="1138685" y="2090172"/>
            <a:ext cx="10118785" cy="2677656"/>
          </a:xfrm>
          <a:prstGeom prst="rect">
            <a:avLst/>
          </a:prstGeom>
          <a:noFill/>
        </p:spPr>
        <p:txBody>
          <a:bodyPr wrap="square">
            <a:spAutoFit/>
          </a:bodyPr>
          <a:lstStyle/>
          <a:p>
            <a:pPr marL="342900" lvl="0" indent="-342900">
              <a:buFont typeface="Arial" panose="020B0604020202020204" pitchFamily="34" charset="0"/>
              <a:buChar char="•"/>
            </a:pPr>
            <a:r>
              <a:rPr lang="en-IN" sz="2800" dirty="0"/>
              <a:t>Early detection can help reduce the risk of crowd-related accidents. </a:t>
            </a:r>
          </a:p>
          <a:p>
            <a:pPr marL="342900" lvl="0" indent="-342900">
              <a:buFont typeface="Arial" panose="020B0604020202020204" pitchFamily="34" charset="0"/>
              <a:buChar char="•"/>
            </a:pPr>
            <a:r>
              <a:rPr lang="en-IN" sz="2800" dirty="0"/>
              <a:t>Continuous monitoring can identify dangerous crowd conditions faster. </a:t>
            </a:r>
          </a:p>
          <a:p>
            <a:pPr marL="342900" lvl="0" indent="-342900">
              <a:buFont typeface="Arial" panose="020B0604020202020204" pitchFamily="34" charset="0"/>
              <a:buChar char="•"/>
            </a:pPr>
            <a:r>
              <a:rPr lang="en-IN" sz="2800" dirty="0"/>
              <a:t>Automated alerts can help authorities respond at the right time. </a:t>
            </a:r>
          </a:p>
          <a:p>
            <a:pPr marL="342900" lvl="0" indent="-342900">
              <a:buFont typeface="Arial" panose="020B0604020202020204" pitchFamily="34" charset="0"/>
              <a:buChar char="•"/>
            </a:pPr>
            <a:r>
              <a:rPr lang="en-IN" sz="2800" dirty="0"/>
              <a:t>The system can improve safety in large public gatherings.</a:t>
            </a:r>
          </a:p>
        </p:txBody>
      </p:sp>
      <p:sp>
        <p:nvSpPr>
          <p:cNvPr id="7" name="TextBox 6">
            <a:extLst>
              <a:ext uri="{FF2B5EF4-FFF2-40B4-BE49-F238E27FC236}">
                <a16:creationId xmlns:a16="http://schemas.microsoft.com/office/drawing/2014/main" id="{CBEF1847-EA56-634D-EFD1-8C4E976DDA99}"/>
              </a:ext>
            </a:extLst>
          </p:cNvPr>
          <p:cNvSpPr txBox="1"/>
          <p:nvPr/>
        </p:nvSpPr>
        <p:spPr>
          <a:xfrm>
            <a:off x="411480" y="109728"/>
            <a:ext cx="11247120" cy="365760"/>
          </a:xfrm>
          <a:prstGeom prst="rect">
            <a:avLst/>
          </a:prstGeom>
          <a:noFill/>
        </p:spPr>
        <p:txBody>
          <a:bodyPr wrap="none">
            <a:spAutoFit/>
          </a:bodyPr>
          <a:lstStyle/>
          <a:p>
            <a:pPr>
              <a:defRPr sz="2500" b="1">
                <a:solidFill>
                  <a:srgbClr val="FFFFFF"/>
                </a:solidFill>
              </a:defRPr>
            </a:pPr>
            <a:r>
              <a:rPr dirty="0"/>
              <a:t>2. Introduction</a:t>
            </a:r>
          </a:p>
        </p:txBody>
      </p:sp>
      <p:sp>
        <p:nvSpPr>
          <p:cNvPr id="9" name="Rectangle 8">
            <a:extLst>
              <a:ext uri="{FF2B5EF4-FFF2-40B4-BE49-F238E27FC236}">
                <a16:creationId xmlns:a16="http://schemas.microsoft.com/office/drawing/2014/main" id="{F0510C2C-81D6-3791-6EEB-5E67DCA3A07A}"/>
              </a:ext>
            </a:extLst>
          </p:cNvPr>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9B630E8D-8C28-9C31-D251-F082C38AAE7A}"/>
              </a:ext>
            </a:extLst>
          </p:cNvPr>
          <p:cNvSpPr txBox="1"/>
          <p:nvPr/>
        </p:nvSpPr>
        <p:spPr>
          <a:xfrm>
            <a:off x="411480" y="117664"/>
            <a:ext cx="11247120" cy="365760"/>
          </a:xfrm>
          <a:prstGeom prst="rect">
            <a:avLst/>
          </a:prstGeom>
          <a:noFill/>
        </p:spPr>
        <p:txBody>
          <a:bodyPr wrap="none">
            <a:spAutoFit/>
          </a:bodyPr>
          <a:lstStyle/>
          <a:p>
            <a:pPr>
              <a:defRPr sz="2500" b="1">
                <a:solidFill>
                  <a:srgbClr val="FFFFFF"/>
                </a:solidFill>
              </a:defRPr>
            </a:pPr>
            <a:r>
              <a:rPr dirty="0"/>
              <a:t>2. Introduction</a:t>
            </a:r>
          </a:p>
        </p:txBody>
      </p:sp>
    </p:spTree>
    <p:extLst>
      <p:ext uri="{BB962C8B-B14F-4D97-AF65-F5344CB8AC3E}">
        <p14:creationId xmlns:p14="http://schemas.microsoft.com/office/powerpoint/2010/main" val="2400091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AF5907-F7AB-F133-1A06-F580CC3A25F4}"/>
              </a:ext>
            </a:extLst>
          </p:cNvPr>
          <p:cNvSpPr txBox="1"/>
          <p:nvPr/>
        </p:nvSpPr>
        <p:spPr>
          <a:xfrm>
            <a:off x="830292" y="1081900"/>
            <a:ext cx="6094562" cy="584775"/>
          </a:xfrm>
          <a:prstGeom prst="rect">
            <a:avLst/>
          </a:prstGeom>
          <a:noFill/>
        </p:spPr>
        <p:txBody>
          <a:bodyPr wrap="square">
            <a:spAutoFit/>
          </a:bodyPr>
          <a:lstStyle/>
          <a:p>
            <a:pPr>
              <a:spcAft>
                <a:spcPts val="900"/>
              </a:spcAft>
              <a:defRPr sz="2100" b="0">
                <a:solidFill>
                  <a:srgbClr val="282828"/>
                </a:solidFill>
              </a:defRPr>
            </a:pPr>
            <a:r>
              <a:rPr lang="en-US" sz="3200" b="1" dirty="0"/>
              <a:t>Application/domain of the project</a:t>
            </a:r>
          </a:p>
        </p:txBody>
      </p:sp>
      <p:sp>
        <p:nvSpPr>
          <p:cNvPr id="5" name="TextBox 4">
            <a:extLst>
              <a:ext uri="{FF2B5EF4-FFF2-40B4-BE49-F238E27FC236}">
                <a16:creationId xmlns:a16="http://schemas.microsoft.com/office/drawing/2014/main" id="{A6AA37AE-E078-6899-FB04-4A331A2BC283}"/>
              </a:ext>
            </a:extLst>
          </p:cNvPr>
          <p:cNvSpPr txBox="1"/>
          <p:nvPr/>
        </p:nvSpPr>
        <p:spPr>
          <a:xfrm>
            <a:off x="2018581" y="2259493"/>
            <a:ext cx="7942771" cy="1815882"/>
          </a:xfrm>
          <a:prstGeom prst="rect">
            <a:avLst/>
          </a:prstGeom>
          <a:noFill/>
        </p:spPr>
        <p:txBody>
          <a:bodyPr wrap="square">
            <a:spAutoFit/>
          </a:bodyPr>
          <a:lstStyle/>
          <a:p>
            <a:pPr marL="342900" lvl="0" indent="-342900">
              <a:buFont typeface="Arial" panose="020B0604020202020204" pitchFamily="34" charset="0"/>
              <a:buChar char="•"/>
            </a:pPr>
            <a:r>
              <a:rPr lang="en-IN" sz="2800" dirty="0"/>
              <a:t>Artificial Intelligence and Machine Learning </a:t>
            </a:r>
          </a:p>
          <a:p>
            <a:pPr marL="342900" lvl="0" indent="-342900">
              <a:buFont typeface="Arial" panose="020B0604020202020204" pitchFamily="34" charset="0"/>
              <a:buChar char="•"/>
            </a:pPr>
            <a:r>
              <a:rPr lang="en-IN" sz="2800" dirty="0"/>
              <a:t>Computer Vision and Video Analysis </a:t>
            </a:r>
          </a:p>
          <a:p>
            <a:pPr marL="342900" lvl="0" indent="-342900">
              <a:buFont typeface="Arial" panose="020B0604020202020204" pitchFamily="34" charset="0"/>
              <a:buChar char="•"/>
            </a:pPr>
            <a:r>
              <a:rPr lang="en-IN" sz="2800" dirty="0"/>
              <a:t>Crowd Management and Public Safety </a:t>
            </a:r>
          </a:p>
          <a:p>
            <a:pPr marL="342900" lvl="0" indent="-342900">
              <a:buFont typeface="Arial" panose="020B0604020202020204" pitchFamily="34" charset="0"/>
              <a:buChar char="•"/>
            </a:pPr>
            <a:r>
              <a:rPr lang="en-IN" sz="2800" dirty="0"/>
              <a:t>CCTV-Based Emergency Monitoring</a:t>
            </a:r>
          </a:p>
        </p:txBody>
      </p:sp>
      <p:sp>
        <p:nvSpPr>
          <p:cNvPr id="7" name="Rectangle 6">
            <a:extLst>
              <a:ext uri="{FF2B5EF4-FFF2-40B4-BE49-F238E27FC236}">
                <a16:creationId xmlns:a16="http://schemas.microsoft.com/office/drawing/2014/main" id="{9CA8C1D4-9F9C-98F7-D390-CE6E809113F8}"/>
              </a:ext>
            </a:extLst>
          </p:cNvPr>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DA88BDA5-349F-7031-A9F2-AB03F7E6326C}"/>
              </a:ext>
            </a:extLst>
          </p:cNvPr>
          <p:cNvSpPr txBox="1"/>
          <p:nvPr/>
        </p:nvSpPr>
        <p:spPr>
          <a:xfrm>
            <a:off x="411480" y="109728"/>
            <a:ext cx="11247120" cy="365760"/>
          </a:xfrm>
          <a:prstGeom prst="rect">
            <a:avLst/>
          </a:prstGeom>
          <a:noFill/>
        </p:spPr>
        <p:txBody>
          <a:bodyPr wrap="none">
            <a:spAutoFit/>
          </a:bodyPr>
          <a:lstStyle/>
          <a:p>
            <a:pPr>
              <a:defRPr sz="2500" b="1">
                <a:solidFill>
                  <a:srgbClr val="FFFFFF"/>
                </a:solidFill>
              </a:defRPr>
            </a:pPr>
            <a:r>
              <a:rPr dirty="0"/>
              <a:t>2. Introduction</a:t>
            </a:r>
          </a:p>
        </p:txBody>
      </p:sp>
    </p:spTree>
    <p:extLst>
      <p:ext uri="{BB962C8B-B14F-4D97-AF65-F5344CB8AC3E}">
        <p14:creationId xmlns:p14="http://schemas.microsoft.com/office/powerpoint/2010/main" val="2828661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defRPr sz="2500" b="1">
                <a:solidFill>
                  <a:srgbClr val="FFFFFF"/>
                </a:solidFill>
              </a:defRPr>
            </a:pPr>
            <a:r>
              <a:t>3. Problem Statement</a:t>
            </a:r>
          </a:p>
        </p:txBody>
      </p:sp>
      <p:sp>
        <p:nvSpPr>
          <p:cNvPr id="4" name="TextBox 3"/>
          <p:cNvSpPr txBox="1"/>
          <p:nvPr/>
        </p:nvSpPr>
        <p:spPr>
          <a:xfrm>
            <a:off x="731520" y="1174055"/>
            <a:ext cx="10972800" cy="4832092"/>
          </a:xfrm>
          <a:prstGeom prst="rect">
            <a:avLst/>
          </a:prstGeom>
          <a:noFill/>
        </p:spPr>
        <p:txBody>
          <a:bodyPr wrap="square">
            <a:spAutoFit/>
          </a:bodyPr>
          <a:lstStyle/>
          <a:p>
            <a:pPr algn="just">
              <a:spcAft>
                <a:spcPts val="900"/>
              </a:spcAft>
              <a:defRPr sz="2100" b="0">
                <a:solidFill>
                  <a:srgbClr val="282828"/>
                </a:solidFill>
              </a:defRPr>
            </a:pPr>
            <a:r>
              <a:rPr lang="en-IN" sz="2800" dirty="0"/>
              <a:t>Large crowds in places such as stadiums, railway stations, concerts, and public gatherings can become dangerous when crowd density increases or people suddenly change their movement. Existing CCTV monitoring mainly depends on human observation, which makes it difficult to continuously monitor large crowds and identify risky situations at an early stage. Therefore, there is a need for an automated system that can </a:t>
            </a:r>
            <a:r>
              <a:rPr lang="en-IN" sz="2800" dirty="0" err="1"/>
              <a:t>analyze</a:t>
            </a:r>
            <a:r>
              <a:rPr lang="en-IN" sz="2800" dirty="0"/>
              <a:t> crowd density and movement from video footage, detect abnormal crowd </a:t>
            </a:r>
            <a:r>
              <a:rPr lang="en-IN" sz="2800" dirty="0" err="1"/>
              <a:t>behavior</a:t>
            </a:r>
            <a:r>
              <a:rPr lang="en-IN" sz="2800" dirty="0"/>
              <a:t>, and provide an early warning when the situation becomes potentially dangerous. However, challenges such as people overlapping each other, different camera angles, poor lighting, and false alarms need to be considered.</a:t>
            </a:r>
            <a:endParaRPr sz="2800" dirty="0"/>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defRPr sz="2500" b="1">
                <a:solidFill>
                  <a:srgbClr val="FFFFFF"/>
                </a:solidFill>
              </a:defRPr>
            </a:pPr>
            <a:r>
              <a:t>4. Existing System</a:t>
            </a:r>
          </a:p>
        </p:txBody>
      </p:sp>
      <p:sp>
        <p:nvSpPr>
          <p:cNvPr id="4" name="TextBox 3"/>
          <p:cNvSpPr txBox="1"/>
          <p:nvPr/>
        </p:nvSpPr>
        <p:spPr>
          <a:xfrm>
            <a:off x="640080" y="1234440"/>
            <a:ext cx="10972800" cy="4832092"/>
          </a:xfrm>
          <a:prstGeom prst="rect">
            <a:avLst/>
          </a:prstGeom>
          <a:noFill/>
        </p:spPr>
        <p:txBody>
          <a:bodyPr wrap="square">
            <a:spAutoFit/>
          </a:bodyPr>
          <a:lstStyle/>
          <a:p>
            <a:pPr algn="just">
              <a:spcAft>
                <a:spcPts val="900"/>
              </a:spcAft>
              <a:defRPr sz="2100" b="0">
                <a:solidFill>
                  <a:srgbClr val="282828"/>
                </a:solidFill>
              </a:defRPr>
            </a:pPr>
            <a:r>
              <a:rPr lang="en-IN" sz="2800" dirty="0"/>
              <a:t>Currently, crowd monitoring is mainly carried out using </a:t>
            </a:r>
            <a:r>
              <a:rPr lang="en-IN" sz="2800" b="1" dirty="0"/>
              <a:t>CCTV cameras and manual observation</a:t>
            </a:r>
            <a:r>
              <a:rPr lang="en-IN" sz="2800" dirty="0"/>
              <a:t>, where security personnel watch the crowd and identify unusual situations. Some systems also use </a:t>
            </a:r>
            <a:r>
              <a:rPr lang="en-IN" sz="2800" b="1" dirty="0"/>
              <a:t>basic image processing, people counting, and crowd density estimation</a:t>
            </a:r>
            <a:r>
              <a:rPr lang="en-IN" sz="2800" dirty="0"/>
              <a:t> to understand the number of people in an area. However, these approaches mainly focus on monitoring or counting the crowd rather than </a:t>
            </a:r>
            <a:r>
              <a:rPr lang="en-IN" sz="2800" dirty="0" err="1"/>
              <a:t>analyzing</a:t>
            </a:r>
            <a:r>
              <a:rPr lang="en-IN" sz="2800" dirty="0"/>
              <a:t> its </a:t>
            </a:r>
            <a:r>
              <a:rPr lang="en-IN" sz="2800" dirty="0" err="1"/>
              <a:t>behavior</a:t>
            </a:r>
            <a:r>
              <a:rPr lang="en-IN" sz="2800" dirty="0"/>
              <a:t>. Continuous manual monitoring is difficult, especially when multiple cameras are involved, and existing methods may struggle with </a:t>
            </a:r>
            <a:r>
              <a:rPr lang="en-IN" sz="2800" b="1" dirty="0"/>
              <a:t>high crowd density, overlapping people, different camera angles, poor lighting, and sudden changes in crowd movement</a:t>
            </a:r>
            <a:r>
              <a:rPr lang="en-IN" sz="2800" dirty="0"/>
              <a:t>. As a result, dangerous situations may not be identified early enough for timely action.</a:t>
            </a:r>
            <a:endParaRPr sz="2800" dirty="0"/>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defRPr sz="2500" b="1">
                <a:solidFill>
                  <a:srgbClr val="FFFFFF"/>
                </a:solidFill>
              </a:defRPr>
            </a:pPr>
            <a:r>
              <a:t>5. Proposed System</a:t>
            </a:r>
          </a:p>
        </p:txBody>
      </p:sp>
      <p:sp>
        <p:nvSpPr>
          <p:cNvPr id="4" name="TextBox 3"/>
          <p:cNvSpPr txBox="1"/>
          <p:nvPr/>
        </p:nvSpPr>
        <p:spPr>
          <a:xfrm>
            <a:off x="609447" y="1064669"/>
            <a:ext cx="10972800" cy="5262979"/>
          </a:xfrm>
          <a:prstGeom prst="rect">
            <a:avLst/>
          </a:prstGeom>
          <a:noFill/>
        </p:spPr>
        <p:txBody>
          <a:bodyPr wrap="square">
            <a:spAutoFit/>
          </a:bodyPr>
          <a:lstStyle/>
          <a:p>
            <a:pPr algn="just">
              <a:spcAft>
                <a:spcPts val="900"/>
              </a:spcAft>
              <a:defRPr sz="2100" b="0">
                <a:solidFill>
                  <a:srgbClr val="282828"/>
                </a:solidFill>
              </a:defRPr>
            </a:pPr>
            <a:r>
              <a:rPr lang="en-IN" sz="2800" dirty="0"/>
              <a:t>The proposed system uses </a:t>
            </a:r>
            <a:r>
              <a:rPr lang="en-IN" sz="2800" b="1" dirty="0"/>
              <a:t>Artificial Intelligence and Computer Vision</a:t>
            </a:r>
            <a:r>
              <a:rPr lang="en-IN" sz="2800" dirty="0"/>
              <a:t> to automatically monitor crowd video and identify potentially dangerous conditions. It detects people, </a:t>
            </a:r>
            <a:r>
              <a:rPr lang="en-IN" sz="2800" dirty="0" err="1"/>
              <a:t>analyzes</a:t>
            </a:r>
            <a:r>
              <a:rPr lang="en-IN" sz="2800" dirty="0"/>
              <a:t> </a:t>
            </a:r>
            <a:r>
              <a:rPr lang="en-IN" sz="2800" b="1" dirty="0"/>
              <a:t>crowd density and movement patterns</a:t>
            </a:r>
            <a:r>
              <a:rPr lang="en-IN" sz="2800" dirty="0"/>
              <a:t>, and checks for unusual changes in crowd flow. Based on these factors, the system estimates the level of risk and can generate an </a:t>
            </a:r>
            <a:r>
              <a:rPr lang="en-IN" sz="2800" b="1" dirty="0"/>
              <a:t>early warning</a:t>
            </a:r>
            <a:r>
              <a:rPr lang="en-IN" sz="2800" dirty="0"/>
              <a:t> when abnormal crowd conditions are detected. Compared with traditional manual monitoring, this approach provides continuous and automated analysis, helping authorities respond more quickly. The major features include </a:t>
            </a:r>
            <a:r>
              <a:rPr lang="en-IN" sz="2800" b="1" dirty="0"/>
              <a:t>person detection, crowd density analysis, movement analysis, abnormal </a:t>
            </a:r>
            <a:r>
              <a:rPr lang="en-IN" sz="2800" b="1" dirty="0" err="1"/>
              <a:t>behavior</a:t>
            </a:r>
            <a:r>
              <a:rPr lang="en-IN" sz="2800" b="1" dirty="0"/>
              <a:t> detection, risk assessment, and alert generation</a:t>
            </a:r>
            <a:r>
              <a:rPr lang="en-IN" sz="2800" dirty="0"/>
              <a:t>. The expected benefit is improved crowd monitoring, faster identification of risky situations, and better support for public safety.</a:t>
            </a:r>
            <a:endParaRPr sz="2800" dirty="0"/>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defRPr sz="2500" b="1">
                <a:solidFill>
                  <a:srgbClr val="FFFFFF"/>
                </a:solidFill>
              </a:defRPr>
            </a:pPr>
            <a:r>
              <a:t>6. Objectives</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7</a:t>
            </a:r>
          </a:p>
        </p:txBody>
      </p:sp>
      <p:sp>
        <p:nvSpPr>
          <p:cNvPr id="7" name="TextBox 6">
            <a:extLst>
              <a:ext uri="{FF2B5EF4-FFF2-40B4-BE49-F238E27FC236}">
                <a16:creationId xmlns:a16="http://schemas.microsoft.com/office/drawing/2014/main" id="{2F078D93-A053-A12B-E844-CF59FDF80B71}"/>
              </a:ext>
            </a:extLst>
          </p:cNvPr>
          <p:cNvSpPr txBox="1"/>
          <p:nvPr/>
        </p:nvSpPr>
        <p:spPr>
          <a:xfrm>
            <a:off x="731520" y="1228397"/>
            <a:ext cx="10972800" cy="4401205"/>
          </a:xfrm>
          <a:prstGeom prst="rect">
            <a:avLst/>
          </a:prstGeom>
          <a:noFill/>
        </p:spPr>
        <p:txBody>
          <a:bodyPr wrap="square">
            <a:spAutoFit/>
          </a:bodyPr>
          <a:lstStyle/>
          <a:p>
            <a:pPr marL="457200" lvl="0" indent="-457200" algn="just">
              <a:buFont typeface="Arial" panose="020B0604020202020204" pitchFamily="34" charset="0"/>
              <a:buChar char="•"/>
            </a:pPr>
            <a:r>
              <a:rPr lang="en-IN" sz="2800" b="1" dirty="0"/>
              <a:t>To detect and track people</a:t>
            </a:r>
            <a:r>
              <a:rPr lang="en-IN" sz="2800" dirty="0"/>
              <a:t> in CCTV/video footage using a Computer Vision model. </a:t>
            </a:r>
          </a:p>
          <a:p>
            <a:pPr marL="457200" lvl="0" indent="-457200" algn="just">
              <a:buFont typeface="Arial" panose="020B0604020202020204" pitchFamily="34" charset="0"/>
              <a:buChar char="•"/>
            </a:pPr>
            <a:r>
              <a:rPr lang="en-IN" sz="2800" b="1" dirty="0"/>
              <a:t>To estimate crowd density</a:t>
            </a:r>
            <a:r>
              <a:rPr lang="en-IN" sz="2800" dirty="0"/>
              <a:t> and identify areas where the crowd becomes highly concentrated. </a:t>
            </a:r>
          </a:p>
          <a:p>
            <a:pPr marL="457200" lvl="0" indent="-457200" algn="just">
              <a:buFont typeface="Arial" panose="020B0604020202020204" pitchFamily="34" charset="0"/>
              <a:buChar char="•"/>
            </a:pPr>
            <a:r>
              <a:rPr lang="en-IN" sz="2800" b="1" dirty="0"/>
              <a:t>To </a:t>
            </a:r>
            <a:r>
              <a:rPr lang="en-IN" sz="2800" b="1" dirty="0" err="1"/>
              <a:t>analyze</a:t>
            </a:r>
            <a:r>
              <a:rPr lang="en-IN" sz="2800" b="1" dirty="0"/>
              <a:t> crowd movement</a:t>
            </a:r>
            <a:r>
              <a:rPr lang="en-IN" sz="2800" dirty="0"/>
              <a:t> and detect sudden or abnormal changes in speed and direction. </a:t>
            </a:r>
          </a:p>
          <a:p>
            <a:pPr marL="457200" lvl="0" indent="-457200" algn="just">
              <a:buFont typeface="Arial" panose="020B0604020202020204" pitchFamily="34" charset="0"/>
              <a:buChar char="•"/>
            </a:pPr>
            <a:r>
              <a:rPr lang="en-IN" sz="2800" b="1" dirty="0"/>
              <a:t>To calculate a crowd-risk level</a:t>
            </a:r>
            <a:r>
              <a:rPr lang="en-IN" sz="2800" dirty="0"/>
              <a:t> based on density and movement patterns. </a:t>
            </a:r>
          </a:p>
          <a:p>
            <a:pPr marL="457200" lvl="0" indent="-457200" algn="just">
              <a:buFont typeface="Arial" panose="020B0604020202020204" pitchFamily="34" charset="0"/>
              <a:buChar char="•"/>
            </a:pPr>
            <a:r>
              <a:rPr lang="en-IN" sz="2800" b="1" dirty="0"/>
              <a:t>To generate an early warning</a:t>
            </a:r>
            <a:r>
              <a:rPr lang="en-IN" sz="2800" dirty="0"/>
              <a:t> when the detected crowd conditions reach a predefined high-risk level.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defRPr sz="2500" b="1">
                <a:solidFill>
                  <a:srgbClr val="FFFFFF"/>
                </a:solidFill>
              </a:defRPr>
            </a:pPr>
            <a:r>
              <a:t>Literature Survey – Suggested Format</a:t>
            </a:r>
          </a:p>
        </p:txBody>
      </p:sp>
      <p:graphicFrame>
        <p:nvGraphicFramePr>
          <p:cNvPr id="4" name="Table 3"/>
          <p:cNvGraphicFramePr>
            <a:graphicFrameLocks noGrp="1"/>
          </p:cNvGraphicFramePr>
          <p:nvPr>
            <p:extLst>
              <p:ext uri="{D42A27DB-BD31-4B8C-83A1-F6EECF244321}">
                <p14:modId xmlns:p14="http://schemas.microsoft.com/office/powerpoint/2010/main" val="492573890"/>
              </p:ext>
            </p:extLst>
          </p:nvPr>
        </p:nvGraphicFramePr>
        <p:xfrm>
          <a:off x="411480" y="878259"/>
          <a:ext cx="11501899" cy="5390440"/>
        </p:xfrm>
        <a:graphic>
          <a:graphicData uri="http://schemas.openxmlformats.org/drawingml/2006/table">
            <a:tbl>
              <a:tblPr firstRow="1" bandRow="1">
                <a:tableStyleId>{5C22544A-7EE6-4342-B048-85BDC9FD1C3A}</a:tableStyleId>
              </a:tblPr>
              <a:tblGrid>
                <a:gridCol w="659946">
                  <a:extLst>
                    <a:ext uri="{9D8B030D-6E8A-4147-A177-3AD203B41FA5}">
                      <a16:colId xmlns:a16="http://schemas.microsoft.com/office/drawing/2014/main" val="20000"/>
                    </a:ext>
                  </a:extLst>
                </a:gridCol>
                <a:gridCol w="1414167">
                  <a:extLst>
                    <a:ext uri="{9D8B030D-6E8A-4147-A177-3AD203B41FA5}">
                      <a16:colId xmlns:a16="http://schemas.microsoft.com/office/drawing/2014/main" val="20001"/>
                    </a:ext>
                  </a:extLst>
                </a:gridCol>
                <a:gridCol w="2356947">
                  <a:extLst>
                    <a:ext uri="{9D8B030D-6E8A-4147-A177-3AD203B41FA5}">
                      <a16:colId xmlns:a16="http://schemas.microsoft.com/office/drawing/2014/main" val="20002"/>
                    </a:ext>
                  </a:extLst>
                </a:gridCol>
                <a:gridCol w="2074113">
                  <a:extLst>
                    <a:ext uri="{9D8B030D-6E8A-4147-A177-3AD203B41FA5}">
                      <a16:colId xmlns:a16="http://schemas.microsoft.com/office/drawing/2014/main" val="20003"/>
                    </a:ext>
                  </a:extLst>
                </a:gridCol>
                <a:gridCol w="2168390">
                  <a:extLst>
                    <a:ext uri="{9D8B030D-6E8A-4147-A177-3AD203B41FA5}">
                      <a16:colId xmlns:a16="http://schemas.microsoft.com/office/drawing/2014/main" val="20004"/>
                    </a:ext>
                  </a:extLst>
                </a:gridCol>
                <a:gridCol w="2828336">
                  <a:extLst>
                    <a:ext uri="{9D8B030D-6E8A-4147-A177-3AD203B41FA5}">
                      <a16:colId xmlns:a16="http://schemas.microsoft.com/office/drawing/2014/main" val="20005"/>
                    </a:ext>
                  </a:extLst>
                </a:gridCol>
              </a:tblGrid>
              <a:tr h="361240">
                <a:tc>
                  <a:txBody>
                    <a:bodyPr/>
                    <a:lstStyle/>
                    <a:p>
                      <a:pPr>
                        <a:defRPr sz="1300" b="1">
                          <a:solidFill>
                            <a:srgbClr val="FFFFFF"/>
                          </a:solidFill>
                        </a:defRPr>
                      </a:pPr>
                      <a:r>
                        <a:t>S.No.</a:t>
                      </a:r>
                    </a:p>
                  </a:txBody>
                  <a:tcPr>
                    <a:solidFill>
                      <a:srgbClr val="1F3759"/>
                    </a:solidFill>
                  </a:tcPr>
                </a:tc>
                <a:tc>
                  <a:txBody>
                    <a:bodyPr/>
                    <a:lstStyle/>
                    <a:p>
                      <a:pPr>
                        <a:defRPr sz="1300" b="1">
                          <a:solidFill>
                            <a:srgbClr val="FFFFFF"/>
                          </a:solidFill>
                        </a:defRPr>
                      </a:pPr>
                      <a:r>
                        <a:t>Author &amp; Year</a:t>
                      </a:r>
                    </a:p>
                  </a:txBody>
                  <a:tcPr>
                    <a:solidFill>
                      <a:srgbClr val="1F3759"/>
                    </a:solidFill>
                  </a:tcPr>
                </a:tc>
                <a:tc>
                  <a:txBody>
                    <a:bodyPr/>
                    <a:lstStyle/>
                    <a:p>
                      <a:pPr>
                        <a:defRPr sz="1300" b="1">
                          <a:solidFill>
                            <a:srgbClr val="FFFFFF"/>
                          </a:solidFill>
                        </a:defRPr>
                      </a:pPr>
                      <a:r>
                        <a:t>Paper / Topic</a:t>
                      </a:r>
                    </a:p>
                  </a:txBody>
                  <a:tcPr>
                    <a:solidFill>
                      <a:srgbClr val="1F3759"/>
                    </a:solidFill>
                  </a:tcPr>
                </a:tc>
                <a:tc>
                  <a:txBody>
                    <a:bodyPr/>
                    <a:lstStyle/>
                    <a:p>
                      <a:pPr>
                        <a:defRPr sz="1300" b="1">
                          <a:solidFill>
                            <a:srgbClr val="FFFFFF"/>
                          </a:solidFill>
                        </a:defRPr>
                      </a:pPr>
                      <a:r>
                        <a:t>Method / Technology</a:t>
                      </a:r>
                    </a:p>
                  </a:txBody>
                  <a:tcPr>
                    <a:solidFill>
                      <a:srgbClr val="1F3759"/>
                    </a:solidFill>
                  </a:tcPr>
                </a:tc>
                <a:tc>
                  <a:txBody>
                    <a:bodyPr/>
                    <a:lstStyle/>
                    <a:p>
                      <a:pPr>
                        <a:defRPr sz="1300" b="1">
                          <a:solidFill>
                            <a:srgbClr val="FFFFFF"/>
                          </a:solidFill>
                        </a:defRPr>
                      </a:pPr>
                      <a:r>
                        <a:t>Key Finding</a:t>
                      </a:r>
                    </a:p>
                  </a:txBody>
                  <a:tcPr>
                    <a:solidFill>
                      <a:srgbClr val="1F3759"/>
                    </a:solidFill>
                  </a:tcPr>
                </a:tc>
                <a:tc>
                  <a:txBody>
                    <a:bodyPr/>
                    <a:lstStyle/>
                    <a:p>
                      <a:pPr>
                        <a:defRPr sz="1300" b="1">
                          <a:solidFill>
                            <a:srgbClr val="FFFFFF"/>
                          </a:solidFill>
                        </a:defRPr>
                      </a:pPr>
                      <a:r>
                        <a:t>Limitation</a:t>
                      </a:r>
                    </a:p>
                  </a:txBody>
                  <a:tcPr>
                    <a:solidFill>
                      <a:srgbClr val="1F3759"/>
                    </a:solidFill>
                  </a:tcPr>
                </a:tc>
                <a:extLst>
                  <a:ext uri="{0D108BD9-81ED-4DB2-BD59-A6C34878D82A}">
                    <a16:rowId xmlns:a16="http://schemas.microsoft.com/office/drawing/2014/main" val="10000"/>
                  </a:ext>
                </a:extLst>
              </a:tr>
              <a:tr h="1207287">
                <a:tc>
                  <a:txBody>
                    <a:bodyPr/>
                    <a:lstStyle/>
                    <a:p>
                      <a:pPr>
                        <a:buNone/>
                      </a:pPr>
                      <a:r>
                        <a:rPr lang="en-IN" b="1" dirty="0"/>
                        <a:t>1</a:t>
                      </a:r>
                      <a:endParaRPr lang="en-IN" dirty="0"/>
                    </a:p>
                  </a:txBody>
                  <a:tcPr anchor="ctr">
                    <a:solidFill>
                      <a:srgbClr val="F2F6FA"/>
                    </a:solidFill>
                  </a:tcPr>
                </a:tc>
                <a:tc>
                  <a:txBody>
                    <a:bodyPr/>
                    <a:lstStyle/>
                    <a:p>
                      <a:pPr>
                        <a:buNone/>
                      </a:pPr>
                      <a:r>
                        <a:rPr lang="en-IN" b="1"/>
                        <a:t>Cob-Parro et al., 2025</a:t>
                      </a:r>
                      <a:endParaRPr lang="en-IN"/>
                    </a:p>
                  </a:txBody>
                  <a:tcPr anchor="ctr">
                    <a:solidFill>
                      <a:srgbClr val="F2F6FA"/>
                    </a:solidFill>
                  </a:tcPr>
                </a:tc>
                <a:tc>
                  <a:txBody>
                    <a:bodyPr/>
                    <a:lstStyle/>
                    <a:p>
                      <a:pPr>
                        <a:buNone/>
                      </a:pPr>
                      <a:r>
                        <a:rPr lang="en-IN" i="1"/>
                        <a:t>Stampede Detector Using Deep Learning Models and Dense Optical Flow</a:t>
                      </a:r>
                      <a:endParaRPr lang="en-IN"/>
                    </a:p>
                  </a:txBody>
                  <a:tcPr anchor="ctr">
                    <a:solidFill>
                      <a:srgbClr val="F2F6FA"/>
                    </a:solidFill>
                  </a:tcPr>
                </a:tc>
                <a:tc>
                  <a:txBody>
                    <a:bodyPr/>
                    <a:lstStyle/>
                    <a:p>
                      <a:pPr>
                        <a:buNone/>
                      </a:pPr>
                      <a:r>
                        <a:rPr lang="en-IN"/>
                        <a:t>Dense Optical Flow + Deep Learning</a:t>
                      </a:r>
                    </a:p>
                  </a:txBody>
                  <a:tcPr anchor="ctr">
                    <a:solidFill>
                      <a:srgbClr val="F2F6FA"/>
                    </a:solidFill>
                  </a:tcPr>
                </a:tc>
                <a:tc>
                  <a:txBody>
                    <a:bodyPr/>
                    <a:lstStyle/>
                    <a:p>
                      <a:pPr>
                        <a:buNone/>
                      </a:pPr>
                      <a:r>
                        <a:rPr lang="en-IN"/>
                        <a:t>Detected stampede activity across multiple crowd datasets with strong generalization.</a:t>
                      </a:r>
                    </a:p>
                  </a:txBody>
                  <a:tcPr anchor="ctr">
                    <a:solidFill>
                      <a:srgbClr val="F2F6FA"/>
                    </a:solidFill>
                  </a:tcPr>
                </a:tc>
                <a:tc>
                  <a:txBody>
                    <a:bodyPr/>
                    <a:lstStyle/>
                    <a:p>
                      <a:pPr>
                        <a:buNone/>
                      </a:pPr>
                      <a:r>
                        <a:rPr lang="en-IN" dirty="0"/>
                        <a:t>Mainly focuses on stampede classification; challenging in different crowd conditions.</a:t>
                      </a:r>
                    </a:p>
                  </a:txBody>
                  <a:tcPr anchor="ctr">
                    <a:solidFill>
                      <a:srgbClr val="F2F6FA"/>
                    </a:solidFill>
                  </a:tcPr>
                </a:tc>
                <a:extLst>
                  <a:ext uri="{0D108BD9-81ED-4DB2-BD59-A6C34878D82A}">
                    <a16:rowId xmlns:a16="http://schemas.microsoft.com/office/drawing/2014/main" val="10001"/>
                  </a:ext>
                </a:extLst>
              </a:tr>
              <a:tr h="878027">
                <a:tc>
                  <a:txBody>
                    <a:bodyPr/>
                    <a:lstStyle/>
                    <a:p>
                      <a:pPr>
                        <a:buNone/>
                      </a:pPr>
                      <a:r>
                        <a:rPr lang="en-IN" b="1"/>
                        <a:t>2</a:t>
                      </a:r>
                      <a:endParaRPr lang="en-IN"/>
                    </a:p>
                  </a:txBody>
                  <a:tcPr anchor="ctr">
                    <a:solidFill>
                      <a:srgbClr val="FFFFFF"/>
                    </a:solidFill>
                  </a:tcPr>
                </a:tc>
                <a:tc>
                  <a:txBody>
                    <a:bodyPr/>
                    <a:lstStyle/>
                    <a:p>
                      <a:pPr>
                        <a:buNone/>
                      </a:pPr>
                      <a:r>
                        <a:rPr lang="en-IN" b="1"/>
                        <a:t>Qaraqe et al., 2024</a:t>
                      </a:r>
                      <a:endParaRPr lang="en-IN"/>
                    </a:p>
                  </a:txBody>
                  <a:tcPr anchor="ctr">
                    <a:solidFill>
                      <a:srgbClr val="FFFFFF"/>
                    </a:solidFill>
                  </a:tcPr>
                </a:tc>
                <a:tc>
                  <a:txBody>
                    <a:bodyPr/>
                    <a:lstStyle/>
                    <a:p>
                      <a:pPr>
                        <a:buNone/>
                      </a:pPr>
                      <a:r>
                        <a:rPr lang="en-IN" i="1"/>
                        <a:t>Crowd Behavior Detection Using Video Swin Transformer</a:t>
                      </a:r>
                      <a:endParaRPr lang="en-IN"/>
                    </a:p>
                  </a:txBody>
                  <a:tcPr anchor="ctr">
                    <a:solidFill>
                      <a:srgbClr val="FFFFFF"/>
                    </a:solidFill>
                  </a:tcPr>
                </a:tc>
                <a:tc>
                  <a:txBody>
                    <a:bodyPr/>
                    <a:lstStyle/>
                    <a:p>
                      <a:pPr>
                        <a:buNone/>
                      </a:pPr>
                      <a:r>
                        <a:rPr lang="en-IN"/>
                        <a:t>Video Swin Transformer + Crowd Counting + Optical Flow</a:t>
                      </a:r>
                    </a:p>
                  </a:txBody>
                  <a:tcPr anchor="ctr">
                    <a:solidFill>
                      <a:srgbClr val="FFFFFF"/>
                    </a:solidFill>
                  </a:tcPr>
                </a:tc>
                <a:tc>
                  <a:txBody>
                    <a:bodyPr/>
                    <a:lstStyle/>
                    <a:p>
                      <a:pPr>
                        <a:buNone/>
                      </a:pPr>
                      <a:r>
                        <a:rPr lang="en-IN"/>
                        <a:t>Detects crowd size and different levels of violent behavior.</a:t>
                      </a:r>
                    </a:p>
                  </a:txBody>
                  <a:tcPr anchor="ctr">
                    <a:solidFill>
                      <a:srgbClr val="FFFFFF"/>
                    </a:solidFill>
                  </a:tcPr>
                </a:tc>
                <a:tc>
                  <a:txBody>
                    <a:bodyPr/>
                    <a:lstStyle/>
                    <a:p>
                      <a:pPr>
                        <a:buNone/>
                      </a:pPr>
                      <a:r>
                        <a:rPr lang="en-IN"/>
                        <a:t>Transformer models require higher computational resources.</a:t>
                      </a:r>
                    </a:p>
                  </a:txBody>
                  <a:tcPr anchor="ctr">
                    <a:solidFill>
                      <a:srgbClr val="FFFFFF"/>
                    </a:solidFill>
                  </a:tcPr>
                </a:tc>
                <a:extLst>
                  <a:ext uri="{0D108BD9-81ED-4DB2-BD59-A6C34878D82A}">
                    <a16:rowId xmlns:a16="http://schemas.microsoft.com/office/drawing/2014/main" val="10002"/>
                  </a:ext>
                </a:extLst>
              </a:tr>
              <a:tr h="713397">
                <a:tc>
                  <a:txBody>
                    <a:bodyPr/>
                    <a:lstStyle/>
                    <a:p>
                      <a:pPr>
                        <a:buNone/>
                      </a:pPr>
                      <a:r>
                        <a:rPr lang="en-IN" b="1"/>
                        <a:t>3</a:t>
                      </a:r>
                      <a:endParaRPr lang="en-IN"/>
                    </a:p>
                  </a:txBody>
                  <a:tcPr anchor="ctr">
                    <a:solidFill>
                      <a:srgbClr val="F2F6FA"/>
                    </a:solidFill>
                  </a:tcPr>
                </a:tc>
                <a:tc>
                  <a:txBody>
                    <a:bodyPr/>
                    <a:lstStyle/>
                    <a:p>
                      <a:pPr>
                        <a:buNone/>
                      </a:pPr>
                      <a:r>
                        <a:rPr lang="en-IN" b="1"/>
                        <a:t>Lin &amp; Hu, 2024</a:t>
                      </a:r>
                      <a:endParaRPr lang="en-IN"/>
                    </a:p>
                  </a:txBody>
                  <a:tcPr anchor="ctr">
                    <a:solidFill>
                      <a:srgbClr val="F2F6FA"/>
                    </a:solidFill>
                  </a:tcPr>
                </a:tc>
                <a:tc>
                  <a:txBody>
                    <a:bodyPr/>
                    <a:lstStyle/>
                    <a:p>
                      <a:pPr>
                        <a:buNone/>
                      </a:pPr>
                      <a:r>
                        <a:rPr lang="en-IN" i="1"/>
                        <a:t>Efficient Crowd Density Estimation with Edge Intelligence</a:t>
                      </a:r>
                      <a:endParaRPr lang="en-IN"/>
                    </a:p>
                  </a:txBody>
                  <a:tcPr anchor="ctr">
                    <a:solidFill>
                      <a:srgbClr val="F2F6FA"/>
                    </a:solidFill>
                  </a:tcPr>
                </a:tc>
                <a:tc>
                  <a:txBody>
                    <a:bodyPr/>
                    <a:lstStyle/>
                    <a:p>
                      <a:pPr>
                        <a:buNone/>
                      </a:pPr>
                      <a:r>
                        <a:rPr lang="en-IN"/>
                        <a:t>Lightweight CNN + Knowledge Transfer</a:t>
                      </a:r>
                    </a:p>
                  </a:txBody>
                  <a:tcPr anchor="ctr">
                    <a:solidFill>
                      <a:srgbClr val="F2F6FA"/>
                    </a:solidFill>
                  </a:tcPr>
                </a:tc>
                <a:tc>
                  <a:txBody>
                    <a:bodyPr/>
                    <a:lstStyle/>
                    <a:p>
                      <a:pPr>
                        <a:buNone/>
                      </a:pPr>
                      <a:r>
                        <a:rPr lang="en-IN"/>
                        <a:t>Enables efficient crowd-density estimation on edge devices.</a:t>
                      </a:r>
                    </a:p>
                  </a:txBody>
                  <a:tcPr anchor="ctr">
                    <a:solidFill>
                      <a:srgbClr val="F2F6FA"/>
                    </a:solidFill>
                  </a:tcPr>
                </a:tc>
                <a:tc>
                  <a:txBody>
                    <a:bodyPr/>
                    <a:lstStyle/>
                    <a:p>
                      <a:pPr>
                        <a:buNone/>
                      </a:pPr>
                      <a:r>
                        <a:rPr lang="en-IN"/>
                        <a:t>Focuses mainly on density, not abnormal movement or stampede risk.</a:t>
                      </a:r>
                    </a:p>
                  </a:txBody>
                  <a:tcPr anchor="ctr">
                    <a:solidFill>
                      <a:srgbClr val="F2F6FA"/>
                    </a:solidFill>
                  </a:tcPr>
                </a:tc>
                <a:extLst>
                  <a:ext uri="{0D108BD9-81ED-4DB2-BD59-A6C34878D82A}">
                    <a16:rowId xmlns:a16="http://schemas.microsoft.com/office/drawing/2014/main" val="10003"/>
                  </a:ext>
                </a:extLst>
              </a:tr>
              <a:tr h="1042657">
                <a:tc>
                  <a:txBody>
                    <a:bodyPr/>
                    <a:lstStyle/>
                    <a:p>
                      <a:pPr>
                        <a:buNone/>
                      </a:pPr>
                      <a:r>
                        <a:rPr lang="en-IN" b="1"/>
                        <a:t>4</a:t>
                      </a:r>
                      <a:endParaRPr lang="en-IN"/>
                    </a:p>
                  </a:txBody>
                  <a:tcPr anchor="ctr">
                    <a:solidFill>
                      <a:srgbClr val="FFFFFF"/>
                    </a:solidFill>
                  </a:tcPr>
                </a:tc>
                <a:tc>
                  <a:txBody>
                    <a:bodyPr/>
                    <a:lstStyle/>
                    <a:p>
                      <a:pPr>
                        <a:buNone/>
                      </a:pPr>
                      <a:r>
                        <a:rPr lang="en-IN" b="1"/>
                        <a:t>Wu et al., 2024</a:t>
                      </a:r>
                      <a:endParaRPr lang="en-IN"/>
                    </a:p>
                  </a:txBody>
                  <a:tcPr anchor="ctr">
                    <a:solidFill>
                      <a:srgbClr val="FFFFFF"/>
                    </a:solidFill>
                  </a:tcPr>
                </a:tc>
                <a:tc>
                  <a:txBody>
                    <a:bodyPr/>
                    <a:lstStyle/>
                    <a:p>
                      <a:pPr>
                        <a:buNone/>
                      </a:pPr>
                      <a:r>
                        <a:rPr lang="en-IN" i="1"/>
                        <a:t>CNN-Based Abnormal Behavior Recognition in Crowd Scenes</a:t>
                      </a:r>
                      <a:endParaRPr lang="en-IN"/>
                    </a:p>
                  </a:txBody>
                  <a:tcPr anchor="ctr">
                    <a:solidFill>
                      <a:srgbClr val="FFFFFF"/>
                    </a:solidFill>
                  </a:tcPr>
                </a:tc>
                <a:tc>
                  <a:txBody>
                    <a:bodyPr/>
                    <a:lstStyle/>
                    <a:p>
                      <a:pPr>
                        <a:buNone/>
                      </a:pPr>
                      <a:r>
                        <a:rPr lang="en-IN"/>
                        <a:t>CNN + Abnormality Analysis</a:t>
                      </a:r>
                    </a:p>
                  </a:txBody>
                  <a:tcPr anchor="ctr">
                    <a:solidFill>
                      <a:srgbClr val="FFFFFF"/>
                    </a:solidFill>
                  </a:tcPr>
                </a:tc>
                <a:tc>
                  <a:txBody>
                    <a:bodyPr/>
                    <a:lstStyle/>
                    <a:p>
                      <a:pPr>
                        <a:buNone/>
                      </a:pPr>
                      <a:r>
                        <a:rPr lang="en-IN"/>
                        <a:t>Improves abnormal behavior recognition in crowded video scenes.</a:t>
                      </a:r>
                    </a:p>
                  </a:txBody>
                  <a:tcPr anchor="ctr">
                    <a:solidFill>
                      <a:srgbClr val="FFFFFF"/>
                    </a:solidFill>
                  </a:tcPr>
                </a:tc>
                <a:tc>
                  <a:txBody>
                    <a:bodyPr/>
                    <a:lstStyle/>
                    <a:p>
                      <a:pPr>
                        <a:buNone/>
                      </a:pPr>
                      <a:r>
                        <a:rPr lang="en-IN" dirty="0"/>
                        <a:t>Detects abnormal </a:t>
                      </a:r>
                      <a:r>
                        <a:rPr lang="en-IN" dirty="0" err="1"/>
                        <a:t>behavior</a:t>
                      </a:r>
                      <a:r>
                        <a:rPr lang="en-IN" dirty="0"/>
                        <a:t> but does not provide a complete stampede-risk assessment.</a:t>
                      </a:r>
                    </a:p>
                  </a:txBody>
                  <a:tcPr anchor="ct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defRPr sz="2500" b="1">
                <a:solidFill>
                  <a:srgbClr val="FFFFFF"/>
                </a:solidFill>
              </a:defRPr>
            </a:pPr>
            <a:r>
              <a:t>8. Research Gap</a:t>
            </a:r>
          </a:p>
        </p:txBody>
      </p:sp>
      <p:sp>
        <p:nvSpPr>
          <p:cNvPr id="4" name="TextBox 3"/>
          <p:cNvSpPr txBox="1"/>
          <p:nvPr/>
        </p:nvSpPr>
        <p:spPr>
          <a:xfrm>
            <a:off x="548640" y="1028343"/>
            <a:ext cx="10972800" cy="5324535"/>
          </a:xfrm>
          <a:prstGeom prst="rect">
            <a:avLst/>
          </a:prstGeom>
          <a:noFill/>
        </p:spPr>
        <p:txBody>
          <a:bodyPr wrap="square">
            <a:spAutoFit/>
          </a:bodyPr>
          <a:lstStyle/>
          <a:p>
            <a:pPr algn="just"/>
            <a:r>
              <a:rPr lang="en-IN" sz="2000" b="1" dirty="0"/>
              <a:t>What has already been done?</a:t>
            </a:r>
            <a:endParaRPr lang="en-IN" sz="2000" dirty="0"/>
          </a:p>
          <a:p>
            <a:pPr lvl="0" algn="just"/>
            <a:r>
              <a:rPr lang="en-IN" sz="2000" dirty="0"/>
              <a:t>Existing studies use AI and Computer Vision for crowd monitoring. </a:t>
            </a:r>
          </a:p>
          <a:p>
            <a:pPr lvl="0" algn="just"/>
            <a:r>
              <a:rPr lang="en-IN" sz="2000" dirty="0"/>
              <a:t>Researchers have explored crowd counting, density estimation, and movement analysis. </a:t>
            </a:r>
          </a:p>
          <a:p>
            <a:pPr lvl="0" algn="just"/>
            <a:r>
              <a:rPr lang="en-IN" sz="2000" dirty="0"/>
              <a:t>Deep learning and optical flow are also used for abnormal crowd detection. </a:t>
            </a:r>
          </a:p>
          <a:p>
            <a:pPr algn="just"/>
            <a:r>
              <a:rPr lang="en-IN" sz="2000" b="1" dirty="0"/>
              <a:t>What limitations exist?</a:t>
            </a:r>
            <a:endParaRPr lang="en-IN" sz="2000" dirty="0"/>
          </a:p>
          <a:p>
            <a:pPr lvl="0" algn="just"/>
            <a:r>
              <a:rPr lang="en-IN" sz="2000" dirty="0"/>
              <a:t>Some methods focus only on crowd density or people counting. </a:t>
            </a:r>
          </a:p>
          <a:p>
            <a:pPr lvl="0" algn="just"/>
            <a:r>
              <a:rPr lang="en-IN" sz="2000" dirty="0"/>
              <a:t>Others focus mainly on abnormal movement or stampede classification. </a:t>
            </a:r>
          </a:p>
          <a:p>
            <a:pPr lvl="0" algn="just"/>
            <a:r>
              <a:rPr lang="en-IN" sz="2000" dirty="0"/>
              <a:t>Performance can be affected by occlusion, lighting, camera angle, and high crowd density. </a:t>
            </a:r>
          </a:p>
          <a:p>
            <a:pPr algn="just"/>
            <a:r>
              <a:rPr lang="en-IN" sz="2000" b="1" dirty="0"/>
              <a:t>What is missing?</a:t>
            </a:r>
            <a:endParaRPr lang="en-IN" sz="2000" dirty="0"/>
          </a:p>
          <a:p>
            <a:pPr lvl="0" algn="just"/>
            <a:r>
              <a:rPr lang="en-IN" sz="2000" dirty="0"/>
              <a:t>A practical system that combines </a:t>
            </a:r>
            <a:r>
              <a:rPr lang="en-IN" sz="2000" b="1" dirty="0"/>
              <a:t>density and movement analysis</a:t>
            </a:r>
            <a:r>
              <a:rPr lang="en-IN" sz="2000" dirty="0"/>
              <a:t> for early risk identification. </a:t>
            </a:r>
          </a:p>
          <a:p>
            <a:pPr lvl="0" algn="just"/>
            <a:r>
              <a:rPr lang="en-IN" sz="2000" dirty="0"/>
              <a:t>A simple risk assessment approach that can work with real-time CCTV/video. </a:t>
            </a:r>
          </a:p>
          <a:p>
            <a:pPr lvl="0" algn="just"/>
            <a:r>
              <a:rPr lang="en-IN" sz="2000" dirty="0"/>
              <a:t>Better focus on </a:t>
            </a:r>
            <a:r>
              <a:rPr lang="en-IN" sz="2000" b="1" dirty="0"/>
              <a:t>early warning</a:t>
            </a:r>
            <a:r>
              <a:rPr lang="en-IN" sz="2000" dirty="0"/>
              <a:t> rather than detecting the event only after it occurs. </a:t>
            </a:r>
          </a:p>
          <a:p>
            <a:pPr algn="just"/>
            <a:r>
              <a:rPr lang="en-IN" sz="2000" b="1" dirty="0"/>
              <a:t>How does our project address the gap?</a:t>
            </a:r>
            <a:endParaRPr lang="en-IN" sz="2000" dirty="0"/>
          </a:p>
          <a:p>
            <a:pPr lvl="0" algn="just"/>
            <a:r>
              <a:rPr lang="en-IN" sz="2000" dirty="0"/>
              <a:t>Combines </a:t>
            </a:r>
            <a:r>
              <a:rPr lang="en-IN" sz="2000" b="1" dirty="0"/>
              <a:t>person detection, crowd density, and movement analysis</a:t>
            </a:r>
            <a:r>
              <a:rPr lang="en-IN" sz="2000" dirty="0"/>
              <a:t>. </a:t>
            </a:r>
          </a:p>
          <a:p>
            <a:pPr lvl="0" algn="just"/>
            <a:r>
              <a:rPr lang="en-IN" sz="2000" dirty="0"/>
              <a:t>Uses these factors to estimate the crowd risk level. </a:t>
            </a:r>
          </a:p>
          <a:p>
            <a:pPr lvl="0" algn="just"/>
            <a:r>
              <a:rPr lang="en-IN" sz="2000" dirty="0"/>
              <a:t>Generates an early warning when potentially dangerous conditions are detected. </a:t>
            </a:r>
          </a:p>
          <a:p>
            <a:pPr lvl="0" algn="just"/>
            <a:r>
              <a:rPr lang="en-IN" sz="2000" dirty="0"/>
              <a:t>Focuses on a practical and understandable approach for real-time crowd monitoring.</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9</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10</a:t>
            </a:r>
          </a:p>
        </p:txBody>
      </p:sp>
      <p:pic>
        <p:nvPicPr>
          <p:cNvPr id="7" name="Picture 6">
            <a:extLst>
              <a:ext uri="{FF2B5EF4-FFF2-40B4-BE49-F238E27FC236}">
                <a16:creationId xmlns:a16="http://schemas.microsoft.com/office/drawing/2014/main" id="{A532A9D0-6FBD-58F3-3FA8-23A0D4063182}"/>
              </a:ext>
            </a:extLst>
          </p:cNvPr>
          <p:cNvPicPr>
            <a:picLocks noChangeAspect="1"/>
          </p:cNvPicPr>
          <p:nvPr/>
        </p:nvPicPr>
        <p:blipFill>
          <a:blip r:embed="rId2"/>
          <a:stretch>
            <a:fillRect/>
          </a:stretch>
        </p:blipFill>
        <p:spPr>
          <a:xfrm>
            <a:off x="0" y="1"/>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defRPr sz="2500" b="1">
                <a:solidFill>
                  <a:srgbClr val="FFFFFF"/>
                </a:solidFill>
              </a:defRPr>
            </a:pPr>
            <a:r>
              <a:t>10. System Architecture</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11</a:t>
            </a:r>
          </a:p>
        </p:txBody>
      </p:sp>
      <p:pic>
        <p:nvPicPr>
          <p:cNvPr id="7" name="Picture 6">
            <a:extLst>
              <a:ext uri="{FF2B5EF4-FFF2-40B4-BE49-F238E27FC236}">
                <a16:creationId xmlns:a16="http://schemas.microsoft.com/office/drawing/2014/main" id="{C38AB47D-BC5B-A53A-7677-2EC29BD285B5}"/>
              </a:ext>
            </a:extLst>
          </p:cNvPr>
          <p:cNvPicPr>
            <a:picLocks noChangeAspect="1"/>
          </p:cNvPicPr>
          <p:nvPr/>
        </p:nvPicPr>
        <p:blipFill>
          <a:blip r:embed="rId2"/>
          <a:stretch>
            <a:fillRect/>
          </a:stretch>
        </p:blipFill>
        <p:spPr>
          <a:xfrm>
            <a:off x="-1" y="584200"/>
            <a:ext cx="12191695" cy="62738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defRPr sz="2500" b="1">
                <a:solidFill>
                  <a:srgbClr val="FFFFFF"/>
                </a:solidFill>
              </a:defRPr>
            </a:pPr>
            <a:r>
              <a:t>11. Modules</a:t>
            </a:r>
          </a:p>
        </p:txBody>
      </p:sp>
      <p:sp>
        <p:nvSpPr>
          <p:cNvPr id="4" name="TextBox 3"/>
          <p:cNvSpPr txBox="1"/>
          <p:nvPr/>
        </p:nvSpPr>
        <p:spPr>
          <a:xfrm>
            <a:off x="670273" y="1295296"/>
            <a:ext cx="11292840" cy="3970318"/>
          </a:xfrm>
          <a:prstGeom prst="rect">
            <a:avLst/>
          </a:prstGeom>
          <a:noFill/>
        </p:spPr>
        <p:txBody>
          <a:bodyPr wrap="square">
            <a:spAutoFit/>
          </a:bodyPr>
          <a:lstStyle/>
          <a:p>
            <a:r>
              <a:rPr lang="en-IN" b="1" dirty="0"/>
              <a:t>1. Video Input &amp; Preprocessing</a:t>
            </a:r>
            <a:br>
              <a:rPr lang="en-IN" dirty="0"/>
            </a:br>
            <a:r>
              <a:rPr lang="en-IN" dirty="0"/>
              <a:t>Collects CCTV/live video or recorded footage and prepares frames for further analysis.</a:t>
            </a:r>
          </a:p>
          <a:p>
            <a:r>
              <a:rPr lang="en-IN" b="1" dirty="0"/>
              <a:t>2. Person Detection &amp; Tracking</a:t>
            </a:r>
            <a:br>
              <a:rPr lang="en-IN" dirty="0"/>
            </a:br>
            <a:r>
              <a:rPr lang="en-IN" dirty="0"/>
              <a:t>Detects people in each frame and tracks their movement across consecutive frames.</a:t>
            </a:r>
          </a:p>
          <a:p>
            <a:r>
              <a:rPr lang="en-IN" b="1" dirty="0"/>
              <a:t>3. Crowd Density Analysis</a:t>
            </a:r>
            <a:br>
              <a:rPr lang="en-IN" dirty="0"/>
            </a:br>
            <a:r>
              <a:rPr lang="en-IN" dirty="0" err="1"/>
              <a:t>Analyzes</a:t>
            </a:r>
            <a:r>
              <a:rPr lang="en-IN" dirty="0"/>
              <a:t> the number and concentration of people to identify areas with high crowd density.</a:t>
            </a:r>
          </a:p>
          <a:p>
            <a:r>
              <a:rPr lang="en-IN" b="1" dirty="0"/>
              <a:t>4. Movement &amp; </a:t>
            </a:r>
            <a:r>
              <a:rPr lang="en-IN" b="1" dirty="0" err="1"/>
              <a:t>Behavior</a:t>
            </a:r>
            <a:r>
              <a:rPr lang="en-IN" b="1" dirty="0"/>
              <a:t> Analysis</a:t>
            </a:r>
            <a:br>
              <a:rPr lang="en-IN" dirty="0"/>
            </a:br>
            <a:r>
              <a:rPr lang="en-IN" dirty="0"/>
              <a:t>Studies crowd speed, direction, and flow to identify sudden or unusual movement patterns.</a:t>
            </a:r>
          </a:p>
          <a:p>
            <a:r>
              <a:rPr lang="en-IN" b="1" dirty="0"/>
              <a:t>5. Risk Assessment &amp; Alert Generation</a:t>
            </a:r>
            <a:br>
              <a:rPr lang="en-IN" dirty="0"/>
            </a:br>
            <a:r>
              <a:rPr lang="en-IN" dirty="0"/>
              <a:t>Combines crowd density and movement information to determine the crowd risk level and generate alerts for high-risk conditions.</a:t>
            </a:r>
          </a:p>
          <a:p>
            <a:r>
              <a:rPr lang="en-IN" b="1" dirty="0"/>
              <a:t>6. Monitoring &amp; Data Storage</a:t>
            </a:r>
            <a:br>
              <a:rPr lang="en-IN" dirty="0"/>
            </a:br>
            <a:r>
              <a:rPr lang="en-IN" dirty="0"/>
              <a:t>Displays the detected crowd condition and risk level through a dashboard while storing detection results, alerts, and analysis history.</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12</a:t>
            </a:r>
          </a:p>
        </p:txBody>
      </p:sp>
      <p:sp>
        <p:nvSpPr>
          <p:cNvPr id="6" name="TextBox 5">
            <a:extLst>
              <a:ext uri="{FF2B5EF4-FFF2-40B4-BE49-F238E27FC236}">
                <a16:creationId xmlns:a16="http://schemas.microsoft.com/office/drawing/2014/main" id="{8677F19B-1AA0-A2D5-8316-9D7D72E002A6}"/>
              </a:ext>
            </a:extLst>
          </p:cNvPr>
          <p:cNvSpPr txBox="1"/>
          <p:nvPr/>
        </p:nvSpPr>
        <p:spPr>
          <a:xfrm>
            <a:off x="3683479" y="5391509"/>
            <a:ext cx="184731" cy="369332"/>
          </a:xfrm>
          <a:prstGeom prst="rect">
            <a:avLst/>
          </a:prstGeom>
          <a:noFill/>
        </p:spPr>
        <p:txBody>
          <a:bodyPr wrap="none" rtlCol="0">
            <a:spAutoFit/>
          </a:bodyPr>
          <a:lstStyle/>
          <a:p>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defRPr sz="2500" b="1">
                <a:solidFill>
                  <a:srgbClr val="FFFFFF"/>
                </a:solidFill>
              </a:defRPr>
            </a:pPr>
            <a:r>
              <a:t>12. Technologies Used</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13</a:t>
            </a:r>
          </a:p>
        </p:txBody>
      </p:sp>
      <p:graphicFrame>
        <p:nvGraphicFramePr>
          <p:cNvPr id="6" name="Table 5">
            <a:extLst>
              <a:ext uri="{FF2B5EF4-FFF2-40B4-BE49-F238E27FC236}">
                <a16:creationId xmlns:a16="http://schemas.microsoft.com/office/drawing/2014/main" id="{C654976C-C519-01DD-3403-34E2F7631177}"/>
              </a:ext>
            </a:extLst>
          </p:cNvPr>
          <p:cNvGraphicFramePr>
            <a:graphicFrameLocks noGrp="1"/>
          </p:cNvGraphicFramePr>
          <p:nvPr>
            <p:extLst>
              <p:ext uri="{D42A27DB-BD31-4B8C-83A1-F6EECF244321}">
                <p14:modId xmlns:p14="http://schemas.microsoft.com/office/powerpoint/2010/main" val="3526813393"/>
              </p:ext>
            </p:extLst>
          </p:nvPr>
        </p:nvGraphicFramePr>
        <p:xfrm>
          <a:off x="457200" y="1600200"/>
          <a:ext cx="8229600" cy="2926080"/>
        </p:xfrm>
        <a:graphic>
          <a:graphicData uri="http://schemas.openxmlformats.org/drawingml/2006/table">
            <a:tbl>
              <a:tblPr/>
              <a:tblGrid>
                <a:gridCol w="4114800">
                  <a:extLst>
                    <a:ext uri="{9D8B030D-6E8A-4147-A177-3AD203B41FA5}">
                      <a16:colId xmlns:a16="http://schemas.microsoft.com/office/drawing/2014/main" val="2319108675"/>
                    </a:ext>
                  </a:extLst>
                </a:gridCol>
                <a:gridCol w="4114800">
                  <a:extLst>
                    <a:ext uri="{9D8B030D-6E8A-4147-A177-3AD203B41FA5}">
                      <a16:colId xmlns:a16="http://schemas.microsoft.com/office/drawing/2014/main" val="3151276258"/>
                    </a:ext>
                  </a:extLst>
                </a:gridCol>
              </a:tblGrid>
              <a:tr h="0">
                <a:tc>
                  <a:txBody>
                    <a:bodyPr/>
                    <a:lstStyle/>
                    <a:p>
                      <a:pPr>
                        <a:buNone/>
                      </a:pPr>
                      <a:endParaRPr lang="en-IN" dirty="0"/>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4110452150"/>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1653689104"/>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148772437"/>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4137614538"/>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1773057606"/>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829697908"/>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2107486774"/>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3066071276"/>
                  </a:ext>
                </a:extLst>
              </a:tr>
            </a:tbl>
          </a:graphicData>
        </a:graphic>
      </p:graphicFrame>
      <p:graphicFrame>
        <p:nvGraphicFramePr>
          <p:cNvPr id="9" name="Table 8">
            <a:extLst>
              <a:ext uri="{FF2B5EF4-FFF2-40B4-BE49-F238E27FC236}">
                <a16:creationId xmlns:a16="http://schemas.microsoft.com/office/drawing/2014/main" id="{522FD0AC-CED5-6176-E3F6-D84177FC53F1}"/>
              </a:ext>
            </a:extLst>
          </p:cNvPr>
          <p:cNvGraphicFramePr>
            <a:graphicFrameLocks noGrp="1"/>
          </p:cNvGraphicFramePr>
          <p:nvPr>
            <p:extLst>
              <p:ext uri="{D42A27DB-BD31-4B8C-83A1-F6EECF244321}">
                <p14:modId xmlns:p14="http://schemas.microsoft.com/office/powerpoint/2010/main" val="4185306314"/>
              </p:ext>
            </p:extLst>
          </p:nvPr>
        </p:nvGraphicFramePr>
        <p:xfrm>
          <a:off x="457200" y="1665411"/>
          <a:ext cx="10679502" cy="4109292"/>
        </p:xfrm>
        <a:graphic>
          <a:graphicData uri="http://schemas.openxmlformats.org/drawingml/2006/table">
            <a:tbl>
              <a:tblPr/>
              <a:tblGrid>
                <a:gridCol w="5339751">
                  <a:extLst>
                    <a:ext uri="{9D8B030D-6E8A-4147-A177-3AD203B41FA5}">
                      <a16:colId xmlns:a16="http://schemas.microsoft.com/office/drawing/2014/main" val="263975289"/>
                    </a:ext>
                  </a:extLst>
                </a:gridCol>
                <a:gridCol w="5339751">
                  <a:extLst>
                    <a:ext uri="{9D8B030D-6E8A-4147-A177-3AD203B41FA5}">
                      <a16:colId xmlns:a16="http://schemas.microsoft.com/office/drawing/2014/main" val="2139858990"/>
                    </a:ext>
                  </a:extLst>
                </a:gridCol>
              </a:tblGrid>
              <a:tr h="403729">
                <a:tc>
                  <a:txBody>
                    <a:bodyPr/>
                    <a:lstStyle/>
                    <a:p>
                      <a:pPr>
                        <a:buNone/>
                      </a:pPr>
                      <a:r>
                        <a:rPr lang="en-IN" b="1" dirty="0"/>
                        <a:t>Category</a:t>
                      </a:r>
                    </a:p>
                  </a:txBody>
                  <a:tcPr anchor="ctr">
                    <a:lnL>
                      <a:noFill/>
                    </a:lnL>
                    <a:lnR>
                      <a:noFill/>
                    </a:lnR>
                    <a:lnT>
                      <a:noFill/>
                    </a:lnT>
                    <a:lnB>
                      <a:noFill/>
                    </a:lnB>
                    <a:noFill/>
                  </a:tcPr>
                </a:tc>
                <a:tc>
                  <a:txBody>
                    <a:bodyPr/>
                    <a:lstStyle/>
                    <a:p>
                      <a:pPr>
                        <a:buNone/>
                      </a:pPr>
                      <a:r>
                        <a:rPr lang="en-IN" b="1" dirty="0"/>
                        <a:t>Technology</a:t>
                      </a:r>
                    </a:p>
                  </a:txBody>
                  <a:tcPr anchor="ctr">
                    <a:lnL>
                      <a:noFill/>
                    </a:lnL>
                    <a:lnR>
                      <a:noFill/>
                    </a:lnR>
                    <a:lnT>
                      <a:noFill/>
                    </a:lnT>
                    <a:lnB>
                      <a:noFill/>
                    </a:lnB>
                    <a:noFill/>
                  </a:tcPr>
                </a:tc>
                <a:extLst>
                  <a:ext uri="{0D108BD9-81ED-4DB2-BD59-A6C34878D82A}">
                    <a16:rowId xmlns:a16="http://schemas.microsoft.com/office/drawing/2014/main" val="1440702222"/>
                  </a:ext>
                </a:extLst>
              </a:tr>
              <a:tr h="403729">
                <a:tc>
                  <a:txBody>
                    <a:bodyPr/>
                    <a:lstStyle/>
                    <a:p>
                      <a:pPr>
                        <a:buNone/>
                      </a:pPr>
                      <a:r>
                        <a:rPr lang="en-IN" b="1"/>
                        <a:t>Programming Language</a:t>
                      </a:r>
                      <a:endParaRPr lang="en-IN"/>
                    </a:p>
                  </a:txBody>
                  <a:tcPr anchor="ctr">
                    <a:lnL>
                      <a:noFill/>
                    </a:lnL>
                    <a:lnR>
                      <a:noFill/>
                    </a:lnR>
                    <a:lnT>
                      <a:noFill/>
                    </a:lnT>
                    <a:lnB>
                      <a:noFill/>
                    </a:lnB>
                    <a:noFill/>
                  </a:tcPr>
                </a:tc>
                <a:tc>
                  <a:txBody>
                    <a:bodyPr/>
                    <a:lstStyle/>
                    <a:p>
                      <a:pPr>
                        <a:buNone/>
                      </a:pPr>
                      <a:r>
                        <a:rPr lang="en-IN" dirty="0"/>
                        <a:t>Python</a:t>
                      </a:r>
                    </a:p>
                  </a:txBody>
                  <a:tcPr anchor="ctr">
                    <a:lnL>
                      <a:noFill/>
                    </a:lnL>
                    <a:lnR>
                      <a:noFill/>
                    </a:lnR>
                    <a:lnT>
                      <a:noFill/>
                    </a:lnT>
                    <a:lnB>
                      <a:noFill/>
                    </a:lnB>
                    <a:noFill/>
                  </a:tcPr>
                </a:tc>
                <a:extLst>
                  <a:ext uri="{0D108BD9-81ED-4DB2-BD59-A6C34878D82A}">
                    <a16:rowId xmlns:a16="http://schemas.microsoft.com/office/drawing/2014/main" val="518042159"/>
                  </a:ext>
                </a:extLst>
              </a:tr>
              <a:tr h="403729">
                <a:tc>
                  <a:txBody>
                    <a:bodyPr/>
                    <a:lstStyle/>
                    <a:p>
                      <a:pPr>
                        <a:buNone/>
                      </a:pPr>
                      <a:r>
                        <a:rPr lang="en-IN" b="1"/>
                        <a:t>Frontend / Backend</a:t>
                      </a:r>
                      <a:endParaRPr lang="en-IN"/>
                    </a:p>
                  </a:txBody>
                  <a:tcPr anchor="ctr">
                    <a:lnL>
                      <a:noFill/>
                    </a:lnL>
                    <a:lnR>
                      <a:noFill/>
                    </a:lnR>
                    <a:lnT>
                      <a:noFill/>
                    </a:lnT>
                    <a:lnB>
                      <a:noFill/>
                    </a:lnB>
                    <a:noFill/>
                  </a:tcPr>
                </a:tc>
                <a:tc>
                  <a:txBody>
                    <a:bodyPr/>
                    <a:lstStyle/>
                    <a:p>
                      <a:pPr>
                        <a:buNone/>
                      </a:pPr>
                      <a:r>
                        <a:rPr lang="en-IN"/>
                        <a:t>HTML, CSS, JavaScript / Flask</a:t>
                      </a:r>
                    </a:p>
                  </a:txBody>
                  <a:tcPr anchor="ctr">
                    <a:lnL>
                      <a:noFill/>
                    </a:lnL>
                    <a:lnR>
                      <a:noFill/>
                    </a:lnR>
                    <a:lnT>
                      <a:noFill/>
                    </a:lnT>
                    <a:lnB>
                      <a:noFill/>
                    </a:lnB>
                    <a:noFill/>
                  </a:tcPr>
                </a:tc>
                <a:extLst>
                  <a:ext uri="{0D108BD9-81ED-4DB2-BD59-A6C34878D82A}">
                    <a16:rowId xmlns:a16="http://schemas.microsoft.com/office/drawing/2014/main" val="275488352"/>
                  </a:ext>
                </a:extLst>
              </a:tr>
              <a:tr h="403729">
                <a:tc>
                  <a:txBody>
                    <a:bodyPr/>
                    <a:lstStyle/>
                    <a:p>
                      <a:pPr>
                        <a:buNone/>
                      </a:pPr>
                      <a:r>
                        <a:rPr lang="en-IN" b="1"/>
                        <a:t>Database</a:t>
                      </a:r>
                      <a:endParaRPr lang="en-IN"/>
                    </a:p>
                  </a:txBody>
                  <a:tcPr anchor="ctr">
                    <a:lnL>
                      <a:noFill/>
                    </a:lnL>
                    <a:lnR>
                      <a:noFill/>
                    </a:lnR>
                    <a:lnT>
                      <a:noFill/>
                    </a:lnT>
                    <a:lnB>
                      <a:noFill/>
                    </a:lnB>
                    <a:noFill/>
                  </a:tcPr>
                </a:tc>
                <a:tc>
                  <a:txBody>
                    <a:bodyPr/>
                    <a:lstStyle/>
                    <a:p>
                      <a:pPr>
                        <a:buNone/>
                      </a:pPr>
                      <a:r>
                        <a:rPr lang="en-IN"/>
                        <a:t>SQLite</a:t>
                      </a:r>
                    </a:p>
                  </a:txBody>
                  <a:tcPr anchor="ctr">
                    <a:lnL>
                      <a:noFill/>
                    </a:lnL>
                    <a:lnR>
                      <a:noFill/>
                    </a:lnR>
                    <a:lnT>
                      <a:noFill/>
                    </a:lnT>
                    <a:lnB>
                      <a:noFill/>
                    </a:lnB>
                    <a:noFill/>
                  </a:tcPr>
                </a:tc>
                <a:extLst>
                  <a:ext uri="{0D108BD9-81ED-4DB2-BD59-A6C34878D82A}">
                    <a16:rowId xmlns:a16="http://schemas.microsoft.com/office/drawing/2014/main" val="853168315"/>
                  </a:ext>
                </a:extLst>
              </a:tr>
              <a:tr h="403729">
                <a:tc>
                  <a:txBody>
                    <a:bodyPr/>
                    <a:lstStyle/>
                    <a:p>
                      <a:pPr>
                        <a:buNone/>
                      </a:pPr>
                      <a:r>
                        <a:rPr lang="en-IN" b="1"/>
                        <a:t>Frameworks / Libraries</a:t>
                      </a:r>
                      <a:endParaRPr lang="en-IN"/>
                    </a:p>
                  </a:txBody>
                  <a:tcPr anchor="ctr">
                    <a:lnL>
                      <a:noFill/>
                    </a:lnL>
                    <a:lnR>
                      <a:noFill/>
                    </a:lnR>
                    <a:lnT>
                      <a:noFill/>
                    </a:lnT>
                    <a:lnB>
                      <a:noFill/>
                    </a:lnB>
                    <a:noFill/>
                  </a:tcPr>
                </a:tc>
                <a:tc>
                  <a:txBody>
                    <a:bodyPr/>
                    <a:lstStyle/>
                    <a:p>
                      <a:pPr>
                        <a:buNone/>
                      </a:pPr>
                      <a:r>
                        <a:rPr lang="en-IN"/>
                        <a:t>OpenCV, Ultralytics YOLO, NumPy, Pandas</a:t>
                      </a:r>
                    </a:p>
                  </a:txBody>
                  <a:tcPr anchor="ctr">
                    <a:lnL>
                      <a:noFill/>
                    </a:lnL>
                    <a:lnR>
                      <a:noFill/>
                    </a:lnR>
                    <a:lnT>
                      <a:noFill/>
                    </a:lnT>
                    <a:lnB>
                      <a:noFill/>
                    </a:lnB>
                    <a:noFill/>
                  </a:tcPr>
                </a:tc>
                <a:extLst>
                  <a:ext uri="{0D108BD9-81ED-4DB2-BD59-A6C34878D82A}">
                    <a16:rowId xmlns:a16="http://schemas.microsoft.com/office/drawing/2014/main" val="1207182392"/>
                  </a:ext>
                </a:extLst>
              </a:tr>
              <a:tr h="403729">
                <a:tc>
                  <a:txBody>
                    <a:bodyPr/>
                    <a:lstStyle/>
                    <a:p>
                      <a:pPr>
                        <a:buNone/>
                      </a:pPr>
                      <a:r>
                        <a:rPr lang="en-IN" b="1"/>
                        <a:t>Cloud / Tools</a:t>
                      </a:r>
                      <a:endParaRPr lang="en-IN"/>
                    </a:p>
                  </a:txBody>
                  <a:tcPr anchor="ctr">
                    <a:lnL>
                      <a:noFill/>
                    </a:lnL>
                    <a:lnR>
                      <a:noFill/>
                    </a:lnR>
                    <a:lnT>
                      <a:noFill/>
                    </a:lnT>
                    <a:lnB>
                      <a:noFill/>
                    </a:lnB>
                    <a:noFill/>
                  </a:tcPr>
                </a:tc>
                <a:tc>
                  <a:txBody>
                    <a:bodyPr/>
                    <a:lstStyle/>
                    <a:p>
                      <a:pPr>
                        <a:buNone/>
                      </a:pPr>
                      <a:r>
                        <a:rPr lang="en-IN"/>
                        <a:t>Google Colab, GitHub, VS Code</a:t>
                      </a:r>
                    </a:p>
                  </a:txBody>
                  <a:tcPr anchor="ctr">
                    <a:lnL>
                      <a:noFill/>
                    </a:lnL>
                    <a:lnR>
                      <a:noFill/>
                    </a:lnR>
                    <a:lnT>
                      <a:noFill/>
                    </a:lnT>
                    <a:lnB>
                      <a:noFill/>
                    </a:lnB>
                    <a:noFill/>
                  </a:tcPr>
                </a:tc>
                <a:extLst>
                  <a:ext uri="{0D108BD9-81ED-4DB2-BD59-A6C34878D82A}">
                    <a16:rowId xmlns:a16="http://schemas.microsoft.com/office/drawing/2014/main" val="1794692486"/>
                  </a:ext>
                </a:extLst>
              </a:tr>
              <a:tr h="694614">
                <a:tc>
                  <a:txBody>
                    <a:bodyPr/>
                    <a:lstStyle/>
                    <a:p>
                      <a:pPr>
                        <a:buNone/>
                      </a:pPr>
                      <a:r>
                        <a:rPr lang="en-IN" b="1"/>
                        <a:t>Hardware / IoT</a:t>
                      </a:r>
                      <a:endParaRPr lang="en-IN"/>
                    </a:p>
                  </a:txBody>
                  <a:tcPr anchor="ctr">
                    <a:lnL>
                      <a:noFill/>
                    </a:lnL>
                    <a:lnR>
                      <a:noFill/>
                    </a:lnR>
                    <a:lnT>
                      <a:noFill/>
                    </a:lnT>
                    <a:lnB>
                      <a:noFill/>
                    </a:lnB>
                    <a:noFill/>
                  </a:tcPr>
                </a:tc>
                <a:tc>
                  <a:txBody>
                    <a:bodyPr/>
                    <a:lstStyle/>
                    <a:p>
                      <a:pPr>
                        <a:buNone/>
                      </a:pPr>
                      <a:r>
                        <a:rPr lang="en-IN"/>
                        <a:t>CCTV Camera / Webcam, Computer System</a:t>
                      </a:r>
                    </a:p>
                  </a:txBody>
                  <a:tcPr anchor="ctr">
                    <a:lnL>
                      <a:noFill/>
                    </a:lnL>
                    <a:lnR>
                      <a:noFill/>
                    </a:lnR>
                    <a:lnT>
                      <a:noFill/>
                    </a:lnT>
                    <a:lnB>
                      <a:noFill/>
                    </a:lnB>
                    <a:noFill/>
                  </a:tcPr>
                </a:tc>
                <a:extLst>
                  <a:ext uri="{0D108BD9-81ED-4DB2-BD59-A6C34878D82A}">
                    <a16:rowId xmlns:a16="http://schemas.microsoft.com/office/drawing/2014/main" val="4043547680"/>
                  </a:ext>
                </a:extLst>
              </a:tr>
              <a:tr h="992304">
                <a:tc>
                  <a:txBody>
                    <a:bodyPr/>
                    <a:lstStyle/>
                    <a:p>
                      <a:pPr>
                        <a:buNone/>
                      </a:pPr>
                      <a:r>
                        <a:rPr lang="en-IN" b="1"/>
                        <a:t>AI / ML Algorithms</a:t>
                      </a:r>
                      <a:endParaRPr lang="en-IN"/>
                    </a:p>
                  </a:txBody>
                  <a:tcPr anchor="ctr">
                    <a:lnL>
                      <a:noFill/>
                    </a:lnL>
                    <a:lnR>
                      <a:noFill/>
                    </a:lnR>
                    <a:lnT>
                      <a:noFill/>
                    </a:lnT>
                    <a:lnB>
                      <a:noFill/>
                    </a:lnB>
                    <a:noFill/>
                  </a:tcPr>
                </a:tc>
                <a:tc>
                  <a:txBody>
                    <a:bodyPr/>
                    <a:lstStyle/>
                    <a:p>
                      <a:pPr>
                        <a:buNone/>
                      </a:pPr>
                      <a:r>
                        <a:rPr lang="en-IN" dirty="0"/>
                        <a:t>YOLO for person detection, Optical Flow for movement analysis, ML-based risk classification</a:t>
                      </a:r>
                    </a:p>
                  </a:txBody>
                  <a:tcPr anchor="ctr">
                    <a:lnL>
                      <a:noFill/>
                    </a:lnL>
                    <a:lnR>
                      <a:noFill/>
                    </a:lnR>
                    <a:lnT>
                      <a:noFill/>
                    </a:lnT>
                    <a:lnB>
                      <a:noFill/>
                    </a:lnB>
                    <a:noFill/>
                  </a:tcPr>
                </a:tc>
                <a:extLst>
                  <a:ext uri="{0D108BD9-81ED-4DB2-BD59-A6C34878D82A}">
                    <a16:rowId xmlns:a16="http://schemas.microsoft.com/office/drawing/2014/main" val="1709575595"/>
                  </a:ext>
                </a:extLst>
              </a:tr>
            </a:tbl>
          </a:graphicData>
        </a:graphic>
      </p:graphicFrame>
      <p:sp>
        <p:nvSpPr>
          <p:cNvPr id="11" name="TextBox 10">
            <a:extLst>
              <a:ext uri="{FF2B5EF4-FFF2-40B4-BE49-F238E27FC236}">
                <a16:creationId xmlns:a16="http://schemas.microsoft.com/office/drawing/2014/main" id="{0C62285F-5109-3E73-0201-A19DF40DABF2}"/>
              </a:ext>
            </a:extLst>
          </p:cNvPr>
          <p:cNvSpPr txBox="1"/>
          <p:nvPr/>
        </p:nvSpPr>
        <p:spPr>
          <a:xfrm>
            <a:off x="457200" y="1061507"/>
            <a:ext cx="6137694" cy="523220"/>
          </a:xfrm>
          <a:prstGeom prst="rect">
            <a:avLst/>
          </a:prstGeom>
          <a:noFill/>
        </p:spPr>
        <p:txBody>
          <a:bodyPr wrap="square">
            <a:spAutoFit/>
          </a:bodyPr>
          <a:lstStyle/>
          <a:p>
            <a:pPr>
              <a:buNone/>
            </a:pPr>
            <a:r>
              <a:rPr lang="en-IN" sz="2800" b="1" dirty="0"/>
              <a:t>Technology Stack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defRPr sz="2500" b="1">
                <a:solidFill>
                  <a:srgbClr val="FFFFFF"/>
                </a:solidFill>
              </a:defRPr>
            </a:pPr>
            <a:r>
              <a:t>13. Dataset / Data Source</a:t>
            </a:r>
          </a:p>
        </p:txBody>
      </p:sp>
      <p:sp>
        <p:nvSpPr>
          <p:cNvPr id="4" name="TextBox 3"/>
          <p:cNvSpPr txBox="1"/>
          <p:nvPr/>
        </p:nvSpPr>
        <p:spPr>
          <a:xfrm>
            <a:off x="274320" y="765810"/>
            <a:ext cx="10972800" cy="5909310"/>
          </a:xfrm>
          <a:prstGeom prst="rect">
            <a:avLst/>
          </a:prstGeom>
          <a:noFill/>
        </p:spPr>
        <p:txBody>
          <a:bodyPr wrap="square">
            <a:spAutoFit/>
          </a:bodyPr>
          <a:lstStyle/>
          <a:p>
            <a:r>
              <a:rPr lang="en-IN" b="1" dirty="0"/>
              <a:t>Dataset Name &amp; Source</a:t>
            </a:r>
            <a:endParaRPr lang="en-IN" dirty="0"/>
          </a:p>
          <a:p>
            <a:pPr lvl="0" algn="just"/>
            <a:r>
              <a:rPr lang="en-IN" b="1" dirty="0"/>
              <a:t>UMN Unusual Crowd Activity Dataset</a:t>
            </a:r>
            <a:r>
              <a:rPr lang="en-IN" dirty="0"/>
              <a:t> – public crowd abnormality dataset from the University of Minnesota. </a:t>
            </a:r>
          </a:p>
          <a:p>
            <a:pPr lvl="0" algn="just"/>
            <a:r>
              <a:rPr lang="en-IN" b="1" dirty="0"/>
              <a:t>GBA-Stampedes &amp; GSMADC</a:t>
            </a:r>
            <a:r>
              <a:rPr lang="en-IN" dirty="0"/>
              <a:t> – stampede/crowd-action datasets used in recent stampede-detection research. </a:t>
            </a:r>
          </a:p>
          <a:p>
            <a:pPr algn="just"/>
            <a:r>
              <a:rPr lang="en-IN" b="1" dirty="0"/>
              <a:t>Number / Type of Data</a:t>
            </a:r>
            <a:endParaRPr lang="en-IN" dirty="0"/>
          </a:p>
          <a:p>
            <a:pPr lvl="0" algn="just"/>
            <a:r>
              <a:rPr lang="en-IN" dirty="0"/>
              <a:t>UMN contains </a:t>
            </a:r>
            <a:r>
              <a:rPr lang="en-IN" b="1" dirty="0"/>
              <a:t>11 videos from 3 different scenes</a:t>
            </a:r>
            <a:r>
              <a:rPr lang="en-IN" dirty="0"/>
              <a:t>, with normal and abnormal crowd activity. </a:t>
            </a:r>
          </a:p>
          <a:p>
            <a:pPr lvl="0" algn="just"/>
            <a:r>
              <a:rPr lang="en-IN" dirty="0"/>
              <a:t>GBA-Stampedes contains </a:t>
            </a:r>
            <a:r>
              <a:rPr lang="en-IN" b="1" dirty="0"/>
              <a:t>12 videos</a:t>
            </a:r>
            <a:r>
              <a:rPr lang="en-IN" dirty="0"/>
              <a:t>, while GSMADC contains </a:t>
            </a:r>
            <a:r>
              <a:rPr lang="en-IN" b="1" dirty="0"/>
              <a:t>37 sequences</a:t>
            </a:r>
            <a:r>
              <a:rPr lang="en-IN" dirty="0"/>
              <a:t> covering different crowd actions and environments. </a:t>
            </a:r>
          </a:p>
          <a:p>
            <a:r>
              <a:rPr lang="en-IN" b="1" dirty="0"/>
              <a:t>Important Features / Attributes</a:t>
            </a:r>
            <a:endParaRPr lang="en-IN" dirty="0"/>
          </a:p>
          <a:p>
            <a:pPr lvl="0" algn="just"/>
            <a:r>
              <a:rPr lang="en-IN" dirty="0"/>
              <a:t>Crowd density and number of people </a:t>
            </a:r>
          </a:p>
          <a:p>
            <a:pPr lvl="0" algn="just"/>
            <a:r>
              <a:rPr lang="en-IN" dirty="0"/>
              <a:t>Movement speed and direction </a:t>
            </a:r>
          </a:p>
          <a:p>
            <a:pPr lvl="0" algn="just"/>
            <a:r>
              <a:rPr lang="en-IN" dirty="0"/>
              <a:t>Normal vs abnormal crowd </a:t>
            </a:r>
            <a:r>
              <a:rPr lang="en-IN" dirty="0" err="1"/>
              <a:t>behavior</a:t>
            </a:r>
            <a:r>
              <a:rPr lang="en-IN" dirty="0"/>
              <a:t> </a:t>
            </a:r>
          </a:p>
          <a:p>
            <a:pPr lvl="0" algn="just"/>
            <a:r>
              <a:rPr lang="en-IN" dirty="0"/>
              <a:t>Frame-level indication of abnormal activity/stampede onset where available </a:t>
            </a:r>
          </a:p>
          <a:p>
            <a:pPr algn="just"/>
            <a:r>
              <a:rPr lang="en-IN" b="1" dirty="0"/>
              <a:t>Training / Testing Split</a:t>
            </a:r>
            <a:endParaRPr lang="en-IN" dirty="0"/>
          </a:p>
          <a:p>
            <a:pPr lvl="0" algn="just"/>
            <a:r>
              <a:rPr lang="en-IN" dirty="0"/>
              <a:t>Use separate videos/scenes for training and testing to reduce data leakage. </a:t>
            </a:r>
          </a:p>
          <a:p>
            <a:pPr lvl="0" algn="just"/>
            <a:r>
              <a:rPr lang="en-IN" dirty="0"/>
              <a:t>A practical starting point is </a:t>
            </a:r>
            <a:r>
              <a:rPr lang="en-IN" b="1" dirty="0"/>
              <a:t>70% training, 15% validation, and 15% testing</a:t>
            </a:r>
            <a:r>
              <a:rPr lang="en-IN" dirty="0"/>
              <a:t>, followed by evaluation on unseen videos. </a:t>
            </a:r>
          </a:p>
          <a:p>
            <a:r>
              <a:rPr lang="en-IN" b="1" dirty="0"/>
              <a:t>Preprocessing</a:t>
            </a:r>
            <a:endParaRPr lang="en-IN" dirty="0"/>
          </a:p>
          <a:p>
            <a:pPr lvl="0"/>
            <a:r>
              <a:rPr lang="en-IN" dirty="0"/>
              <a:t>Extract frames from videos </a:t>
            </a:r>
          </a:p>
          <a:p>
            <a:pPr lvl="0"/>
            <a:r>
              <a:rPr lang="en-IN" dirty="0"/>
              <a:t>Resize frames to the model input size </a:t>
            </a:r>
          </a:p>
          <a:p>
            <a:pPr lvl="0"/>
            <a:r>
              <a:rPr lang="en-IN" dirty="0"/>
              <a:t>Normalize pixel values </a:t>
            </a:r>
          </a:p>
          <a:p>
            <a:pPr lvl="0"/>
            <a:r>
              <a:rPr lang="en-IN" dirty="0"/>
              <a:t>Remove corrupted/duplicate frames if necessary </a:t>
            </a:r>
          </a:p>
          <a:p>
            <a:pPr lvl="0"/>
            <a:r>
              <a:rPr lang="en-IN" dirty="0"/>
              <a:t>Generate labels for normal and abnormal/risk conditions</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14</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defRPr sz="2500" b="1">
                <a:solidFill>
                  <a:srgbClr val="FFFFFF"/>
                </a:solidFill>
              </a:defRPr>
            </a:pPr>
            <a:r>
              <a:t>14. Algorithm / Model</a:t>
            </a:r>
          </a:p>
        </p:txBody>
      </p:sp>
      <p:sp>
        <p:nvSpPr>
          <p:cNvPr id="4" name="TextBox 3"/>
          <p:cNvSpPr txBox="1"/>
          <p:nvPr/>
        </p:nvSpPr>
        <p:spPr>
          <a:xfrm>
            <a:off x="548640" y="1005259"/>
            <a:ext cx="10972800" cy="5339923"/>
          </a:xfrm>
          <a:prstGeom prst="rect">
            <a:avLst/>
          </a:prstGeom>
          <a:noFill/>
        </p:spPr>
        <p:txBody>
          <a:bodyPr wrap="square">
            <a:spAutoFit/>
          </a:bodyPr>
          <a:lstStyle/>
          <a:p>
            <a:r>
              <a:rPr lang="en-IN" sz="2000" b="1" dirty="0"/>
              <a:t>AI / ML Algorithm</a:t>
            </a:r>
          </a:p>
          <a:p>
            <a:pPr marL="285750" indent="-285750">
              <a:buFont typeface="Arial" panose="020B0604020202020204" pitchFamily="34" charset="0"/>
              <a:buChar char="•"/>
            </a:pPr>
            <a:r>
              <a:rPr lang="en-IN" sz="2000" b="1" dirty="0"/>
              <a:t>Name of Algorithm / Model</a:t>
            </a:r>
            <a:br>
              <a:rPr lang="en-IN" sz="2000" dirty="0"/>
            </a:br>
            <a:r>
              <a:rPr lang="en-IN" sz="2000" b="1" dirty="0"/>
              <a:t>YOLO (You Only Look Once)</a:t>
            </a:r>
            <a:r>
              <a:rPr lang="en-IN" sz="2000" dirty="0"/>
              <a:t> – for real-time person detection.</a:t>
            </a:r>
          </a:p>
          <a:p>
            <a:pPr marL="285750" indent="-285750">
              <a:buFont typeface="Arial" panose="020B0604020202020204" pitchFamily="34" charset="0"/>
              <a:buChar char="•"/>
            </a:pPr>
            <a:r>
              <a:rPr lang="en-IN" sz="2000" b="1" dirty="0"/>
              <a:t>Working Principle</a:t>
            </a:r>
            <a:br>
              <a:rPr lang="en-IN" sz="2000" dirty="0"/>
            </a:br>
            <a:r>
              <a:rPr lang="en-IN" sz="2000" dirty="0"/>
              <a:t>YOLO processes each video frame and identifies people by drawing bounding boxes around them. The detected people are then used for crowd density and movement analysis.</a:t>
            </a:r>
          </a:p>
          <a:p>
            <a:r>
              <a:rPr lang="en-IN" sz="2000" b="1" dirty="0"/>
              <a:t>Why It Was Selected</a:t>
            </a:r>
            <a:endParaRPr lang="en-IN" sz="2000" dirty="0"/>
          </a:p>
          <a:p>
            <a:pPr marL="285750" lvl="0" indent="-285750">
              <a:buFont typeface="Arial" panose="020B0604020202020204" pitchFamily="34" charset="0"/>
              <a:buChar char="•"/>
            </a:pPr>
            <a:r>
              <a:rPr lang="en-IN" sz="2000" dirty="0"/>
              <a:t>Fast enough for real-time video processing. </a:t>
            </a:r>
          </a:p>
          <a:p>
            <a:pPr marL="285750" lvl="0" indent="-285750">
              <a:buFont typeface="Arial" panose="020B0604020202020204" pitchFamily="34" charset="0"/>
              <a:buChar char="•"/>
            </a:pPr>
            <a:r>
              <a:rPr lang="en-IN" sz="2000" dirty="0"/>
              <a:t>Performs well for detecting multiple people in a single frame. </a:t>
            </a:r>
          </a:p>
          <a:p>
            <a:pPr marL="285750" lvl="0" indent="-285750">
              <a:buFont typeface="Arial" panose="020B0604020202020204" pitchFamily="34" charset="0"/>
              <a:buChar char="•"/>
            </a:pPr>
            <a:r>
              <a:rPr lang="en-IN" sz="2000" dirty="0"/>
              <a:t>Easy to integrate with OpenCV and Python. </a:t>
            </a:r>
          </a:p>
          <a:p>
            <a:pPr marL="285750" lvl="0" indent="-285750">
              <a:buFont typeface="Arial" panose="020B0604020202020204" pitchFamily="34" charset="0"/>
              <a:buChar char="•"/>
            </a:pPr>
            <a:r>
              <a:rPr lang="en-IN" sz="2000" dirty="0"/>
              <a:t>Suitable for CCTV-based crowd monitoring. </a:t>
            </a:r>
          </a:p>
          <a:p>
            <a:r>
              <a:rPr lang="en-IN" sz="2000" b="1" dirty="0"/>
              <a:t>Expected Advantages</a:t>
            </a:r>
            <a:endParaRPr lang="en-IN" sz="2000" dirty="0"/>
          </a:p>
          <a:p>
            <a:pPr marL="285750" lvl="0" indent="-285750">
              <a:buFont typeface="Arial" panose="020B0604020202020204" pitchFamily="34" charset="0"/>
              <a:buChar char="•"/>
            </a:pPr>
            <a:r>
              <a:rPr lang="en-IN" sz="2000" dirty="0"/>
              <a:t>Real-time person detection. </a:t>
            </a:r>
          </a:p>
          <a:p>
            <a:pPr marL="285750" lvl="0" indent="-285750">
              <a:buFont typeface="Arial" panose="020B0604020202020204" pitchFamily="34" charset="0"/>
              <a:buChar char="•"/>
            </a:pPr>
            <a:r>
              <a:rPr lang="en-IN" sz="2000" dirty="0"/>
              <a:t>Helps estimate crowd density. </a:t>
            </a:r>
          </a:p>
          <a:p>
            <a:pPr marL="285750" lvl="0" indent="-285750">
              <a:buFont typeface="Arial" panose="020B0604020202020204" pitchFamily="34" charset="0"/>
              <a:buChar char="•"/>
            </a:pPr>
            <a:r>
              <a:rPr lang="en-IN" sz="2000" dirty="0"/>
              <a:t>Provides input for tracking and movement analysis. </a:t>
            </a:r>
          </a:p>
          <a:p>
            <a:pPr marL="285750" lvl="0" indent="-285750">
              <a:buFont typeface="Arial" panose="020B0604020202020204" pitchFamily="34" charset="0"/>
              <a:buChar char="•"/>
            </a:pPr>
            <a:r>
              <a:rPr lang="en-IN" sz="2000" dirty="0"/>
              <a:t>Can support early identification of crowded or risky conditions.</a:t>
            </a:r>
          </a:p>
          <a:p>
            <a:pPr>
              <a:spcAft>
                <a:spcPts val="900"/>
              </a:spcAft>
              <a:defRPr sz="2100" b="0">
                <a:solidFill>
                  <a:srgbClr val="282828"/>
                </a:solidFill>
              </a:defRPr>
            </a:pPr>
            <a:endParaRPr lang="en-US" dirty="0"/>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15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defRPr sz="2500" b="1">
                <a:solidFill>
                  <a:srgbClr val="FFFFFF"/>
                </a:solidFill>
              </a:defRPr>
            </a:pPr>
            <a:r>
              <a:t>15. Expected Outcome</a:t>
            </a:r>
          </a:p>
        </p:txBody>
      </p:sp>
      <p:sp>
        <p:nvSpPr>
          <p:cNvPr id="4" name="TextBox 3"/>
          <p:cNvSpPr txBox="1"/>
          <p:nvPr/>
        </p:nvSpPr>
        <p:spPr>
          <a:xfrm>
            <a:off x="855741" y="902524"/>
            <a:ext cx="10972800" cy="5955476"/>
          </a:xfrm>
          <a:prstGeom prst="rect">
            <a:avLst/>
          </a:prstGeom>
          <a:noFill/>
        </p:spPr>
        <p:txBody>
          <a:bodyPr wrap="square">
            <a:spAutoFit/>
          </a:bodyPr>
          <a:lstStyle/>
          <a:p>
            <a:r>
              <a:rPr lang="en-IN" sz="2400" b="1" dirty="0"/>
              <a:t>1. Expected Functional Outcome</a:t>
            </a:r>
            <a:endParaRPr lang="en-IN" sz="2400" dirty="0"/>
          </a:p>
          <a:p>
            <a:pPr marL="285750" lvl="0" indent="-285750">
              <a:buFont typeface="Arial" panose="020B0604020202020204" pitchFamily="34" charset="0"/>
              <a:buChar char="•"/>
            </a:pPr>
            <a:r>
              <a:rPr lang="en-IN" sz="2400" dirty="0"/>
              <a:t>Detect people and estimate crowd density from video. </a:t>
            </a:r>
          </a:p>
          <a:p>
            <a:pPr marL="285750" lvl="0" indent="-285750">
              <a:buFont typeface="Arial" panose="020B0604020202020204" pitchFamily="34" charset="0"/>
              <a:buChar char="•"/>
            </a:pPr>
            <a:r>
              <a:rPr lang="en-IN" sz="2400" dirty="0" err="1"/>
              <a:t>Analyze</a:t>
            </a:r>
            <a:r>
              <a:rPr lang="en-IN" sz="2400" dirty="0"/>
              <a:t> crowd movement and identify abnormal patterns. </a:t>
            </a:r>
          </a:p>
          <a:p>
            <a:pPr marL="285750" lvl="0" indent="-285750">
              <a:buFont typeface="Arial" panose="020B0604020202020204" pitchFamily="34" charset="0"/>
              <a:buChar char="•"/>
            </a:pPr>
            <a:r>
              <a:rPr lang="en-IN" sz="2400" dirty="0"/>
              <a:t>Classify the situation into different risk levels. </a:t>
            </a:r>
          </a:p>
          <a:p>
            <a:pPr marL="285750" lvl="0" indent="-285750">
              <a:buFont typeface="Arial" panose="020B0604020202020204" pitchFamily="34" charset="0"/>
              <a:buChar char="•"/>
            </a:pPr>
            <a:r>
              <a:rPr lang="en-IN" sz="2400" dirty="0"/>
              <a:t>Generate an alert when a high-risk condition is detected. </a:t>
            </a:r>
          </a:p>
          <a:p>
            <a:r>
              <a:rPr lang="en-IN" sz="2400" b="1" dirty="0"/>
              <a:t>2. Expected Technical / Performance Improvement</a:t>
            </a:r>
            <a:endParaRPr lang="en-IN" sz="2400" dirty="0"/>
          </a:p>
          <a:p>
            <a:pPr marL="285750" lvl="0" indent="-285750">
              <a:buFont typeface="Arial" panose="020B0604020202020204" pitchFamily="34" charset="0"/>
              <a:buChar char="•"/>
            </a:pPr>
            <a:r>
              <a:rPr lang="en-IN" sz="2400" dirty="0"/>
              <a:t>Enable faster and more consistent crowd monitoring. </a:t>
            </a:r>
          </a:p>
          <a:p>
            <a:pPr marL="285750" lvl="0" indent="-285750">
              <a:buFont typeface="Arial" panose="020B0604020202020204" pitchFamily="34" charset="0"/>
              <a:buChar char="•"/>
            </a:pPr>
            <a:r>
              <a:rPr lang="en-IN" sz="2400" dirty="0"/>
              <a:t>Reduce dependence on continuous manual CCTV observation. </a:t>
            </a:r>
          </a:p>
          <a:p>
            <a:pPr marL="285750" lvl="0" indent="-285750">
              <a:buFont typeface="Arial" panose="020B0604020202020204" pitchFamily="34" charset="0"/>
              <a:buChar char="•"/>
            </a:pPr>
            <a:r>
              <a:rPr lang="en-IN" sz="2400" dirty="0"/>
              <a:t>Provide real-time or near-real-time analysis depending on hardware. </a:t>
            </a:r>
          </a:p>
          <a:p>
            <a:pPr marL="285750" lvl="0" indent="-285750">
              <a:buFont typeface="Arial" panose="020B0604020202020204" pitchFamily="34" charset="0"/>
              <a:buChar char="•"/>
            </a:pPr>
            <a:r>
              <a:rPr lang="en-IN" sz="2400" dirty="0"/>
              <a:t>Reduce false alarms through combined density and movement analysis. </a:t>
            </a:r>
          </a:p>
          <a:p>
            <a:r>
              <a:rPr lang="en-IN" sz="2400" b="1" dirty="0"/>
              <a:t>3. Expected User / Application Benefit</a:t>
            </a:r>
            <a:endParaRPr lang="en-IN" sz="2400" dirty="0"/>
          </a:p>
          <a:p>
            <a:pPr marL="285750" lvl="0" indent="-285750">
              <a:buFont typeface="Arial" panose="020B0604020202020204" pitchFamily="34" charset="0"/>
              <a:buChar char="•"/>
            </a:pPr>
            <a:r>
              <a:rPr lang="en-IN" sz="2400" dirty="0"/>
              <a:t>Help security personnel monitor large gatherings more effectively. </a:t>
            </a:r>
          </a:p>
          <a:p>
            <a:pPr marL="285750" lvl="0" indent="-285750">
              <a:buFont typeface="Arial" panose="020B0604020202020204" pitchFamily="34" charset="0"/>
              <a:buChar char="•"/>
            </a:pPr>
            <a:r>
              <a:rPr lang="en-IN" sz="2400" dirty="0"/>
              <a:t>Provide early information about potentially dangerous crowd conditions. </a:t>
            </a:r>
          </a:p>
          <a:p>
            <a:pPr marL="285750" lvl="0" indent="-285750">
              <a:buFont typeface="Arial" panose="020B0604020202020204" pitchFamily="34" charset="0"/>
              <a:buChar char="•"/>
            </a:pPr>
            <a:r>
              <a:rPr lang="en-IN" sz="2400" dirty="0"/>
              <a:t>Give authorities more time to take preventive action. </a:t>
            </a:r>
          </a:p>
          <a:p>
            <a:pPr marL="285750" lvl="0" indent="-285750">
              <a:buFont typeface="Arial" panose="020B0604020202020204" pitchFamily="34" charset="0"/>
              <a:buChar char="•"/>
            </a:pPr>
            <a:r>
              <a:rPr lang="en-IN" sz="2400" dirty="0"/>
              <a:t>Improve safety management in crowded public places</a:t>
            </a:r>
            <a:r>
              <a:rPr lang="en-IN" dirty="0"/>
              <a:t>.</a:t>
            </a:r>
          </a:p>
          <a:p>
            <a:pPr>
              <a:spcAft>
                <a:spcPts val="900"/>
              </a:spcAft>
              <a:defRPr sz="2100" b="0">
                <a:solidFill>
                  <a:srgbClr val="282828"/>
                </a:solidFill>
              </a:defRPr>
            </a:pPr>
            <a:endParaRPr lang="en-US" dirty="0"/>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16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defRPr sz="2500" b="1">
                <a:solidFill>
                  <a:srgbClr val="FFFFFF"/>
                </a:solidFill>
              </a:defRPr>
            </a:pPr>
            <a:r>
              <a:t>16. Performance Evaluation</a:t>
            </a:r>
          </a:p>
        </p:txBody>
      </p:sp>
      <p:sp>
        <p:nvSpPr>
          <p:cNvPr id="4" name="TextBox 3"/>
          <p:cNvSpPr txBox="1"/>
          <p:nvPr/>
        </p:nvSpPr>
        <p:spPr>
          <a:xfrm>
            <a:off x="747911" y="1343997"/>
            <a:ext cx="11247120" cy="4154984"/>
          </a:xfrm>
          <a:prstGeom prst="rect">
            <a:avLst/>
          </a:prstGeom>
          <a:noFill/>
        </p:spPr>
        <p:txBody>
          <a:bodyPr wrap="square">
            <a:spAutoFit/>
          </a:bodyPr>
          <a:lstStyle/>
          <a:p>
            <a:r>
              <a:rPr lang="en-IN" sz="2400" b="1" dirty="0"/>
              <a:t>AI / ML Metrics</a:t>
            </a:r>
            <a:endParaRPr lang="en-IN" sz="2400" dirty="0"/>
          </a:p>
          <a:p>
            <a:pPr marL="285750" lvl="0" indent="-285750">
              <a:buFont typeface="Arial" panose="020B0604020202020204" pitchFamily="34" charset="0"/>
              <a:buChar char="•"/>
            </a:pPr>
            <a:r>
              <a:rPr lang="en-IN" sz="2400" b="1" dirty="0"/>
              <a:t>Precision</a:t>
            </a:r>
            <a:r>
              <a:rPr lang="en-IN" sz="2400" dirty="0"/>
              <a:t> – Measures how many detected high-risk events are actually correct. </a:t>
            </a:r>
          </a:p>
          <a:p>
            <a:pPr marL="285750" lvl="0" indent="-285750">
              <a:buFont typeface="Arial" panose="020B0604020202020204" pitchFamily="34" charset="0"/>
              <a:buChar char="•"/>
            </a:pPr>
            <a:r>
              <a:rPr lang="en-IN" sz="2400" b="1" dirty="0"/>
              <a:t>Recall</a:t>
            </a:r>
            <a:r>
              <a:rPr lang="en-IN" sz="2400" dirty="0"/>
              <a:t> – Measures how many actual risky events are successfully detected. </a:t>
            </a:r>
          </a:p>
          <a:p>
            <a:pPr marL="285750" lvl="0" indent="-285750">
              <a:buFont typeface="Arial" panose="020B0604020202020204" pitchFamily="34" charset="0"/>
              <a:buChar char="•"/>
            </a:pPr>
            <a:r>
              <a:rPr lang="en-IN" sz="2400" b="1" dirty="0"/>
              <a:t>F1-Score</a:t>
            </a:r>
            <a:r>
              <a:rPr lang="en-IN" sz="2400" dirty="0"/>
              <a:t> – Gives a balanced measure of precision and recall. </a:t>
            </a:r>
          </a:p>
          <a:p>
            <a:pPr marL="285750" lvl="0" indent="-285750">
              <a:buFont typeface="Arial" panose="020B0604020202020204" pitchFamily="34" charset="0"/>
              <a:buChar char="•"/>
            </a:pPr>
            <a:r>
              <a:rPr lang="en-IN" sz="2400" b="1" dirty="0"/>
              <a:t>Accuracy</a:t>
            </a:r>
            <a:r>
              <a:rPr lang="en-IN" sz="2400" dirty="0"/>
              <a:t> – Measures the overall correctness of risk-level classification. </a:t>
            </a:r>
          </a:p>
          <a:p>
            <a:pPr marL="285750" lvl="0" indent="-285750">
              <a:buFont typeface="Arial" panose="020B0604020202020204" pitchFamily="34" charset="0"/>
              <a:buChar char="•"/>
            </a:pPr>
            <a:r>
              <a:rPr lang="en-IN" sz="2400" b="1" dirty="0"/>
              <a:t>False Alarm Rate</a:t>
            </a:r>
            <a:r>
              <a:rPr lang="en-IN" sz="2400" dirty="0"/>
              <a:t> – Measures how often the system incorrectly raises an alert. </a:t>
            </a:r>
          </a:p>
          <a:p>
            <a:r>
              <a:rPr lang="en-IN" sz="2400" b="1" dirty="0"/>
              <a:t>System / Software Metrics</a:t>
            </a:r>
            <a:endParaRPr lang="en-IN" sz="2400" dirty="0"/>
          </a:p>
          <a:p>
            <a:pPr marL="285750" lvl="0" indent="-285750">
              <a:buFont typeface="Arial" panose="020B0604020202020204" pitchFamily="34" charset="0"/>
              <a:buChar char="•"/>
            </a:pPr>
            <a:r>
              <a:rPr lang="en-IN" sz="2400" b="1" dirty="0"/>
              <a:t>Response Time</a:t>
            </a:r>
            <a:r>
              <a:rPr lang="en-IN" sz="2400" dirty="0"/>
              <a:t> – Time taken from detecting a risky condition to generating an alert. </a:t>
            </a:r>
          </a:p>
          <a:p>
            <a:pPr marL="285750" lvl="0" indent="-285750">
              <a:buFont typeface="Arial" panose="020B0604020202020204" pitchFamily="34" charset="0"/>
              <a:buChar char="•"/>
            </a:pPr>
            <a:r>
              <a:rPr lang="en-IN" sz="2400" b="1" dirty="0"/>
              <a:t>Processing Speed (FPS)</a:t>
            </a:r>
            <a:r>
              <a:rPr lang="en-IN" sz="2400" dirty="0"/>
              <a:t> – Number of video frames processed per second. </a:t>
            </a:r>
          </a:p>
          <a:p>
            <a:pPr marL="285750" lvl="0" indent="-285750">
              <a:buFont typeface="Arial" panose="020B0604020202020204" pitchFamily="34" charset="0"/>
              <a:buChar char="•"/>
            </a:pPr>
            <a:r>
              <a:rPr lang="en-IN" sz="2400" b="1" dirty="0"/>
              <a:t>Reliability</a:t>
            </a:r>
            <a:r>
              <a:rPr lang="en-IN" sz="2400" dirty="0"/>
              <a:t> – Ability of the system to operate continuously without failure. </a:t>
            </a:r>
          </a:p>
          <a:p>
            <a:pPr marL="285750" lvl="0" indent="-285750">
              <a:buFont typeface="Arial" panose="020B0604020202020204" pitchFamily="34" charset="0"/>
              <a:buChar char="•"/>
            </a:pPr>
            <a:r>
              <a:rPr lang="en-IN" sz="2400" b="1" dirty="0"/>
              <a:t>Usability</a:t>
            </a:r>
            <a:r>
              <a:rPr lang="en-IN" sz="2400" dirty="0"/>
              <a:t> – How easily security personnel can understand and use the system.</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17</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defRPr sz="2500" b="1">
                <a:solidFill>
                  <a:srgbClr val="FFFFFF"/>
                </a:solidFill>
              </a:defRPr>
            </a:pPr>
            <a:r>
              <a:t>17. Project Timeline</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18</a:t>
            </a:r>
          </a:p>
        </p:txBody>
      </p:sp>
      <p:graphicFrame>
        <p:nvGraphicFramePr>
          <p:cNvPr id="6" name="Table 5">
            <a:extLst>
              <a:ext uri="{FF2B5EF4-FFF2-40B4-BE49-F238E27FC236}">
                <a16:creationId xmlns:a16="http://schemas.microsoft.com/office/drawing/2014/main" id="{C0D5AEA1-11A4-234A-86B2-4C7A9F59127F}"/>
              </a:ext>
            </a:extLst>
          </p:cNvPr>
          <p:cNvGraphicFramePr>
            <a:graphicFrameLocks noGrp="1"/>
          </p:cNvGraphicFramePr>
          <p:nvPr>
            <p:extLst>
              <p:ext uri="{D42A27DB-BD31-4B8C-83A1-F6EECF244321}">
                <p14:modId xmlns:p14="http://schemas.microsoft.com/office/powerpoint/2010/main" val="1073479704"/>
              </p:ext>
            </p:extLst>
          </p:nvPr>
        </p:nvGraphicFramePr>
        <p:xfrm>
          <a:off x="715992" y="937101"/>
          <a:ext cx="10455216" cy="5409863"/>
        </p:xfrm>
        <a:graphic>
          <a:graphicData uri="http://schemas.openxmlformats.org/drawingml/2006/table">
            <a:tbl>
              <a:tblPr/>
              <a:tblGrid>
                <a:gridCol w="5227608">
                  <a:extLst>
                    <a:ext uri="{9D8B030D-6E8A-4147-A177-3AD203B41FA5}">
                      <a16:colId xmlns:a16="http://schemas.microsoft.com/office/drawing/2014/main" val="1210759032"/>
                    </a:ext>
                  </a:extLst>
                </a:gridCol>
                <a:gridCol w="5227608">
                  <a:extLst>
                    <a:ext uri="{9D8B030D-6E8A-4147-A177-3AD203B41FA5}">
                      <a16:colId xmlns:a16="http://schemas.microsoft.com/office/drawing/2014/main" val="2505049451"/>
                    </a:ext>
                  </a:extLst>
                </a:gridCol>
              </a:tblGrid>
              <a:tr h="509618">
                <a:tc>
                  <a:txBody>
                    <a:bodyPr/>
                    <a:lstStyle/>
                    <a:p>
                      <a:pPr>
                        <a:buNone/>
                      </a:pPr>
                      <a:r>
                        <a:rPr lang="en-IN" sz="2800" dirty="0"/>
                        <a:t>Phase</a:t>
                      </a:r>
                    </a:p>
                  </a:txBody>
                  <a:tcPr anchor="ctr">
                    <a:lnL>
                      <a:noFill/>
                    </a:lnL>
                    <a:lnR>
                      <a:noFill/>
                    </a:lnR>
                    <a:lnT>
                      <a:noFill/>
                    </a:lnT>
                    <a:lnB>
                      <a:noFill/>
                    </a:lnB>
                    <a:noFill/>
                  </a:tcPr>
                </a:tc>
                <a:tc>
                  <a:txBody>
                    <a:bodyPr/>
                    <a:lstStyle/>
                    <a:p>
                      <a:pPr>
                        <a:buNone/>
                      </a:pPr>
                      <a:r>
                        <a:rPr lang="en-IN" sz="2800"/>
                        <a:t>Planned Timeline</a:t>
                      </a:r>
                    </a:p>
                  </a:txBody>
                  <a:tcPr anchor="ctr">
                    <a:lnL>
                      <a:noFill/>
                    </a:lnL>
                    <a:lnR>
                      <a:noFill/>
                    </a:lnR>
                    <a:lnT>
                      <a:noFill/>
                    </a:lnT>
                    <a:lnB>
                      <a:noFill/>
                    </a:lnB>
                    <a:noFill/>
                  </a:tcPr>
                </a:tc>
                <a:extLst>
                  <a:ext uri="{0D108BD9-81ED-4DB2-BD59-A6C34878D82A}">
                    <a16:rowId xmlns:a16="http://schemas.microsoft.com/office/drawing/2014/main" val="263955460"/>
                  </a:ext>
                </a:extLst>
              </a:tr>
              <a:tr h="509618">
                <a:tc>
                  <a:txBody>
                    <a:bodyPr/>
                    <a:lstStyle/>
                    <a:p>
                      <a:pPr>
                        <a:buNone/>
                      </a:pPr>
                      <a:r>
                        <a:rPr lang="en-IN" sz="2800" b="1" dirty="0"/>
                        <a:t>Problem Identification</a:t>
                      </a:r>
                      <a:endParaRPr lang="en-IN" sz="2800" dirty="0"/>
                    </a:p>
                  </a:txBody>
                  <a:tcPr anchor="ctr">
                    <a:lnL>
                      <a:noFill/>
                    </a:lnL>
                    <a:lnR>
                      <a:noFill/>
                    </a:lnR>
                    <a:lnT>
                      <a:noFill/>
                    </a:lnT>
                    <a:lnB>
                      <a:noFill/>
                    </a:lnB>
                    <a:noFill/>
                  </a:tcPr>
                </a:tc>
                <a:tc>
                  <a:txBody>
                    <a:bodyPr/>
                    <a:lstStyle/>
                    <a:p>
                      <a:pPr>
                        <a:buNone/>
                      </a:pPr>
                      <a:r>
                        <a:rPr lang="en-IN" sz="2800"/>
                        <a:t>Aug 2026</a:t>
                      </a:r>
                    </a:p>
                  </a:txBody>
                  <a:tcPr anchor="ctr">
                    <a:lnL>
                      <a:noFill/>
                    </a:lnL>
                    <a:lnR>
                      <a:noFill/>
                    </a:lnR>
                    <a:lnT>
                      <a:noFill/>
                    </a:lnT>
                    <a:lnB>
                      <a:noFill/>
                    </a:lnB>
                    <a:noFill/>
                  </a:tcPr>
                </a:tc>
                <a:extLst>
                  <a:ext uri="{0D108BD9-81ED-4DB2-BD59-A6C34878D82A}">
                    <a16:rowId xmlns:a16="http://schemas.microsoft.com/office/drawing/2014/main" val="979545882"/>
                  </a:ext>
                </a:extLst>
              </a:tr>
              <a:tr h="509618">
                <a:tc>
                  <a:txBody>
                    <a:bodyPr/>
                    <a:lstStyle/>
                    <a:p>
                      <a:pPr>
                        <a:buNone/>
                      </a:pPr>
                      <a:r>
                        <a:rPr lang="en-IN" sz="2800" b="1" dirty="0"/>
                        <a:t>Literature Survey</a:t>
                      </a:r>
                      <a:endParaRPr lang="en-IN" sz="2800" dirty="0"/>
                    </a:p>
                  </a:txBody>
                  <a:tcPr anchor="ctr">
                    <a:lnL>
                      <a:noFill/>
                    </a:lnL>
                    <a:lnR>
                      <a:noFill/>
                    </a:lnR>
                    <a:lnT>
                      <a:noFill/>
                    </a:lnT>
                    <a:lnB>
                      <a:noFill/>
                    </a:lnB>
                    <a:noFill/>
                  </a:tcPr>
                </a:tc>
                <a:tc>
                  <a:txBody>
                    <a:bodyPr/>
                    <a:lstStyle/>
                    <a:p>
                      <a:pPr>
                        <a:buNone/>
                      </a:pPr>
                      <a:r>
                        <a:rPr lang="en-IN" sz="2800"/>
                        <a:t>Aug – Sep 2026</a:t>
                      </a:r>
                    </a:p>
                  </a:txBody>
                  <a:tcPr anchor="ctr">
                    <a:lnL>
                      <a:noFill/>
                    </a:lnL>
                    <a:lnR>
                      <a:noFill/>
                    </a:lnR>
                    <a:lnT>
                      <a:noFill/>
                    </a:lnT>
                    <a:lnB>
                      <a:noFill/>
                    </a:lnB>
                    <a:noFill/>
                  </a:tcPr>
                </a:tc>
                <a:extLst>
                  <a:ext uri="{0D108BD9-81ED-4DB2-BD59-A6C34878D82A}">
                    <a16:rowId xmlns:a16="http://schemas.microsoft.com/office/drawing/2014/main" val="1337428697"/>
                  </a:ext>
                </a:extLst>
              </a:tr>
              <a:tr h="929303">
                <a:tc>
                  <a:txBody>
                    <a:bodyPr/>
                    <a:lstStyle/>
                    <a:p>
                      <a:pPr>
                        <a:buNone/>
                      </a:pPr>
                      <a:r>
                        <a:rPr lang="en-IN" sz="2800" b="1" dirty="0"/>
                        <a:t>Requirements &amp; Dataset Collection</a:t>
                      </a:r>
                      <a:endParaRPr lang="en-IN" sz="2800" dirty="0"/>
                    </a:p>
                  </a:txBody>
                  <a:tcPr anchor="ctr">
                    <a:lnL>
                      <a:noFill/>
                    </a:lnL>
                    <a:lnR>
                      <a:noFill/>
                    </a:lnR>
                    <a:lnT>
                      <a:noFill/>
                    </a:lnT>
                    <a:lnB>
                      <a:noFill/>
                    </a:lnB>
                    <a:noFill/>
                  </a:tcPr>
                </a:tc>
                <a:tc>
                  <a:txBody>
                    <a:bodyPr/>
                    <a:lstStyle/>
                    <a:p>
                      <a:pPr>
                        <a:buNone/>
                      </a:pPr>
                      <a:r>
                        <a:rPr lang="en-IN" sz="2800"/>
                        <a:t>Sep 2026</a:t>
                      </a:r>
                    </a:p>
                  </a:txBody>
                  <a:tcPr anchor="ctr">
                    <a:lnL>
                      <a:noFill/>
                    </a:lnL>
                    <a:lnR>
                      <a:noFill/>
                    </a:lnR>
                    <a:lnT>
                      <a:noFill/>
                    </a:lnT>
                    <a:lnB>
                      <a:noFill/>
                    </a:lnB>
                    <a:noFill/>
                  </a:tcPr>
                </a:tc>
                <a:extLst>
                  <a:ext uri="{0D108BD9-81ED-4DB2-BD59-A6C34878D82A}">
                    <a16:rowId xmlns:a16="http://schemas.microsoft.com/office/drawing/2014/main" val="3992550645"/>
                  </a:ext>
                </a:extLst>
              </a:tr>
              <a:tr h="929303">
                <a:tc>
                  <a:txBody>
                    <a:bodyPr/>
                    <a:lstStyle/>
                    <a:p>
                      <a:pPr>
                        <a:buNone/>
                      </a:pPr>
                      <a:r>
                        <a:rPr lang="en-IN" sz="2800" b="1" dirty="0"/>
                        <a:t>System Design &amp; Architecture</a:t>
                      </a:r>
                      <a:endParaRPr lang="en-IN" sz="2800" dirty="0"/>
                    </a:p>
                  </a:txBody>
                  <a:tcPr anchor="ctr">
                    <a:lnL>
                      <a:noFill/>
                    </a:lnL>
                    <a:lnR>
                      <a:noFill/>
                    </a:lnR>
                    <a:lnT>
                      <a:noFill/>
                    </a:lnT>
                    <a:lnB>
                      <a:noFill/>
                    </a:lnB>
                    <a:noFill/>
                  </a:tcPr>
                </a:tc>
                <a:tc>
                  <a:txBody>
                    <a:bodyPr/>
                    <a:lstStyle/>
                    <a:p>
                      <a:pPr>
                        <a:buNone/>
                      </a:pPr>
                      <a:r>
                        <a:rPr lang="en-IN" sz="2800" dirty="0"/>
                        <a:t>Sep – Oct 2026</a:t>
                      </a:r>
                    </a:p>
                  </a:txBody>
                  <a:tcPr anchor="ctr">
                    <a:lnL>
                      <a:noFill/>
                    </a:lnL>
                    <a:lnR>
                      <a:noFill/>
                    </a:lnR>
                    <a:lnT>
                      <a:noFill/>
                    </a:lnT>
                    <a:lnB>
                      <a:noFill/>
                    </a:lnB>
                    <a:noFill/>
                  </a:tcPr>
                </a:tc>
                <a:extLst>
                  <a:ext uri="{0D108BD9-81ED-4DB2-BD59-A6C34878D82A}">
                    <a16:rowId xmlns:a16="http://schemas.microsoft.com/office/drawing/2014/main" val="1100063991"/>
                  </a:ext>
                </a:extLst>
              </a:tr>
              <a:tr h="509618">
                <a:tc>
                  <a:txBody>
                    <a:bodyPr/>
                    <a:lstStyle/>
                    <a:p>
                      <a:pPr>
                        <a:buNone/>
                      </a:pPr>
                      <a:r>
                        <a:rPr lang="en-IN" sz="2800" b="1"/>
                        <a:t>Model Development</a:t>
                      </a:r>
                      <a:endParaRPr lang="en-IN" sz="2800"/>
                    </a:p>
                  </a:txBody>
                  <a:tcPr anchor="ctr">
                    <a:lnL>
                      <a:noFill/>
                    </a:lnL>
                    <a:lnR>
                      <a:noFill/>
                    </a:lnR>
                    <a:lnT>
                      <a:noFill/>
                    </a:lnT>
                    <a:lnB>
                      <a:noFill/>
                    </a:lnB>
                    <a:noFill/>
                  </a:tcPr>
                </a:tc>
                <a:tc>
                  <a:txBody>
                    <a:bodyPr/>
                    <a:lstStyle/>
                    <a:p>
                      <a:pPr>
                        <a:buNone/>
                      </a:pPr>
                      <a:r>
                        <a:rPr lang="en-IN" sz="2800" dirty="0"/>
                        <a:t>Oct – Nov 2026</a:t>
                      </a:r>
                    </a:p>
                  </a:txBody>
                  <a:tcPr anchor="ctr">
                    <a:lnL>
                      <a:noFill/>
                    </a:lnL>
                    <a:lnR>
                      <a:noFill/>
                    </a:lnR>
                    <a:lnT>
                      <a:noFill/>
                    </a:lnT>
                    <a:lnB>
                      <a:noFill/>
                    </a:lnB>
                    <a:noFill/>
                  </a:tcPr>
                </a:tc>
                <a:extLst>
                  <a:ext uri="{0D108BD9-81ED-4DB2-BD59-A6C34878D82A}">
                    <a16:rowId xmlns:a16="http://schemas.microsoft.com/office/drawing/2014/main" val="1889528747"/>
                  </a:ext>
                </a:extLst>
              </a:tr>
              <a:tr h="509618">
                <a:tc>
                  <a:txBody>
                    <a:bodyPr/>
                    <a:lstStyle/>
                    <a:p>
                      <a:pPr>
                        <a:buNone/>
                      </a:pPr>
                      <a:r>
                        <a:rPr lang="en-IN" sz="2800" b="1"/>
                        <a:t>Testing &amp; Evaluation</a:t>
                      </a:r>
                      <a:endParaRPr lang="en-IN" sz="2800"/>
                    </a:p>
                  </a:txBody>
                  <a:tcPr anchor="ctr">
                    <a:lnL>
                      <a:noFill/>
                    </a:lnL>
                    <a:lnR>
                      <a:noFill/>
                    </a:lnR>
                    <a:lnT>
                      <a:noFill/>
                    </a:lnT>
                    <a:lnB>
                      <a:noFill/>
                    </a:lnB>
                    <a:noFill/>
                  </a:tcPr>
                </a:tc>
                <a:tc>
                  <a:txBody>
                    <a:bodyPr/>
                    <a:lstStyle/>
                    <a:p>
                      <a:pPr>
                        <a:buNone/>
                      </a:pPr>
                      <a:r>
                        <a:rPr lang="en-IN" sz="2800" dirty="0"/>
                        <a:t>Nov 2026</a:t>
                      </a:r>
                    </a:p>
                  </a:txBody>
                  <a:tcPr anchor="ctr">
                    <a:lnL>
                      <a:noFill/>
                    </a:lnL>
                    <a:lnR>
                      <a:noFill/>
                    </a:lnR>
                    <a:lnT>
                      <a:noFill/>
                    </a:lnT>
                    <a:lnB>
                      <a:noFill/>
                    </a:lnB>
                    <a:noFill/>
                  </a:tcPr>
                </a:tc>
                <a:extLst>
                  <a:ext uri="{0D108BD9-81ED-4DB2-BD59-A6C34878D82A}">
                    <a16:rowId xmlns:a16="http://schemas.microsoft.com/office/drawing/2014/main" val="994375042"/>
                  </a:ext>
                </a:extLst>
              </a:tr>
              <a:tr h="929303">
                <a:tc>
                  <a:txBody>
                    <a:bodyPr/>
                    <a:lstStyle/>
                    <a:p>
                      <a:pPr>
                        <a:buNone/>
                      </a:pPr>
                      <a:r>
                        <a:rPr lang="en-IN" sz="2800" b="1"/>
                        <a:t>Final Documentation &amp; Presentation</a:t>
                      </a:r>
                      <a:endParaRPr lang="en-IN" sz="2800"/>
                    </a:p>
                  </a:txBody>
                  <a:tcPr anchor="ctr">
                    <a:lnL>
                      <a:noFill/>
                    </a:lnL>
                    <a:lnR>
                      <a:noFill/>
                    </a:lnR>
                    <a:lnT>
                      <a:noFill/>
                    </a:lnT>
                    <a:lnB>
                      <a:noFill/>
                    </a:lnB>
                    <a:noFill/>
                  </a:tcPr>
                </a:tc>
                <a:tc>
                  <a:txBody>
                    <a:bodyPr/>
                    <a:lstStyle/>
                    <a:p>
                      <a:pPr>
                        <a:buNone/>
                      </a:pPr>
                      <a:r>
                        <a:rPr lang="en-IN" sz="2800" dirty="0"/>
                        <a:t>Dec 2026</a:t>
                      </a:r>
                    </a:p>
                  </a:txBody>
                  <a:tcPr anchor="ctr">
                    <a:lnL>
                      <a:noFill/>
                    </a:lnL>
                    <a:lnR>
                      <a:noFill/>
                    </a:lnR>
                    <a:lnT>
                      <a:noFill/>
                    </a:lnT>
                    <a:lnB>
                      <a:noFill/>
                    </a:lnB>
                    <a:noFill/>
                  </a:tcPr>
                </a:tc>
                <a:extLst>
                  <a:ext uri="{0D108BD9-81ED-4DB2-BD59-A6C34878D82A}">
                    <a16:rowId xmlns:a16="http://schemas.microsoft.com/office/drawing/2014/main" val="746032668"/>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5022" y="109728"/>
            <a:ext cx="2421753" cy="477054"/>
          </a:xfrm>
          <a:prstGeom prst="rect">
            <a:avLst/>
          </a:prstGeom>
          <a:noFill/>
        </p:spPr>
        <p:txBody>
          <a:bodyPr wrap="none">
            <a:spAutoFit/>
          </a:bodyPr>
          <a:lstStyle/>
          <a:p>
            <a:pPr>
              <a:defRPr sz="2500" b="1">
                <a:solidFill>
                  <a:srgbClr val="FFFFFF"/>
                </a:solidFill>
              </a:defRPr>
            </a:pPr>
            <a:r>
              <a:rPr dirty="0"/>
              <a:t>Project Timeline</a:t>
            </a:r>
          </a:p>
        </p:txBody>
      </p:sp>
      <p:graphicFrame>
        <p:nvGraphicFramePr>
          <p:cNvPr id="4" name="Table 3"/>
          <p:cNvGraphicFramePr>
            <a:graphicFrameLocks noGrp="1"/>
          </p:cNvGraphicFramePr>
          <p:nvPr>
            <p:extLst>
              <p:ext uri="{D42A27DB-BD31-4B8C-83A1-F6EECF244321}">
                <p14:modId xmlns:p14="http://schemas.microsoft.com/office/powerpoint/2010/main" val="1623925926"/>
              </p:ext>
            </p:extLst>
          </p:nvPr>
        </p:nvGraphicFramePr>
        <p:xfrm>
          <a:off x="704152" y="1280160"/>
          <a:ext cx="10347960" cy="4480560"/>
        </p:xfrm>
        <a:graphic>
          <a:graphicData uri="http://schemas.openxmlformats.org/drawingml/2006/table">
            <a:tbl>
              <a:tblPr firstRow="1" bandRow="1">
                <a:tableStyleId>{5C22544A-7EE6-4342-B048-85BDC9FD1C3A}</a:tableStyleId>
              </a:tblPr>
              <a:tblGrid>
                <a:gridCol w="745799">
                  <a:extLst>
                    <a:ext uri="{9D8B030D-6E8A-4147-A177-3AD203B41FA5}">
                      <a16:colId xmlns:a16="http://schemas.microsoft.com/office/drawing/2014/main" val="20000"/>
                    </a:ext>
                  </a:extLst>
                </a:gridCol>
                <a:gridCol w="4847693">
                  <a:extLst>
                    <a:ext uri="{9D8B030D-6E8A-4147-A177-3AD203B41FA5}">
                      <a16:colId xmlns:a16="http://schemas.microsoft.com/office/drawing/2014/main" val="20001"/>
                    </a:ext>
                  </a:extLst>
                </a:gridCol>
                <a:gridCol w="2144172">
                  <a:extLst>
                    <a:ext uri="{9D8B030D-6E8A-4147-A177-3AD203B41FA5}">
                      <a16:colId xmlns:a16="http://schemas.microsoft.com/office/drawing/2014/main" val="20002"/>
                    </a:ext>
                  </a:extLst>
                </a:gridCol>
                <a:gridCol w="2610296">
                  <a:extLst>
                    <a:ext uri="{9D8B030D-6E8A-4147-A177-3AD203B41FA5}">
                      <a16:colId xmlns:a16="http://schemas.microsoft.com/office/drawing/2014/main" val="20003"/>
                    </a:ext>
                  </a:extLst>
                </a:gridCol>
              </a:tblGrid>
              <a:tr h="560070">
                <a:tc>
                  <a:txBody>
                    <a:bodyPr/>
                    <a:lstStyle/>
                    <a:p>
                      <a:pPr>
                        <a:buNone/>
                      </a:pPr>
                      <a:r>
                        <a:rPr lang="en-IN"/>
                        <a:t>Phase</a:t>
                      </a:r>
                      <a:endParaRPr lang="en-IN" dirty="0"/>
                    </a:p>
                  </a:txBody>
                  <a:tcPr anchor="ctr">
                    <a:solidFill>
                      <a:srgbClr val="1F3759"/>
                    </a:solidFill>
                  </a:tcPr>
                </a:tc>
                <a:tc>
                  <a:txBody>
                    <a:bodyPr/>
                    <a:lstStyle/>
                    <a:p>
                      <a:pPr>
                        <a:buNone/>
                      </a:pPr>
                      <a:r>
                        <a:rPr lang="en-IN"/>
                        <a:t>Activity</a:t>
                      </a:r>
                    </a:p>
                  </a:txBody>
                  <a:tcPr anchor="ctr">
                    <a:solidFill>
                      <a:srgbClr val="1F3759"/>
                    </a:solidFill>
                  </a:tcPr>
                </a:tc>
                <a:tc>
                  <a:txBody>
                    <a:bodyPr/>
                    <a:lstStyle/>
                    <a:p>
                      <a:pPr>
                        <a:buNone/>
                      </a:pPr>
                      <a:r>
                        <a:rPr lang="en-IN" dirty="0"/>
                        <a:t>Planned Date</a:t>
                      </a:r>
                    </a:p>
                  </a:txBody>
                  <a:tcPr anchor="ctr">
                    <a:solidFill>
                      <a:srgbClr val="1F3759"/>
                    </a:solidFill>
                  </a:tcPr>
                </a:tc>
                <a:tc>
                  <a:txBody>
                    <a:bodyPr/>
                    <a:lstStyle/>
                    <a:p>
                      <a:pPr>
                        <a:buNone/>
                      </a:pPr>
                      <a:r>
                        <a:rPr lang="en-IN"/>
                        <a:t>Status</a:t>
                      </a:r>
                    </a:p>
                  </a:txBody>
                  <a:tcPr anchor="ctr">
                    <a:solidFill>
                      <a:srgbClr val="1F3759"/>
                    </a:solidFill>
                  </a:tcPr>
                </a:tc>
                <a:extLst>
                  <a:ext uri="{0D108BD9-81ED-4DB2-BD59-A6C34878D82A}">
                    <a16:rowId xmlns:a16="http://schemas.microsoft.com/office/drawing/2014/main" val="10000"/>
                  </a:ext>
                </a:extLst>
              </a:tr>
              <a:tr h="560070">
                <a:tc>
                  <a:txBody>
                    <a:bodyPr/>
                    <a:lstStyle/>
                    <a:p>
                      <a:pPr>
                        <a:buNone/>
                      </a:pPr>
                      <a:r>
                        <a:rPr lang="en-IN" b="1"/>
                        <a:t>1</a:t>
                      </a:r>
                      <a:endParaRPr lang="en-IN"/>
                    </a:p>
                  </a:txBody>
                  <a:tcPr anchor="ctr">
                    <a:solidFill>
                      <a:srgbClr val="F2F6FA"/>
                    </a:solidFill>
                  </a:tcPr>
                </a:tc>
                <a:tc>
                  <a:txBody>
                    <a:bodyPr/>
                    <a:lstStyle/>
                    <a:p>
                      <a:pPr>
                        <a:buNone/>
                      </a:pPr>
                      <a:r>
                        <a:rPr lang="en-IN"/>
                        <a:t>Problem Identification</a:t>
                      </a:r>
                      <a:endParaRPr lang="en-IN" dirty="0"/>
                    </a:p>
                  </a:txBody>
                  <a:tcPr anchor="ctr">
                    <a:solidFill>
                      <a:srgbClr val="F2F6FA"/>
                    </a:solidFill>
                  </a:tcPr>
                </a:tc>
                <a:tc>
                  <a:txBody>
                    <a:bodyPr/>
                    <a:lstStyle/>
                    <a:p>
                      <a:pPr>
                        <a:buNone/>
                      </a:pPr>
                      <a:r>
                        <a:rPr lang="en-IN"/>
                        <a:t>Aug 2026</a:t>
                      </a:r>
                    </a:p>
                  </a:txBody>
                  <a:tcPr anchor="ctr">
                    <a:solidFill>
                      <a:srgbClr val="F2F6FA"/>
                    </a:solidFill>
                  </a:tcPr>
                </a:tc>
                <a:tc>
                  <a:txBody>
                    <a:bodyPr/>
                    <a:lstStyle/>
                    <a:p>
                      <a:pPr>
                        <a:buNone/>
                      </a:pPr>
                      <a:r>
                        <a:rPr lang="en-IN"/>
                        <a:t>✅ Completed</a:t>
                      </a:r>
                    </a:p>
                  </a:txBody>
                  <a:tcPr anchor="ctr">
                    <a:solidFill>
                      <a:srgbClr val="F2F6FA"/>
                    </a:solidFill>
                  </a:tcPr>
                </a:tc>
                <a:extLst>
                  <a:ext uri="{0D108BD9-81ED-4DB2-BD59-A6C34878D82A}">
                    <a16:rowId xmlns:a16="http://schemas.microsoft.com/office/drawing/2014/main" val="10001"/>
                  </a:ext>
                </a:extLst>
              </a:tr>
              <a:tr h="560070">
                <a:tc>
                  <a:txBody>
                    <a:bodyPr/>
                    <a:lstStyle/>
                    <a:p>
                      <a:pPr>
                        <a:buNone/>
                      </a:pPr>
                      <a:r>
                        <a:rPr lang="en-IN" b="1"/>
                        <a:t>2</a:t>
                      </a:r>
                      <a:endParaRPr lang="en-IN"/>
                    </a:p>
                  </a:txBody>
                  <a:tcPr anchor="ctr">
                    <a:solidFill>
                      <a:srgbClr val="FFFFFF"/>
                    </a:solidFill>
                  </a:tcPr>
                </a:tc>
                <a:tc>
                  <a:txBody>
                    <a:bodyPr/>
                    <a:lstStyle/>
                    <a:p>
                      <a:pPr>
                        <a:buNone/>
                      </a:pPr>
                      <a:r>
                        <a:rPr lang="en-IN"/>
                        <a:t>Literature Survey</a:t>
                      </a:r>
                      <a:endParaRPr lang="en-IN" dirty="0"/>
                    </a:p>
                  </a:txBody>
                  <a:tcPr anchor="ctr">
                    <a:solidFill>
                      <a:srgbClr val="FFFFFF"/>
                    </a:solidFill>
                  </a:tcPr>
                </a:tc>
                <a:tc>
                  <a:txBody>
                    <a:bodyPr/>
                    <a:lstStyle/>
                    <a:p>
                      <a:pPr>
                        <a:buNone/>
                      </a:pPr>
                      <a:r>
                        <a:rPr lang="en-IN"/>
                        <a:t>Aug 2026</a:t>
                      </a:r>
                    </a:p>
                  </a:txBody>
                  <a:tcPr anchor="ctr">
                    <a:solidFill>
                      <a:srgbClr val="FFFFFF"/>
                    </a:solidFill>
                  </a:tcPr>
                </a:tc>
                <a:tc>
                  <a:txBody>
                    <a:bodyPr/>
                    <a:lstStyle/>
                    <a:p>
                      <a:pPr>
                        <a:buNone/>
                      </a:pPr>
                      <a:r>
                        <a:rPr lang="en-IN"/>
                        <a:t>✅ Completed</a:t>
                      </a:r>
                    </a:p>
                  </a:txBody>
                  <a:tcPr anchor="ctr">
                    <a:solidFill>
                      <a:srgbClr val="FFFFFF"/>
                    </a:solidFill>
                  </a:tcPr>
                </a:tc>
                <a:extLst>
                  <a:ext uri="{0D108BD9-81ED-4DB2-BD59-A6C34878D82A}">
                    <a16:rowId xmlns:a16="http://schemas.microsoft.com/office/drawing/2014/main" val="10002"/>
                  </a:ext>
                </a:extLst>
              </a:tr>
              <a:tr h="560070">
                <a:tc>
                  <a:txBody>
                    <a:bodyPr/>
                    <a:lstStyle/>
                    <a:p>
                      <a:pPr>
                        <a:buNone/>
                      </a:pPr>
                      <a:r>
                        <a:rPr lang="en-IN" b="1"/>
                        <a:t>3</a:t>
                      </a:r>
                      <a:endParaRPr lang="en-IN"/>
                    </a:p>
                  </a:txBody>
                  <a:tcPr anchor="ctr">
                    <a:solidFill>
                      <a:srgbClr val="F2F6FA"/>
                    </a:solidFill>
                  </a:tcPr>
                </a:tc>
                <a:tc>
                  <a:txBody>
                    <a:bodyPr/>
                    <a:lstStyle/>
                    <a:p>
                      <a:pPr>
                        <a:buNone/>
                      </a:pPr>
                      <a:r>
                        <a:rPr lang="en-IN"/>
                        <a:t>Requirement Analysis</a:t>
                      </a:r>
                    </a:p>
                  </a:txBody>
                  <a:tcPr anchor="ctr">
                    <a:solidFill>
                      <a:srgbClr val="F2F6FA"/>
                    </a:solidFill>
                  </a:tcPr>
                </a:tc>
                <a:tc>
                  <a:txBody>
                    <a:bodyPr/>
                    <a:lstStyle/>
                    <a:p>
                      <a:pPr>
                        <a:buNone/>
                      </a:pPr>
                      <a:r>
                        <a:rPr lang="en-IN"/>
                        <a:t>Aug – Sep 2026</a:t>
                      </a:r>
                      <a:endParaRPr lang="en-IN" dirty="0"/>
                    </a:p>
                  </a:txBody>
                  <a:tcPr anchor="ctr">
                    <a:solidFill>
                      <a:srgbClr val="F2F6FA"/>
                    </a:solidFill>
                  </a:tcPr>
                </a:tc>
                <a:tc>
                  <a:txBody>
                    <a:bodyPr/>
                    <a:lstStyle/>
                    <a:p>
                      <a:pPr>
                        <a:buNone/>
                      </a:pPr>
                      <a:r>
                        <a:rPr lang="en-IN"/>
                        <a:t>🔄 In Progress</a:t>
                      </a:r>
                      <a:endParaRPr lang="en-IN" dirty="0"/>
                    </a:p>
                  </a:txBody>
                  <a:tcPr anchor="ctr">
                    <a:solidFill>
                      <a:srgbClr val="F2F6FA"/>
                    </a:solidFill>
                  </a:tcPr>
                </a:tc>
                <a:extLst>
                  <a:ext uri="{0D108BD9-81ED-4DB2-BD59-A6C34878D82A}">
                    <a16:rowId xmlns:a16="http://schemas.microsoft.com/office/drawing/2014/main" val="10003"/>
                  </a:ext>
                </a:extLst>
              </a:tr>
              <a:tr h="560070">
                <a:tc>
                  <a:txBody>
                    <a:bodyPr/>
                    <a:lstStyle/>
                    <a:p>
                      <a:pPr>
                        <a:buNone/>
                      </a:pPr>
                      <a:r>
                        <a:rPr lang="en-IN" b="1"/>
                        <a:t>4</a:t>
                      </a:r>
                      <a:endParaRPr lang="en-IN"/>
                    </a:p>
                  </a:txBody>
                  <a:tcPr anchor="ctr">
                    <a:solidFill>
                      <a:srgbClr val="FFFFFF"/>
                    </a:solidFill>
                  </a:tcPr>
                </a:tc>
                <a:tc>
                  <a:txBody>
                    <a:bodyPr/>
                    <a:lstStyle/>
                    <a:p>
                      <a:pPr>
                        <a:buNone/>
                      </a:pPr>
                      <a:r>
                        <a:rPr lang="en-IN"/>
                        <a:t>System Design</a:t>
                      </a:r>
                    </a:p>
                  </a:txBody>
                  <a:tcPr anchor="ctr">
                    <a:solidFill>
                      <a:srgbClr val="FFFFFF"/>
                    </a:solidFill>
                  </a:tcPr>
                </a:tc>
                <a:tc>
                  <a:txBody>
                    <a:bodyPr/>
                    <a:lstStyle/>
                    <a:p>
                      <a:pPr>
                        <a:buNone/>
                      </a:pPr>
                      <a:r>
                        <a:rPr lang="en-IN"/>
                        <a:t>Sep 2026</a:t>
                      </a:r>
                    </a:p>
                  </a:txBody>
                  <a:tcPr anchor="ctr">
                    <a:solidFill>
                      <a:srgbClr val="FFFFFF"/>
                    </a:solidFill>
                  </a:tcPr>
                </a:tc>
                <a:tc>
                  <a:txBody>
                    <a:bodyPr/>
                    <a:lstStyle/>
                    <a:p>
                      <a:pPr>
                        <a:buNone/>
                      </a:pPr>
                      <a:r>
                        <a:rPr lang="en-IN"/>
                        <a:t>🔄 In Progress</a:t>
                      </a:r>
                      <a:endParaRPr lang="en-IN" dirty="0"/>
                    </a:p>
                  </a:txBody>
                  <a:tcPr anchor="ctr">
                    <a:solidFill>
                      <a:srgbClr val="FFFFFF"/>
                    </a:solidFill>
                  </a:tcPr>
                </a:tc>
                <a:extLst>
                  <a:ext uri="{0D108BD9-81ED-4DB2-BD59-A6C34878D82A}">
                    <a16:rowId xmlns:a16="http://schemas.microsoft.com/office/drawing/2014/main" val="10004"/>
                  </a:ext>
                </a:extLst>
              </a:tr>
              <a:tr h="560070">
                <a:tc>
                  <a:txBody>
                    <a:bodyPr/>
                    <a:lstStyle/>
                    <a:p>
                      <a:pPr>
                        <a:buNone/>
                      </a:pPr>
                      <a:r>
                        <a:rPr lang="en-IN" b="1"/>
                        <a:t>5</a:t>
                      </a:r>
                      <a:endParaRPr lang="en-IN"/>
                    </a:p>
                  </a:txBody>
                  <a:tcPr anchor="ctr">
                    <a:solidFill>
                      <a:srgbClr val="F2F6FA"/>
                    </a:solidFill>
                  </a:tcPr>
                </a:tc>
                <a:tc>
                  <a:txBody>
                    <a:bodyPr/>
                    <a:lstStyle/>
                    <a:p>
                      <a:pPr>
                        <a:buNone/>
                      </a:pPr>
                      <a:r>
                        <a:rPr lang="en-IN"/>
                        <a:t>Implementation</a:t>
                      </a:r>
                    </a:p>
                  </a:txBody>
                  <a:tcPr anchor="ctr">
                    <a:solidFill>
                      <a:srgbClr val="F2F6FA"/>
                    </a:solidFill>
                  </a:tcPr>
                </a:tc>
                <a:tc>
                  <a:txBody>
                    <a:bodyPr/>
                    <a:lstStyle/>
                    <a:p>
                      <a:pPr>
                        <a:buNone/>
                      </a:pPr>
                      <a:r>
                        <a:rPr lang="en-IN"/>
                        <a:t>Sep – Nov 2026</a:t>
                      </a:r>
                    </a:p>
                  </a:txBody>
                  <a:tcPr anchor="ctr">
                    <a:solidFill>
                      <a:srgbClr val="F2F6FA"/>
                    </a:solidFill>
                  </a:tcPr>
                </a:tc>
                <a:tc>
                  <a:txBody>
                    <a:bodyPr/>
                    <a:lstStyle/>
                    <a:p>
                      <a:pPr>
                        <a:buNone/>
                      </a:pPr>
                      <a:r>
                        <a:rPr lang="en-IN"/>
                        <a:t>📅 Planned</a:t>
                      </a:r>
                      <a:endParaRPr lang="en-IN" dirty="0"/>
                    </a:p>
                  </a:txBody>
                  <a:tcPr anchor="ctr">
                    <a:solidFill>
                      <a:srgbClr val="F2F6FA"/>
                    </a:solidFill>
                  </a:tcPr>
                </a:tc>
                <a:extLst>
                  <a:ext uri="{0D108BD9-81ED-4DB2-BD59-A6C34878D82A}">
                    <a16:rowId xmlns:a16="http://schemas.microsoft.com/office/drawing/2014/main" val="10005"/>
                  </a:ext>
                </a:extLst>
              </a:tr>
              <a:tr h="560070">
                <a:tc>
                  <a:txBody>
                    <a:bodyPr/>
                    <a:lstStyle/>
                    <a:p>
                      <a:pPr>
                        <a:buNone/>
                      </a:pPr>
                      <a:r>
                        <a:rPr lang="en-IN" b="1"/>
                        <a:t>6</a:t>
                      </a:r>
                      <a:endParaRPr lang="en-IN"/>
                    </a:p>
                  </a:txBody>
                  <a:tcPr anchor="ctr">
                    <a:solidFill>
                      <a:srgbClr val="FFFFFF"/>
                    </a:solidFill>
                  </a:tcPr>
                </a:tc>
                <a:tc>
                  <a:txBody>
                    <a:bodyPr/>
                    <a:lstStyle/>
                    <a:p>
                      <a:pPr>
                        <a:buNone/>
                      </a:pPr>
                      <a:r>
                        <a:rPr lang="en-IN"/>
                        <a:t>Testing &amp; Evaluation</a:t>
                      </a:r>
                    </a:p>
                  </a:txBody>
                  <a:tcPr anchor="ctr">
                    <a:solidFill>
                      <a:srgbClr val="FFFFFF"/>
                    </a:solidFill>
                  </a:tcPr>
                </a:tc>
                <a:tc>
                  <a:txBody>
                    <a:bodyPr/>
                    <a:lstStyle/>
                    <a:p>
                      <a:pPr>
                        <a:buNone/>
                      </a:pPr>
                      <a:r>
                        <a:rPr lang="en-IN"/>
                        <a:t>Nov 2026</a:t>
                      </a:r>
                    </a:p>
                  </a:txBody>
                  <a:tcPr anchor="ctr">
                    <a:solidFill>
                      <a:srgbClr val="FFFFFF"/>
                    </a:solidFill>
                  </a:tcPr>
                </a:tc>
                <a:tc>
                  <a:txBody>
                    <a:bodyPr/>
                    <a:lstStyle/>
                    <a:p>
                      <a:pPr>
                        <a:buNone/>
                      </a:pPr>
                      <a:r>
                        <a:rPr lang="en-IN"/>
                        <a:t>📅 Planned</a:t>
                      </a:r>
                      <a:endParaRPr lang="en-IN" dirty="0"/>
                    </a:p>
                  </a:txBody>
                  <a:tcPr anchor="ctr">
                    <a:solidFill>
                      <a:srgbClr val="FFFFFF"/>
                    </a:solidFill>
                  </a:tcPr>
                </a:tc>
                <a:extLst>
                  <a:ext uri="{0D108BD9-81ED-4DB2-BD59-A6C34878D82A}">
                    <a16:rowId xmlns:a16="http://schemas.microsoft.com/office/drawing/2014/main" val="10006"/>
                  </a:ext>
                </a:extLst>
              </a:tr>
              <a:tr h="560070">
                <a:tc>
                  <a:txBody>
                    <a:bodyPr/>
                    <a:lstStyle/>
                    <a:p>
                      <a:pPr>
                        <a:buNone/>
                      </a:pPr>
                      <a:r>
                        <a:rPr lang="en-IN" b="1"/>
                        <a:t>7</a:t>
                      </a:r>
                      <a:endParaRPr lang="en-IN"/>
                    </a:p>
                  </a:txBody>
                  <a:tcPr anchor="ctr">
                    <a:solidFill>
                      <a:srgbClr val="F2F6FA"/>
                    </a:solidFill>
                  </a:tcPr>
                </a:tc>
                <a:tc>
                  <a:txBody>
                    <a:bodyPr/>
                    <a:lstStyle/>
                    <a:p>
                      <a:pPr>
                        <a:buNone/>
                      </a:pPr>
                      <a:r>
                        <a:rPr lang="en-IN"/>
                        <a:t>Documentation</a:t>
                      </a:r>
                      <a:endParaRPr lang="en-IN" dirty="0"/>
                    </a:p>
                  </a:txBody>
                  <a:tcPr anchor="ctr">
                    <a:solidFill>
                      <a:srgbClr val="F2F6FA"/>
                    </a:solidFill>
                  </a:tcPr>
                </a:tc>
                <a:tc>
                  <a:txBody>
                    <a:bodyPr/>
                    <a:lstStyle/>
                    <a:p>
                      <a:pPr>
                        <a:buNone/>
                      </a:pPr>
                      <a:r>
                        <a:rPr lang="en-IN"/>
                        <a:t>Nov – Dec 2026</a:t>
                      </a:r>
                    </a:p>
                  </a:txBody>
                  <a:tcPr anchor="ctr">
                    <a:solidFill>
                      <a:srgbClr val="F2F6FA"/>
                    </a:solidFill>
                  </a:tcPr>
                </a:tc>
                <a:tc>
                  <a:txBody>
                    <a:bodyPr/>
                    <a:lstStyle/>
                    <a:p>
                      <a:pPr>
                        <a:buNone/>
                      </a:pPr>
                      <a:r>
                        <a:rPr lang="en-IN" dirty="0"/>
                        <a:t>📅 Planned</a:t>
                      </a:r>
                    </a:p>
                  </a:txBody>
                  <a:tcPr anchor="ctr">
                    <a:solidFill>
                      <a:srgbClr val="F2F6FA"/>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23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defRPr sz="2500" b="1">
                <a:solidFill>
                  <a:srgbClr val="FFFFFF"/>
                </a:solidFill>
              </a:defRPr>
            </a:pPr>
            <a:r>
              <a:t>19. Future Work</a:t>
            </a:r>
          </a:p>
        </p:txBody>
      </p:sp>
      <p:sp>
        <p:nvSpPr>
          <p:cNvPr id="4" name="TextBox 3"/>
          <p:cNvSpPr txBox="1"/>
          <p:nvPr/>
        </p:nvSpPr>
        <p:spPr>
          <a:xfrm>
            <a:off x="640080" y="1234440"/>
            <a:ext cx="10972800" cy="4832092"/>
          </a:xfrm>
          <a:prstGeom prst="rect">
            <a:avLst/>
          </a:prstGeom>
          <a:noFill/>
        </p:spPr>
        <p:txBody>
          <a:bodyPr wrap="square">
            <a:spAutoFit/>
          </a:bodyPr>
          <a:lstStyle/>
          <a:p>
            <a:pPr lvl="0"/>
            <a:r>
              <a:rPr lang="en-IN" sz="2800" b="1" dirty="0"/>
              <a:t>Module Implementation</a:t>
            </a:r>
            <a:r>
              <a:rPr lang="en-IN" sz="2800" dirty="0"/>
              <a:t> – Develop the person detection, crowd density, movement analysis, risk assessment, and alert modules. </a:t>
            </a:r>
          </a:p>
          <a:p>
            <a:pPr lvl="0"/>
            <a:r>
              <a:rPr lang="en-IN" sz="2800" b="1" dirty="0"/>
              <a:t>Database / Model Development</a:t>
            </a:r>
            <a:r>
              <a:rPr lang="en-IN" sz="2800" dirty="0"/>
              <a:t> – Train and evaluate the detection/risk models and implement storage for results and alerts. </a:t>
            </a:r>
          </a:p>
          <a:p>
            <a:pPr lvl="0"/>
            <a:r>
              <a:rPr lang="en-IN" sz="2800" b="1" dirty="0"/>
              <a:t>Integration</a:t>
            </a:r>
            <a:r>
              <a:rPr lang="en-IN" sz="2800" dirty="0"/>
              <a:t> – Connect all modules into a single working system with the monitoring interface. </a:t>
            </a:r>
          </a:p>
          <a:p>
            <a:pPr lvl="0"/>
            <a:r>
              <a:rPr lang="en-IN" sz="2800" b="1" dirty="0"/>
              <a:t>Testing &amp; Performance Evaluation</a:t>
            </a:r>
            <a:r>
              <a:rPr lang="en-IN" sz="2800" dirty="0"/>
              <a:t> – Test the system with different crowd scenarios and measure accuracy, F1-score, false alarms, response time, and FPS. </a:t>
            </a:r>
          </a:p>
          <a:p>
            <a:pPr lvl="0"/>
            <a:r>
              <a:rPr lang="en-IN" sz="2800" b="1" dirty="0"/>
              <a:t>Final Documentation</a:t>
            </a:r>
            <a:r>
              <a:rPr lang="en-IN" sz="2800" dirty="0"/>
              <a:t> – Prepare the project report, results, screenshots, findings, and final presentation.</a:t>
            </a:r>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20</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1F3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247120" cy="365760"/>
          </a:xfrm>
          <a:prstGeom prst="rect">
            <a:avLst/>
          </a:prstGeom>
          <a:noFill/>
        </p:spPr>
        <p:txBody>
          <a:bodyPr wrap="none">
            <a:spAutoFit/>
          </a:bodyPr>
          <a:lstStyle/>
          <a:p>
            <a:pPr>
              <a:defRPr sz="2500" b="1">
                <a:solidFill>
                  <a:srgbClr val="FFFFFF"/>
                </a:solidFill>
              </a:defRPr>
            </a:pPr>
            <a:r>
              <a:t>20. References</a:t>
            </a:r>
          </a:p>
        </p:txBody>
      </p:sp>
      <p:sp>
        <p:nvSpPr>
          <p:cNvPr id="4" name="TextBox 3"/>
          <p:cNvSpPr txBox="1"/>
          <p:nvPr/>
        </p:nvSpPr>
        <p:spPr>
          <a:xfrm>
            <a:off x="640080" y="1234440"/>
            <a:ext cx="10972800" cy="4724370"/>
          </a:xfrm>
          <a:prstGeom prst="rect">
            <a:avLst/>
          </a:prstGeom>
          <a:noFill/>
        </p:spPr>
        <p:txBody>
          <a:bodyPr wrap="square">
            <a:spAutoFit/>
          </a:bodyPr>
          <a:lstStyle/>
          <a:p>
            <a:pPr algn="just"/>
            <a:r>
              <a:rPr lang="en-IN" sz="2800" b="1" dirty="0"/>
              <a:t>[1]</a:t>
            </a:r>
            <a:r>
              <a:rPr lang="en-IN" sz="2800" dirty="0"/>
              <a:t> A. C. Cob-Parro </a:t>
            </a:r>
            <a:r>
              <a:rPr lang="en-IN" sz="2800" i="1" dirty="0"/>
              <a:t>et al.</a:t>
            </a:r>
            <a:r>
              <a:rPr lang="en-IN" sz="2800" dirty="0"/>
              <a:t>, “Stampede detector based on deep learning models using dense optical flow,” </a:t>
            </a:r>
            <a:r>
              <a:rPr lang="en-IN" sz="2800" i="1" dirty="0"/>
              <a:t>Engineering Applications of Artificial Intelligence</a:t>
            </a:r>
            <a:r>
              <a:rPr lang="en-IN" sz="2800" dirty="0"/>
              <a:t>, vol. 142, 109940, 2025. </a:t>
            </a:r>
          </a:p>
          <a:p>
            <a:pPr algn="just"/>
            <a:r>
              <a:rPr lang="en-IN" sz="2800" b="1" dirty="0"/>
              <a:t>[2]</a:t>
            </a:r>
            <a:r>
              <a:rPr lang="en-IN" sz="2800" dirty="0"/>
              <a:t> R. Mehran, A. Oyama, and M. Shah, “Abnormal crowd </a:t>
            </a:r>
            <a:r>
              <a:rPr lang="en-IN" sz="2800" dirty="0" err="1"/>
              <a:t>behavior</a:t>
            </a:r>
            <a:r>
              <a:rPr lang="en-IN" sz="2800" dirty="0"/>
              <a:t> detection using social force model,” in </a:t>
            </a:r>
            <a:r>
              <a:rPr lang="en-IN" sz="2800" i="1" dirty="0"/>
              <a:t>Proc. IEEE CVPR</a:t>
            </a:r>
            <a:r>
              <a:rPr lang="en-IN" sz="2800" dirty="0"/>
              <a:t>, 2009. </a:t>
            </a:r>
          </a:p>
          <a:p>
            <a:pPr algn="just"/>
            <a:r>
              <a:rPr lang="en-IN" sz="2800" b="1" dirty="0"/>
              <a:t>[3]</a:t>
            </a:r>
            <a:r>
              <a:rPr lang="en-IN" sz="2800" dirty="0"/>
              <a:t> University of Minnesota, “UMN Unusual Crowd Activity Dataset,” </a:t>
            </a:r>
            <a:r>
              <a:rPr lang="en-IN" sz="2800" dirty="0" err="1"/>
              <a:t>Center</a:t>
            </a:r>
            <a:r>
              <a:rPr lang="en-IN" sz="2800" dirty="0"/>
              <a:t> for Research in Computer Vision. </a:t>
            </a:r>
          </a:p>
          <a:p>
            <a:pPr algn="just"/>
            <a:r>
              <a:rPr lang="en-IN" sz="2800" b="1" dirty="0"/>
              <a:t>[4]</a:t>
            </a:r>
            <a:r>
              <a:rPr lang="en-IN" sz="2800" dirty="0"/>
              <a:t> A. C. Cob-Parro </a:t>
            </a:r>
            <a:r>
              <a:rPr lang="en-IN" sz="2800" i="1" dirty="0"/>
              <a:t>et al.</a:t>
            </a:r>
            <a:r>
              <a:rPr lang="en-IN" sz="2800" dirty="0"/>
              <a:t>, “GBA-Stampedes and GSMADC datasets,” datasets used for stampede detection research, 2025. </a:t>
            </a:r>
          </a:p>
          <a:p>
            <a:pPr algn="just"/>
            <a:r>
              <a:rPr lang="en-IN" sz="2800" b="1" dirty="0"/>
              <a:t>[5]</a:t>
            </a:r>
            <a:r>
              <a:rPr lang="en-IN" sz="2800" dirty="0"/>
              <a:t> </a:t>
            </a:r>
            <a:r>
              <a:rPr lang="en-IN" sz="2800" dirty="0" err="1"/>
              <a:t>Ultralytics</a:t>
            </a:r>
            <a:r>
              <a:rPr lang="en-IN" sz="2800" dirty="0"/>
              <a:t>, “YOLO Documentation,” </a:t>
            </a:r>
            <a:r>
              <a:rPr lang="en-IN" sz="2800" i="1" dirty="0" err="1"/>
              <a:t>Ultralytics</a:t>
            </a:r>
            <a:r>
              <a:rPr lang="en-IN" sz="2800" dirty="0"/>
              <a:t>. </a:t>
            </a:r>
          </a:p>
          <a:p>
            <a:pPr>
              <a:spcAft>
                <a:spcPts val="900"/>
              </a:spcAft>
              <a:defRPr sz="2100" b="0">
                <a:solidFill>
                  <a:srgbClr val="282828"/>
                </a:solidFill>
              </a:defRPr>
            </a:pPr>
            <a:endParaRPr dirty="0"/>
          </a:p>
        </p:txBody>
      </p:sp>
      <p:sp>
        <p:nvSpPr>
          <p:cNvPr id="5" name="TextBox 4"/>
          <p:cNvSpPr txBox="1"/>
          <p:nvPr/>
        </p:nvSpPr>
        <p:spPr>
          <a:xfrm>
            <a:off x="10789920" y="6446520"/>
            <a:ext cx="914400" cy="228600"/>
          </a:xfrm>
          <a:prstGeom prst="rect">
            <a:avLst/>
          </a:prstGeom>
          <a:noFill/>
        </p:spPr>
        <p:txBody>
          <a:bodyPr wrap="none">
            <a:spAutoFit/>
          </a:bodyPr>
          <a:lstStyle/>
          <a:p>
            <a:pPr algn="r">
              <a:defRPr sz="900">
                <a:solidFill>
                  <a:srgbClr val="787878"/>
                </a:solidFill>
              </a:defRPr>
            </a:pPr>
            <a:r>
              <a:t>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107</TotalTime>
  <Words>2246</Words>
  <Application>Microsoft Office PowerPoint</Application>
  <PresentationFormat>Widescreen</PresentationFormat>
  <Paragraphs>270</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Arial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keywords/>
  <dc:description>generated using python-pptx</dc:description>
  <cp:lastModifiedBy>Aakash leo</cp:lastModifiedBy>
  <cp:revision>4</cp:revision>
  <dcterms:created xsi:type="dcterms:W3CDTF">2013-01-27T09:14:16Z</dcterms:created>
  <dcterms:modified xsi:type="dcterms:W3CDTF">2026-08-19T16:37:42Z</dcterms:modified>
  <cp:category/>
</cp:coreProperties>
</file>